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768096"/>
            <a:ext cx="1078992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Four-Lane Pipelined Shared-Weight FFN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17904"/>
            <a:ext cx="10515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0" i="0">
                <a:solidFill>
                  <a:srgbClr val="32C3CD"/>
                </a:solidFill>
                <a:latin typeface="Aptos"/>
              </a:rPr>
              <a:t>Architectural breakdown for a sequence-parallel Pre-Add-DyT + FFN + Post-DyT transformer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566928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D = 4096  |  HIDDEN_DIM = 11008  |  M = 32
LANES = 4  |  NUM_COLS = 16 per lane  |  N = parameterized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86200"/>
            <a:ext cx="2084831" cy="713232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Lane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645152"/>
            <a:ext cx="187451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ACBCD2"/>
                </a:solidFill>
                <a:latin typeface="Aptos"/>
              </a:rPr>
              <a:t>1×d vector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886200"/>
            <a:ext cx="2084831" cy="713232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Lane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645152"/>
            <a:ext cx="187451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ACBCD2"/>
                </a:solidFill>
                <a:latin typeface="Aptos"/>
              </a:rPr>
              <a:t>1×d vector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86200"/>
            <a:ext cx="2084831" cy="713232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Lane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45152"/>
            <a:ext cx="187451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ACBCD2"/>
                </a:solidFill>
                <a:latin typeface="Aptos"/>
              </a:rPr>
              <a:t>1×d vector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886200"/>
            <a:ext cx="2084831" cy="713232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Lane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645152"/>
            <a:ext cx="187451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0" i="0">
                <a:solidFill>
                  <a:srgbClr val="ACBCD2"/>
                </a:solidFill>
                <a:latin typeface="Aptos"/>
              </a:rPr>
              <a:t>1×d vector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5504688"/>
            <a:ext cx="3858768" cy="50292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Shared weight-tile cache + ordered output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01952" y="4956048"/>
            <a:ext cx="4178808" cy="530352"/>
          </a:xfrm>
          <a:prstGeom prst="line">
            <a:avLst/>
          </a:prstGeom>
          <a:ln w="1651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99432" y="4956048"/>
            <a:ext cx="1481328" cy="530352"/>
          </a:xfrm>
          <a:prstGeom prst="line">
            <a:avLst/>
          </a:prstGeom>
          <a:ln w="1651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080760" y="4956048"/>
            <a:ext cx="1216152" cy="530352"/>
          </a:xfrm>
          <a:prstGeom prst="line">
            <a:avLst/>
          </a:prstGeom>
          <a:ln w="1651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4956048"/>
            <a:ext cx="3913632" cy="530352"/>
          </a:xfrm>
          <a:prstGeom prst="line">
            <a:avLst/>
          </a:prstGeom>
          <a:ln w="1651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98480" y="6327648"/>
            <a:ext cx="82296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Design objectives and target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The architecture scales sequence throughput without replicating full N×d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486400" cy="448056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Process four independent 1×d vectors concurrently.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Keep the per-lane tile size at M=32 and use NUM_COLS=16 per projection.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Reuse one shared weight tile across lanes instead of issuing four independent external reads.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Preserve fixed-point Q8.8 datapaths and the DyT tanh-LUT implementation.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Stream rows in seq_idx order even when lanes complete at different times.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Keep the original single-lane top-level available for regression and comparison.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2194560" cy="502920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11095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4096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25880"/>
            <a:ext cx="2194560" cy="502920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HIDDEN_DIM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911095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11008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194560" cy="502920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45536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560320"/>
            <a:ext cx="2194560" cy="502920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145536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94760"/>
            <a:ext cx="2194560" cy="502920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NUM_COLS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79976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16/lane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794760"/>
            <a:ext cx="2194560" cy="502920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379976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parameterized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512064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32C3CD"/>
                </a:solidFill>
                <a:latin typeface="Aptos"/>
              </a:rPr>
              <a:t>Nominal DSP structure:
4 × (2 × 32 × 16 + 4) = 4,112 DSP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Baseline: sequential three-phase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One input vector occupies the datapath until the complete transaction finishes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508760" cy="822960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Input 1×d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743200"/>
            <a:ext cx="32004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0591" y="2331720"/>
            <a:ext cx="1508760" cy="822960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Pre-Add-DyT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59352" y="2743200"/>
            <a:ext cx="32004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98264" y="2331720"/>
            <a:ext cx="2834640" cy="822960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FFN
Fetch → Up → ReLU → Down → Acc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32904" y="2743200"/>
            <a:ext cx="32004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71816" y="2331720"/>
            <a:ext cx="1508760" cy="822960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Post-Add-DyT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0576" y="2743200"/>
            <a:ext cx="32004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19488" y="2331720"/>
            <a:ext cx="1508760" cy="822960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Output 1×d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77639"/>
            <a:ext cx="5212080" cy="141732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One phase active at a time.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No lane scheduler or output reorder.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Weight reads originate from the active lane fetch FSM.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77639"/>
            <a:ext cx="5212080" cy="141732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Simple control and verification.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Latency grows linearly with sequence length N.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Hardware resources are underutilized for batched vectors.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New top-level: four concurrent sequence 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The scheduler dispatches row indices; lanes share weights but retain private activation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70432"/>
            <a:ext cx="1920240" cy="749808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Sequence
Scheduler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874519"/>
            <a:ext cx="1874519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Lane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84248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ACBCD2"/>
                </a:solidFill>
                <a:latin typeface="Aptos"/>
              </a:rPr>
              <a:t>seq_idx 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1536192"/>
            <a:ext cx="411480" cy="621792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715768"/>
            <a:ext cx="1874519" cy="56692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Lane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825496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ACBCD2"/>
                </a:solidFill>
                <a:latin typeface="Aptos"/>
              </a:rPr>
              <a:t>seq_idx 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1536192"/>
            <a:ext cx="411480" cy="1463040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88920" y="3557015"/>
            <a:ext cx="1874519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Lane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666744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ACBCD2"/>
                </a:solidFill>
                <a:latin typeface="Aptos"/>
              </a:rPr>
              <a:t>seq_idx 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1536192"/>
            <a:ext cx="411480" cy="2304287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88920" y="4398264"/>
            <a:ext cx="1874519" cy="56692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Lane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507992"/>
            <a:ext cx="109728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ACBCD2"/>
                </a:solidFill>
                <a:latin typeface="Aptos"/>
              </a:rPr>
              <a:t>seq_idx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31720" y="1536192"/>
            <a:ext cx="411480" cy="3145536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26480" y="1188720"/>
            <a:ext cx="2468880" cy="713232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Shared weight-tile
cache / AXI arbiter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00600" y="1545336"/>
            <a:ext cx="1280160" cy="896112"/>
          </a:xfrm>
          <a:prstGeom prst="line">
            <a:avLst/>
          </a:prstGeom>
          <a:ln w="1397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800600" y="1545336"/>
            <a:ext cx="1280160" cy="1737360"/>
          </a:xfrm>
          <a:prstGeom prst="line">
            <a:avLst/>
          </a:prstGeom>
          <a:ln w="1397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00600" y="1545336"/>
            <a:ext cx="1280160" cy="2578608"/>
          </a:xfrm>
          <a:prstGeom prst="line">
            <a:avLst/>
          </a:prstGeom>
          <a:ln w="1397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00600" y="1545336"/>
            <a:ext cx="1280160" cy="3419856"/>
          </a:xfrm>
          <a:prstGeom prst="line">
            <a:avLst/>
          </a:prstGeom>
          <a:ln w="1397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1188720"/>
            <a:ext cx="2286000" cy="713232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External memory
AXI read channel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1545336"/>
            <a:ext cx="685800" cy="0"/>
          </a:xfrm>
          <a:prstGeom prst="line">
            <a:avLst/>
          </a:prstGeom>
          <a:ln w="25400">
            <a:solidFill>
              <a:srgbClr val="F0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00800" y="5138928"/>
            <a:ext cx="2468880" cy="713232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Output reorder
by out_seq_idx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30752" y="4754880"/>
            <a:ext cx="2670048" cy="68580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30752" y="3931920"/>
            <a:ext cx="2670048" cy="150876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30752" y="3108960"/>
            <a:ext cx="2670048" cy="233172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30752" y="2286000"/>
            <a:ext cx="2670048" cy="315468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72600" y="5138928"/>
            <a:ext cx="2286000" cy="713232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Ordered N×d
output stream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15400" y="5495544"/>
            <a:ext cx="411480" cy="0"/>
          </a:xfrm>
          <a:prstGeom prst="line">
            <a:avLst/>
          </a:prstGeom>
          <a:ln w="254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6190488"/>
            <a:ext cx="10789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32C3CD"/>
                </a:solidFill>
                <a:latin typeface="Aptos"/>
              </a:rPr>
              <a:t>Key principle: the sequence dimension is parallelized; the model weights remain common.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Inside each 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Each lane retains the verified three-phase datapath and owns its active-vector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51560"/>
            <a:ext cx="2926080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Pre-Add-DyT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115568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x + residual
α·z → tanh → γ·tanh+β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645919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1810512"/>
            <a:ext cx="2926080" cy="56692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Local BRAM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74519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norm_input / residual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48840" y="2404872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2569464"/>
            <a:ext cx="2926080" cy="566928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FFN 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33472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tile addresses
input + ReLU BRAM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48840" y="3163824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3328416"/>
            <a:ext cx="2926080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Up Projection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392424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M×NUM_COLS multipliers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48840" y="3922776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4087368"/>
            <a:ext cx="2926080" cy="56692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51376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Q8.8 max(0,x)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48840" y="4681728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4846320"/>
            <a:ext cx="2926080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Down + Acc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10328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projection + saturation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48840" y="5440680"/>
            <a:ext cx="0" cy="192024"/>
          </a:xfrm>
          <a:prstGeom prst="line">
            <a:avLst/>
          </a:prstGeom>
          <a:ln w="1778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5605272"/>
            <a:ext cx="2926080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Post-Add-DyT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669280"/>
            <a:ext cx="4114800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F5F8FC"/>
                </a:solidFill>
                <a:latin typeface="Aptos"/>
              </a:rPr>
              <a:t>FFN output + residual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1097280"/>
            <a:ext cx="3703320" cy="434340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Tile size: M=32.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Projection parallelism: NUM_COLS=16.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DyT: two DSP multipliers per phase.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Tanh: 1024-entry BRAM LUT.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Accumulator uses widened signed arithmetic and Q-format-aware extraction.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Lane runs in SINGLE_VECTOR mode for one dispatched seq_idx.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Sequence scheduler and lane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N vectors are dispatched in groups of four, with masking for the final partial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32C3CD"/>
                </a:solidFill>
                <a:latin typeface="Aptos"/>
              </a:rPr>
              <a:t>Example dispatch for N=10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28216"/>
            <a:ext cx="1005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Group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600200"/>
            <a:ext cx="1463040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0
seq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00200"/>
            <a:ext cx="1463040" cy="56692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1
seq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00200"/>
            <a:ext cx="1463040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2
seq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19" y="1600200"/>
            <a:ext cx="1463040" cy="56692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3
seq 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359152"/>
            <a:ext cx="0" cy="201168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734056"/>
            <a:ext cx="1005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Group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606040"/>
            <a:ext cx="1463040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0
seq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606040"/>
            <a:ext cx="1463040" cy="56692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1
seq 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606040"/>
            <a:ext cx="1463040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2
seq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2606040"/>
            <a:ext cx="1463040" cy="56692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3
seq 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3364992"/>
            <a:ext cx="0" cy="201168"/>
          </a:xfrm>
          <a:prstGeom prst="line">
            <a:avLst/>
          </a:prstGeom>
          <a:ln w="1524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739896"/>
            <a:ext cx="10058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Group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3611880"/>
            <a:ext cx="1463040" cy="56692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0
seq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611880"/>
            <a:ext cx="1463040" cy="56692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1
seq 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3611880"/>
            <a:ext cx="1463040" cy="56692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2
seq 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19" y="3611880"/>
            <a:ext cx="1463040" cy="56692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3
seq 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956048"/>
            <a:ext cx="1645920" cy="59436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IDLE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4956048"/>
            <a:ext cx="1737360" cy="594360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DISPATCH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956048"/>
            <a:ext cx="1645920" cy="594360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4956048"/>
            <a:ext cx="1737360" cy="594360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STREAM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4956048"/>
            <a:ext cx="1737360" cy="594360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5248656"/>
            <a:ext cx="365760" cy="0"/>
          </a:xfrm>
          <a:prstGeom prst="line">
            <a:avLst/>
          </a:prstGeom>
          <a:ln w="1905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72000" y="5248656"/>
            <a:ext cx="411480" cy="0"/>
          </a:xfrm>
          <a:prstGeom prst="line">
            <a:avLst/>
          </a:prstGeom>
          <a:ln w="1905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20840" y="5248656"/>
            <a:ext cx="365760" cy="0"/>
          </a:xfrm>
          <a:prstGeom prst="line">
            <a:avLst/>
          </a:prstGeom>
          <a:ln w="1905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15400" y="5248656"/>
            <a:ext cx="365760" cy="0"/>
          </a:xfrm>
          <a:prstGeom prst="line">
            <a:avLst/>
          </a:prstGeom>
          <a:ln w="1905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ACBCD2"/>
                </a:solidFill>
                <a:latin typeface="Aptos"/>
              </a:rPr>
              <a:t>The scheduler does not replicate N full datapaths; it reuses four lanes and tracks row identity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Shared weight-tile cache and broadcast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One common weight region is accessed through a shared AXI/cache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103120" cy="713232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Lane requests
weight tile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682496"/>
            <a:ext cx="96012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03320" y="1216152"/>
            <a:ext cx="2286000" cy="93268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Tile request
coalescer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682496"/>
            <a:ext cx="86868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67728" y="1216152"/>
            <a:ext cx="2331720" cy="93268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M×M tile
cache/replay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682496"/>
            <a:ext cx="822960" cy="0"/>
          </a:xfrm>
          <a:prstGeom prst="line">
            <a:avLst/>
          </a:prstGeom>
          <a:ln w="25400">
            <a:solidFill>
              <a:srgbClr val="F0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95560" y="1216152"/>
            <a:ext cx="1417320" cy="93268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AXI
DMA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1371600" cy="438912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0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40280" y="2212848"/>
            <a:ext cx="4160520" cy="978408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3611880"/>
            <a:ext cx="1371600" cy="438912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1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240280" y="2212848"/>
            <a:ext cx="4160520" cy="1618488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251960"/>
            <a:ext cx="1371600" cy="438912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2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240280" y="2212848"/>
            <a:ext cx="4160520" cy="2258568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892040"/>
            <a:ext cx="1371600" cy="438912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Lane 3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40280" y="2212848"/>
            <a:ext cx="4160520" cy="2898648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69381" y="3127248"/>
            <a:ext cx="5417820" cy="17266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 dirty="0">
                <a:solidFill>
                  <a:srgbClr val="F5F8FC"/>
                </a:solidFill>
                <a:latin typeface="Aptos"/>
              </a:rPr>
              <a:t>Tile-level intent
• Fetch one complete M×M weight tile.
• Keep it in the shared cache.
• Replay the same tile to lanes requesting the same address.
• Avoid four independent external weight bursts.
• Preserve AXI backpressure and burst ordering.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97880"/>
            <a:ext cx="109728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1">
                <a:solidFill>
                  <a:srgbClr val="ACBCD2"/>
                </a:solidFill>
                <a:latin typeface="Aptos"/>
              </a:rPr>
              <a:t>Implementation note: the current wrapper uses a shared cache/replay layer around the existing lane AXI protocol; a native weight_tile_req/weight_tile_valid interface is the next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Per-lane buffering and ordered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Private activation state avoids replicating the full N×d tensor on-chip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2240280" cy="438912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Lane 0 buffers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norm_input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22576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residual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9504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ReLU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56432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FFN output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18488" y="4069080"/>
            <a:ext cx="0" cy="50292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37560" y="1143000"/>
            <a:ext cx="2240280" cy="438912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Lane 1 buffers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755648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norm_input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322576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residual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889504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ReLU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456432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FFN 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53128" y="4069080"/>
            <a:ext cx="0" cy="50292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72200" y="1143000"/>
            <a:ext cx="2240280" cy="438912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Lane 2 buffers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55648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norm_input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322576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residual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89504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ReLU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456432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FFN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87768" y="4069080"/>
            <a:ext cx="0" cy="50292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06840" y="1143000"/>
            <a:ext cx="2240280" cy="438912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Lane 3 buffers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755648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norm_input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322576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residual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889504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ReLU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456432"/>
            <a:ext cx="1965960" cy="384048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050" b="1">
                <a:solidFill>
                  <a:srgbClr val="F5F8FC"/>
                </a:solidFill>
                <a:latin typeface="Aptos"/>
              </a:rPr>
              <a:t>FFN output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122408" y="4069080"/>
            <a:ext cx="0" cy="502920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34840" y="4867787"/>
            <a:ext cx="2926080" cy="658368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Output capture + reorder
per-lane beat buffers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97880" y="5580645"/>
            <a:ext cx="0" cy="365760"/>
          </a:xfrm>
          <a:prstGeom prst="line">
            <a:avLst/>
          </a:prstGeom>
          <a:ln w="1905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34840" y="5965067"/>
            <a:ext cx="2926080" cy="438912"/>
          </a:xfrm>
          <a:prstGeom prst="roundRect">
            <a:avLst/>
          </a:prstGeom>
          <a:solidFill>
            <a:srgbClr val="32C3CD"/>
          </a:solidFill>
          <a:ln w="10160">
            <a:solidFill>
              <a:srgbClr val="32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seq_idx ordered 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1143000"/>
            <a:ext cx="3657600" cy="3383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32C3CD"/>
                </a:solidFill>
                <a:latin typeface="Aptos"/>
              </a:rPr>
              <a:t>Output protocol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0141" y="4709160"/>
            <a:ext cx="3794760" cy="2026609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out_seq_idx identifies the vector row.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out_row_last marks the final beat of one 1×d output.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out_last marks the final beat of the complete N×d transaction.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The reorder stage prevents lane completion order from changing external row order.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The final partial group masks unused lanes.</a:t>
            </a:r>
          </a:p>
        </p:txBody>
      </p:sp>
      <p:cxnSp>
        <p:nvCxnSpPr>
          <p:cNvPr id="36" name="Connector 11">
            <a:extLst>
              <a:ext uri="{FF2B5EF4-FFF2-40B4-BE49-F238E27FC236}">
                <a16:creationId xmlns:a16="http://schemas.microsoft.com/office/drawing/2014/main" id="{5F5C6F2C-F14A-582F-F3B8-6161A4259ECB}"/>
              </a:ext>
            </a:extLst>
          </p:cNvPr>
          <p:cNvCxnSpPr>
            <a:cxnSpLocks/>
          </p:cNvCxnSpPr>
          <p:nvPr/>
        </p:nvCxnSpPr>
        <p:spPr>
          <a:xfrm flipH="1" flipV="1">
            <a:off x="1618488" y="4558284"/>
            <a:ext cx="8503920" cy="13716"/>
          </a:xfrm>
          <a:prstGeom prst="line">
            <a:avLst/>
          </a:prstGeom>
          <a:ln w="1270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1">
            <a:extLst>
              <a:ext uri="{FF2B5EF4-FFF2-40B4-BE49-F238E27FC236}">
                <a16:creationId xmlns:a16="http://schemas.microsoft.com/office/drawing/2014/main" id="{E2B1713B-C256-0D49-4150-4AFC4E979962}"/>
              </a:ext>
            </a:extLst>
          </p:cNvPr>
          <p:cNvCxnSpPr>
            <a:cxnSpLocks/>
          </p:cNvCxnSpPr>
          <p:nvPr/>
        </p:nvCxnSpPr>
        <p:spPr>
          <a:xfrm>
            <a:off x="5865161" y="4558284"/>
            <a:ext cx="0" cy="309503"/>
          </a:xfrm>
          <a:prstGeom prst="line">
            <a:avLst/>
          </a:prstGeom>
          <a:ln w="19050">
            <a:solidFill>
              <a:srgbClr val="42B2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Fixed-point datapath and DyT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The parallel architecture preserves the validated Q8.8 arithmetic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2011680" cy="658368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Q8.8 input
/ output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609344"/>
            <a:ext cx="64008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280160"/>
            <a:ext cx="2148840" cy="658368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α × z
Q16.16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1609344"/>
            <a:ext cx="64008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1280160"/>
            <a:ext cx="2148840" cy="658368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tanh LUT
BRAM ROM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03920" y="1609344"/>
            <a:ext cx="640080" cy="0"/>
          </a:xfrm>
          <a:prstGeom prst="line">
            <a:avLst/>
          </a:prstGeom>
          <a:ln w="25400">
            <a:solidFill>
              <a:srgbClr val="32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20" y="1280160"/>
            <a:ext cx="2148840" cy="65836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γ·tanh + β
Q8.8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88920"/>
            <a:ext cx="5166360" cy="237744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Tanh LUT: 1024 entries with saturated input range.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Two main DSP multipliers per DyT stage.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Signed wide thresholds protect saturation.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Projection products accumulate in widened registers.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Fraction-aware extraction returns Q8.8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88920"/>
            <a:ext cx="5212080" cy="237744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Up projection: 32×16 multipliers per lane.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Down projection: 32×16 multipliers per lane.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Four lanes share the same architecture template.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NUM_COLS trades DSP area for cycles.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N changes scheduling/latency, not lane datapath width.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Resource organization and DSP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Block</a:t>
                      </a:r>
                    </a:p>
                  </a:txBody>
                  <a:tcPr marL="45720" marR="45720" marT="36576" marB="36576">
                    <a:solidFill>
                      <a:srgbClr val="328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Per lane</a:t>
                      </a:r>
                    </a:p>
                  </a:txBody>
                  <a:tcPr marL="45720" marR="45720" marT="36576" marB="36576">
                    <a:solidFill>
                      <a:srgbClr val="3282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 lanes</a:t>
                      </a:r>
                    </a:p>
                  </a:txBody>
                  <a:tcPr marL="45720" marR="45720" marT="36576" marB="36576">
                    <a:solidFill>
                      <a:srgbClr val="328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Up projection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32×16 = 512 DSP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2,048 DSP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Down projection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32×16 = 512 DSP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2,048 DSP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Pre/Post DyT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 DSP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16 DSP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Nominal total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1,028 DSP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4,112 DSP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170432"/>
            <a:ext cx="48006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i="0">
                <a:solidFill>
                  <a:srgbClr val="32C3CD"/>
                </a:solidFill>
                <a:latin typeface="Aptos"/>
              </a:rPr>
              <a:t>DSP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64208"/>
            <a:ext cx="489204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Aptos"/>
              </a:rPr>
              <a:t>4 × (2 × M × NUM_COLS + DyT multipliers)
= 4 × (2 × 32 × 16 + 4) = 4,112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69080"/>
            <a:ext cx="5303520" cy="141732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N=2048 does not replicate datapath hardware.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Weights are external/shared; local buffers are per lane.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BRAM usage grows with lane buffering, not full N×d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Latency model: calculated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Values shown here are cycle-level calculations, not completed large-N RTL simulation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918972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6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N</a:t>
                      </a:r>
                    </a:p>
                  </a:txBody>
                  <a:tcPr marL="45720" marR="45720" marT="36576" marB="36576">
                    <a:solidFill>
                      <a:srgbClr val="8463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Sequential total</a:t>
                      </a:r>
                    </a:p>
                  </a:txBody>
                  <a:tcPr marL="45720" marR="45720" marT="36576" marB="36576">
                    <a:solidFill>
                      <a:srgbClr val="8463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Four-lane total</a:t>
                      </a:r>
                    </a:p>
                  </a:txBody>
                  <a:tcPr marL="45720" marR="45720" marT="36576" marB="36576">
                    <a:solidFill>
                      <a:srgbClr val="8463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Calculated improvement</a:t>
                      </a:r>
                    </a:p>
                  </a:txBody>
                  <a:tcPr marL="45720" marR="45720" marT="36576" marB="36576">
                    <a:solidFill>
                      <a:srgbClr val="846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640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29.588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7.398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1,024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47.341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11.837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1,152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53.258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13.317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1,536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71.011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17.756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1,664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76.929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19.236 s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0F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6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2,048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94.682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23.674 s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4.00×</a:t>
                      </a:r>
                    </a:p>
                  </a:txBody>
                  <a:tcPr marL="45720" marR="45720" marT="36576" marB="36576">
                    <a:solidFill>
                      <a:srgbClr val="1B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09160"/>
            <a:ext cx="10698480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ACBCD2"/>
                </a:solidFill>
                <a:latin typeface="Aptos"/>
              </a:rPr>
              <a:t>Model assumptions: M=32, D=4096, HIDDEN_DIM=11008, 500 MHz, four sequential lane groups, shared weight delivery without stalls, and one 1,024-beat output serialization segment per vector.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Verification and implementation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Separate verified regressions from large-scale runs that still require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658368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29260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0" i="0">
                <a:solidFill>
                  <a:srgbClr val="F5F8FC"/>
                </a:solidFill>
                <a:latin typeface="Aptos"/>
              </a:rPr>
              <a:t>Original single-lane regression
16/16 output values pass
within Q8.8 tolerance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46120" cy="658368"/>
          </a:xfrm>
          <a:prstGeom prst="roundRect">
            <a:avLst/>
          </a:prstGeom>
          <a:solidFill>
            <a:srgbClr val="42B275"/>
          </a:solidFill>
          <a:ln w="10160">
            <a:solidFill>
              <a:srgbClr val="42B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0" i="0">
                <a:solidFill>
                  <a:srgbClr val="F5F8FC"/>
                </a:solidFill>
                <a:latin typeface="Aptos"/>
              </a:rPr>
              <a:t>Four-lane smoke test
Sequence ordering, row markers,
and final done behavior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188720"/>
            <a:ext cx="3246120" cy="658368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2000" b="1">
                <a:solidFill>
                  <a:srgbClr val="F5F8FC"/>
                </a:solidFill>
                <a:latin typeface="Aptos"/>
              </a:rPr>
              <a:t>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292608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0" i="0">
                <a:solidFill>
                  <a:srgbClr val="F5F8FC"/>
                </a:solidFill>
                <a:latin typeface="Aptos"/>
              </a:rPr>
              <a:t>Large d=4096 sweep
N=640..2048 full RTL runs
require external long-run simulation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1556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600" b="1" i="0">
                <a:solidFill>
                  <a:srgbClr val="F5F8FC"/>
                </a:solidFill>
                <a:latin typeface="Aptos"/>
              </a:rPr>
              <a:t>RTL and verification file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1051560" cy="41148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27632" y="640080"/>
            <a:ext cx="9966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ACBCD2"/>
                </a:solidFill>
                <a:latin typeface="Aptos"/>
              </a:rPr>
              <a:t>The new top is additive; the original verified top remains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2606040" cy="493776"/>
          </a:xfrm>
          <a:prstGeom prst="roundRect">
            <a:avLst/>
          </a:prstGeom>
          <a:solidFill>
            <a:srgbClr val="3282DC"/>
          </a:solidFill>
          <a:ln w="10160">
            <a:solidFill>
              <a:srgbClr val="328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Core RTL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83080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ffn_block_zynq.v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221991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add_dyt_stage.v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60904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add_dyt_post.v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099815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fetch_addr_gen_dyt.v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538728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tm_proj_stage.v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977639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relu_stage.v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416552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accumulator.v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1143000"/>
            <a:ext cx="2606040" cy="493776"/>
          </a:xfrm>
          <a:prstGeom prst="roundRect">
            <a:avLst/>
          </a:prstGeom>
          <a:solidFill>
            <a:srgbClr val="22A591"/>
          </a:solidFill>
          <a:ln w="10160">
            <a:solidFill>
              <a:srgbClr val="22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Parallel RTL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1783080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ffn_block_zynq_4lane.v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221991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ffn_block_zynq_4lane_tile_bcast.v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660904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axi_shared_weight_cache.v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1143000"/>
            <a:ext cx="2606040" cy="493776"/>
          </a:xfrm>
          <a:prstGeom prst="roundRect">
            <a:avLst/>
          </a:prstGeom>
          <a:solidFill>
            <a:srgbClr val="8463D2"/>
          </a:solidFill>
          <a:ln w="10160">
            <a:solidFill>
              <a:srgbClr val="84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1783080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axi_read_master.v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221991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bram_dp.v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660904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adder_tree.v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099815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mul_col.v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538728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tanh_lut.v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977639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defines.v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26296" y="1143000"/>
            <a:ext cx="2606040" cy="493776"/>
          </a:xfrm>
          <a:prstGeom prst="roundRect">
            <a:avLst/>
          </a:prstGeom>
          <a:solidFill>
            <a:srgbClr val="F09137"/>
          </a:solidFill>
          <a:ln w="10160">
            <a:solidFill>
              <a:srgbClr val="F0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bIns="64008" rtlCol="0" anchor="ctr"/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Testbenches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1783080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tb_ffn_4lane_smoke.v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221991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tb_ffn_4lane_latency_large.v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660904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tb_ffn_block_zynq.v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3099815"/>
            <a:ext cx="24688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F5F8FC"/>
                </a:solidFill>
                <a:latin typeface="Aptos"/>
              </a:rPr>
              <a:t>tb_ffn_latency.v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106984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000" b="1" i="0">
                <a:solidFill>
                  <a:srgbClr val="F5F8FC"/>
                </a:solidFill>
                <a:latin typeface="Aptos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1078992" cy="45720"/>
          </a:xfrm>
          <a:prstGeom prst="rect">
            <a:avLst/>
          </a:prstGeom>
          <a:solidFill>
            <a:srgbClr val="32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3063240"/>
          </a:xfrm>
          <a:prstGeom prst="roundRect">
            <a:avLst/>
          </a:prstGeom>
          <a:solidFill>
            <a:srgbClr val="0F1F3A"/>
          </a:solidFill>
          <a:ln w="10160">
            <a:solidFill>
              <a:srgbClr val="4D6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18872" rtlCol="0" anchor="ctr"/>
          <a:lstStyle/>
          <a:p>
            <a:pPr algn="ctr"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Sequence parallelism changes the architecture from one occupied datapath to four concurrent 1×d lanes.</a:t>
            </a:r>
          </a:p>
          <a:p>
            <a:pPr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Shared weight-tile handling removes unnecessary duplication of common weight traffic.</a:t>
            </a:r>
          </a:p>
          <a:p>
            <a:pPr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Per-lane BRAM and an output reorder stage preserve correctness and row ordering.</a:t>
            </a:r>
          </a:p>
          <a:p>
            <a:pPr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The HIDDEN_DIM and N parameters make the architecture scalable and controllable from the top level.</a:t>
            </a:r>
          </a:p>
          <a:p>
            <a:pPr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The four-lane point is structurally suited to a device with approximately 5,000 DSP slices.</a:t>
            </a:r>
          </a:p>
          <a:p>
            <a:pPr>
              <a:spcAft>
                <a:spcPts val="7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t>Large latency values must be reported only after complete RTL simulation reaches out_last and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0" i="0">
                <a:solidFill>
                  <a:srgbClr val="ACBCD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1575</Words>
  <Application>Microsoft Office PowerPoint</Application>
  <PresentationFormat>Widescreen</PresentationFormat>
  <Paragraphs>273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ARUDDHA BASU</cp:lastModifiedBy>
  <cp:revision>2</cp:revision>
  <dcterms:created xsi:type="dcterms:W3CDTF">2013-01-27T09:14:16Z</dcterms:created>
  <dcterms:modified xsi:type="dcterms:W3CDTF">2026-09-21T16:54:18Z</dcterms:modified>
  <cp:category/>
</cp:coreProperties>
</file>