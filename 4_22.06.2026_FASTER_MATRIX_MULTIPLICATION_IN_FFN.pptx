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70" r:id="rId6"/>
    <p:sldId id="262" r:id="rId7"/>
    <p:sldId id="266" r:id="rId8"/>
    <p:sldId id="269" r:id="rId9"/>
    <p:sldId id="280" r:id="rId10"/>
    <p:sldId id="264" r:id="rId11"/>
    <p:sldId id="276" r:id="rId12"/>
    <p:sldId id="271" r:id="rId13"/>
    <p:sldId id="272" r:id="rId14"/>
    <p:sldId id="273" r:id="rId15"/>
    <p:sldId id="274" r:id="rId16"/>
    <p:sldId id="275" r:id="rId17"/>
    <p:sldId id="267" r:id="rId18"/>
    <p:sldId id="268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4DE"/>
    <a:srgbClr val="99F3FD"/>
    <a:srgbClr val="B2B2B2"/>
    <a:srgbClr val="FBB3BA"/>
    <a:srgbClr val="CCFF99"/>
    <a:srgbClr val="EF9EF8"/>
    <a:srgbClr val="F1FD7F"/>
    <a:srgbClr val="A9CBFD"/>
    <a:srgbClr val="BC7DFB"/>
    <a:srgbClr val="928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2446" autoAdjust="0"/>
  </p:normalViewPr>
  <p:slideViewPr>
    <p:cSldViewPr snapToGrid="0">
      <p:cViewPr>
        <p:scale>
          <a:sx n="96" d="100"/>
          <a:sy n="96" d="100"/>
        </p:scale>
        <p:origin x="109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CBD21-EBAB-4864-B316-2A662547B7BA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74A48-B885-4111-9D63-08F0A2574A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403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2C382-D5A4-48C2-88BB-73D34FFEC3B4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74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1DEDCF-6E74-473A-827C-B33F3FE97888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300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2C382-D5A4-48C2-88BB-73D34FFEC3B4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57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B090-1F74-699F-76D6-5D8BBD82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68114-01C9-5B5A-F518-3BBF4A648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C8DFA-16ED-1D53-E966-200709C1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FFB56-35D0-8DC0-E1AA-50D2FE93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FDBF0-2CD8-D46E-9D8D-72C81197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88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8D33-E0D5-F3D7-E6E2-D57F0728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20F5E-EB74-40BD-6247-D128FDD61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5308-73FF-D4FA-3DB6-4882CAC5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BF426-CD23-2DF4-5D94-A75F5790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BD9F2-A4B5-DEBF-FCBB-4FAE5EF5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24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005B-AF57-FEBD-A542-6B466CF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A29BF-BA2A-96B3-D21D-27058D65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7520D-E788-6182-D5A0-57DF0FC9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B4E2C-9B70-B17D-2CDE-A01FA533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FC4DB-D28C-3BAF-C4C5-B62A160A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0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58F9-12B2-0B6A-6131-360A4B78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3761-1588-5EF9-B930-7A7D86F2B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6F228-10D8-2BBD-86BD-B2993803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45E5B-0531-34E5-2FDF-7010E5B9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D6846-2B77-DFD4-288F-0B69CC0A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CBEBE-1892-899F-E7EA-FE52B230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1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DB70-90B8-6EB8-D89C-C090214E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B02ED-78AA-3806-FC34-5D7AE9B32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B4704-200A-897B-A2EA-F6122D602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D795D-41D3-2342-2CC3-2D99A7A7A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9A6691-0286-C114-A61F-BE6FBDC54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40996-4AA8-CC16-4C5F-12CA1A6A2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B9959-808F-3A6C-D5A2-7327C62F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4FEFC-7C9B-76E6-8D9D-C7E29ECB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71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FF3B-501C-143F-DDA4-3F32A7CF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05A8E-0FA9-C405-0563-11D95F65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20B66-4BBA-B077-B5BA-B9B38FA1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D5D59-A6CA-78CC-AB83-8173142E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17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241894-ED44-9F29-AD87-346E7AA3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D4D7B-7ACA-95EC-7233-7A49F516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EC3A6-52E1-5155-7BBF-B1EF810E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20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5189-1DDB-87E6-B904-53682EA4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6F53-0A68-D1BB-5520-FC2AFF2F5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849A-A56F-9CCC-6A9A-C48CFD964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3FF5C-88F2-729F-ED83-61A6CA50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D41D7-82EF-80DE-92CD-584966B4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D5DD6-DE4A-7350-B4D1-4166A985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F23E1-B336-23A2-DF43-25C8F4AE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5D5D0-AFB1-0018-58F5-162190891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15C14-A821-6DBA-14F8-53B4A089E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7461D-EFD7-A3BB-753F-D8E364B0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D6234-9F4F-F2FC-D4E6-1844311C4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D0803-7298-6D91-C2D0-6ACDD5F7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7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29DA-2468-185B-3021-8E48C9FC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CE715-2E3E-450B-3847-2E8E51EDD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CD151-EBCE-0C0B-C06F-666A38BB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2C1A1-6F22-91D3-5FFF-30B3F06A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4C682-3BC5-6985-9310-93E8F79B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9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1371D-6EFC-2673-90F1-9F15F30B3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F4B9C-20C5-B33B-EC62-659CED630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875CC-E988-4FCE-727B-AD1EA22B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FDA58-EE01-5065-4BF5-3ECBD76D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2A4C-F24C-FC90-929E-6A90F2E6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81BF6-9193-71AA-9E93-1BEE1757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56F2-D284-663B-6273-DB198D1B5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0C806-C848-62F2-A56A-1FAC517BF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4F760F-D378-44C3-A761-12ACB00718D6}" type="datetimeFigureOut">
              <a:rPr lang="en-US" smtClean="0"/>
              <a:t>25-Jun-26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4B8B5-953D-8BC4-FF88-0D3572EF7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542DB-6098-071C-CAFE-696BAF8D6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DE31F-70F2-400F-B036-99E9A08114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5015-6F2D-8B0E-6CA1-884117B58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251" y="2715773"/>
            <a:ext cx="9144000" cy="23066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Faster Matrix Multiplication In Feed Forward Network Using Tiling and Tensor Core and Design of Pipelined Feed Forward Network </a:t>
            </a:r>
          </a:p>
        </p:txBody>
      </p:sp>
    </p:spTree>
    <p:extLst>
      <p:ext uri="{BB962C8B-B14F-4D97-AF65-F5344CB8AC3E}">
        <p14:creationId xmlns:p14="http://schemas.microsoft.com/office/powerpoint/2010/main" val="32967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7FB5-612E-3552-0BCE-3FCE631C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4" y="94992"/>
            <a:ext cx="3163432" cy="940507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0AD58-A262-BF5B-7ABC-014CBD83E5F9}"/>
              </a:ext>
            </a:extLst>
          </p:cNvPr>
          <p:cNvSpPr txBox="1"/>
          <p:nvPr/>
        </p:nvSpPr>
        <p:spPr>
          <a:xfrm>
            <a:off x="760489" y="858317"/>
            <a:ext cx="11226299" cy="369332"/>
          </a:xfrm>
          <a:prstGeom prst="rect">
            <a:avLst/>
          </a:prstGeom>
          <a:solidFill>
            <a:srgbClr val="EE926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1. we want to project a row vector input across all column vectors of up projection matrix simultaneously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C825C-2CCF-D335-BD03-F67F059C7B97}"/>
              </a:ext>
            </a:extLst>
          </p:cNvPr>
          <p:cNvSpPr txBox="1"/>
          <p:nvPr/>
        </p:nvSpPr>
        <p:spPr>
          <a:xfrm>
            <a:off x="760488" y="2229219"/>
            <a:ext cx="11226292" cy="369332"/>
          </a:xfrm>
          <a:prstGeom prst="rect">
            <a:avLst/>
          </a:prstGeom>
          <a:solidFill>
            <a:srgbClr val="48FAA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3. we need fully parallel Vector Matrix Multiplier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BEF0C-34A9-FBB3-A2F6-9D8A31481B4A}"/>
              </a:ext>
            </a:extLst>
          </p:cNvPr>
          <p:cNvSpPr txBox="1"/>
          <p:nvPr/>
        </p:nvSpPr>
        <p:spPr>
          <a:xfrm>
            <a:off x="760488" y="1548406"/>
            <a:ext cx="11226290" cy="369332"/>
          </a:xfrm>
          <a:prstGeom prst="rect">
            <a:avLst/>
          </a:prstGeom>
          <a:solidFill>
            <a:srgbClr val="E3F95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2. We have to broadcast the input vector to multiple processing elements at the exact same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7B1E2-5727-6670-8328-721A1AFFAD11}"/>
              </a:ext>
            </a:extLst>
          </p:cNvPr>
          <p:cNvSpPr txBox="1"/>
          <p:nvPr/>
        </p:nvSpPr>
        <p:spPr>
          <a:xfrm>
            <a:off x="760488" y="2898244"/>
            <a:ext cx="11226296" cy="646331"/>
          </a:xfrm>
          <a:prstGeom prst="rect">
            <a:avLst/>
          </a:prstGeom>
          <a:solidFill>
            <a:srgbClr val="928DF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4. Instead of having one neuron cycle through the data, we will duplicate our dot product logic for every single column in our matrix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CD9D83-ACDB-86B4-B1D7-E91E6F8753D7}"/>
              </a:ext>
            </a:extLst>
          </p:cNvPr>
          <p:cNvSpPr txBox="1"/>
          <p:nvPr/>
        </p:nvSpPr>
        <p:spPr>
          <a:xfrm>
            <a:off x="760488" y="3862374"/>
            <a:ext cx="11226296" cy="646331"/>
          </a:xfrm>
          <a:prstGeom prst="rect">
            <a:avLst/>
          </a:prstGeom>
          <a:solidFill>
            <a:srgbClr val="FC748B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5. While the approach gives us absolute lowest latency possible (1 projections per cycle), it scales quadratically in terms of hardware resources and we will run out of dsp blocks.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67C378-4AA5-4C83-4E90-C2B6A8F2920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6373633" y="1227649"/>
            <a:ext cx="6" cy="32075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472A5E-7368-D087-B4E2-7BE9B60ED7B9}"/>
              </a:ext>
            </a:extLst>
          </p:cNvPr>
          <p:cNvCxnSpPr/>
          <p:nvPr/>
        </p:nvCxnSpPr>
        <p:spPr>
          <a:xfrm flipH="1">
            <a:off x="6363813" y="1923487"/>
            <a:ext cx="2" cy="32075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05ED9C-6C31-5679-D612-8B7352158387}"/>
              </a:ext>
            </a:extLst>
          </p:cNvPr>
          <p:cNvCxnSpPr/>
          <p:nvPr/>
        </p:nvCxnSpPr>
        <p:spPr>
          <a:xfrm flipH="1">
            <a:off x="6373633" y="2598551"/>
            <a:ext cx="2" cy="32075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30D27F-C97E-9973-C450-D1D237BEE36E}"/>
              </a:ext>
            </a:extLst>
          </p:cNvPr>
          <p:cNvCxnSpPr/>
          <p:nvPr/>
        </p:nvCxnSpPr>
        <p:spPr>
          <a:xfrm flipH="1">
            <a:off x="6363811" y="3543096"/>
            <a:ext cx="2" cy="32075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205C6A-DC31-86CF-9ED1-C8C53C5BCF30}"/>
              </a:ext>
            </a:extLst>
          </p:cNvPr>
          <p:cNvSpPr txBox="1"/>
          <p:nvPr/>
        </p:nvSpPr>
        <p:spPr>
          <a:xfrm>
            <a:off x="760487" y="4892967"/>
            <a:ext cx="11226299" cy="1200329"/>
          </a:xfrm>
          <a:prstGeom prst="rect">
            <a:avLst/>
          </a:prstGeom>
          <a:solidFill>
            <a:srgbClr val="99F3F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6. If our matrix is too large to do multiplication completely simultaneously, we modify this to be semi-parallel (process some number of coloumns simultaneously, cycle through the rest using FSM, and store the weights in BRAM blocks).</a:t>
            </a:r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9E2F5A-597F-9F72-7D3F-9C9D298CE241}"/>
              </a:ext>
            </a:extLst>
          </p:cNvPr>
          <p:cNvCxnSpPr/>
          <p:nvPr/>
        </p:nvCxnSpPr>
        <p:spPr>
          <a:xfrm flipH="1">
            <a:off x="6363809" y="4514806"/>
            <a:ext cx="2" cy="32075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07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B87113-A954-6A36-7744-53BB6B6475F8}"/>
              </a:ext>
            </a:extLst>
          </p:cNvPr>
          <p:cNvSpPr txBox="1"/>
          <p:nvPr/>
        </p:nvSpPr>
        <p:spPr>
          <a:xfrm>
            <a:off x="204644" y="4045097"/>
            <a:ext cx="134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x d vector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7D509-EB45-F6BC-096C-68B329B4A8E1}"/>
              </a:ext>
            </a:extLst>
          </p:cNvPr>
          <p:cNvSpPr txBox="1"/>
          <p:nvPr/>
        </p:nvSpPr>
        <p:spPr>
          <a:xfrm>
            <a:off x="2467497" y="5346490"/>
            <a:ext cx="4149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d x 4d up projection matrix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ECF6C-62E6-18F7-C760-9FDA22D27FD9}"/>
              </a:ext>
            </a:extLst>
          </p:cNvPr>
          <p:cNvSpPr/>
          <p:nvPr/>
        </p:nvSpPr>
        <p:spPr>
          <a:xfrm>
            <a:off x="368877" y="3228109"/>
            <a:ext cx="1122218" cy="200891"/>
          </a:xfrm>
          <a:prstGeom prst="rect">
            <a:avLst/>
          </a:prstGeom>
          <a:solidFill>
            <a:srgbClr val="99F3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A3B32-E5E7-3442-9642-142961823962}"/>
              </a:ext>
            </a:extLst>
          </p:cNvPr>
          <p:cNvSpPr/>
          <p:nvPr/>
        </p:nvSpPr>
        <p:spPr>
          <a:xfrm rot="5400000">
            <a:off x="2107622" y="3214254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CF0E5B-E060-31A4-83E7-243CEE17F11A}"/>
              </a:ext>
            </a:extLst>
          </p:cNvPr>
          <p:cNvSpPr/>
          <p:nvPr/>
        </p:nvSpPr>
        <p:spPr>
          <a:xfrm rot="5400000">
            <a:off x="2405216" y="3214255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E385F-085E-87F2-7DAB-FD02FB1E5951}"/>
              </a:ext>
            </a:extLst>
          </p:cNvPr>
          <p:cNvSpPr/>
          <p:nvPr/>
        </p:nvSpPr>
        <p:spPr>
          <a:xfrm rot="5400000">
            <a:off x="2947711" y="3214255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CCA28-E81A-7D67-61A5-7759B4DCA8BB}"/>
              </a:ext>
            </a:extLst>
          </p:cNvPr>
          <p:cNvSpPr/>
          <p:nvPr/>
        </p:nvSpPr>
        <p:spPr>
          <a:xfrm rot="5400000">
            <a:off x="2676464" y="3204803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A3357C3-D61E-9125-B80F-EB1E6C598E17}"/>
              </a:ext>
            </a:extLst>
          </p:cNvPr>
          <p:cNvCxnSpPr/>
          <p:nvPr/>
        </p:nvCxnSpPr>
        <p:spPr>
          <a:xfrm>
            <a:off x="723331" y="3228109"/>
            <a:ext cx="0" cy="200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6BF925-023A-796D-CE77-4572EBF7CE2E}"/>
              </a:ext>
            </a:extLst>
          </p:cNvPr>
          <p:cNvCxnSpPr/>
          <p:nvPr/>
        </p:nvCxnSpPr>
        <p:spPr>
          <a:xfrm>
            <a:off x="1147338" y="3228109"/>
            <a:ext cx="0" cy="200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A26090E-6B6B-92C2-4DBB-B71FCF1D71F5}"/>
              </a:ext>
            </a:extLst>
          </p:cNvPr>
          <p:cNvSpPr/>
          <p:nvPr/>
        </p:nvSpPr>
        <p:spPr>
          <a:xfrm rot="5400000">
            <a:off x="4324945" y="3214254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69BD8E-6B82-B3D5-9C3A-AFDD13C3B279}"/>
              </a:ext>
            </a:extLst>
          </p:cNvPr>
          <p:cNvSpPr/>
          <p:nvPr/>
        </p:nvSpPr>
        <p:spPr>
          <a:xfrm rot="5400000">
            <a:off x="4048765" y="3214254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391D02-6EBD-7274-25F8-A03D1DB4C950}"/>
              </a:ext>
            </a:extLst>
          </p:cNvPr>
          <p:cNvSpPr/>
          <p:nvPr/>
        </p:nvSpPr>
        <p:spPr>
          <a:xfrm rot="5400000">
            <a:off x="3781637" y="3214255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D09EC0-06C3-2E24-8841-1CEE41CB221C}"/>
              </a:ext>
            </a:extLst>
          </p:cNvPr>
          <p:cNvSpPr/>
          <p:nvPr/>
        </p:nvSpPr>
        <p:spPr>
          <a:xfrm rot="5400000">
            <a:off x="3498203" y="3214254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15E3E3-00A1-B538-2DCF-DAE14179E773}"/>
              </a:ext>
            </a:extLst>
          </p:cNvPr>
          <p:cNvSpPr/>
          <p:nvPr/>
        </p:nvSpPr>
        <p:spPr>
          <a:xfrm rot="5400000">
            <a:off x="4957496" y="3223705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9AC808-7B36-A1BB-2ECD-BA5DC7CAA41B}"/>
              </a:ext>
            </a:extLst>
          </p:cNvPr>
          <p:cNvSpPr/>
          <p:nvPr/>
        </p:nvSpPr>
        <p:spPr>
          <a:xfrm rot="5400000">
            <a:off x="5255090" y="3223706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7B0991-F7E4-7C83-FAFC-53ECDC3B0CB8}"/>
              </a:ext>
            </a:extLst>
          </p:cNvPr>
          <p:cNvSpPr/>
          <p:nvPr/>
        </p:nvSpPr>
        <p:spPr>
          <a:xfrm rot="5400000">
            <a:off x="5797585" y="3223706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257AB6-FD1A-818F-BCA1-847D5E88D323}"/>
              </a:ext>
            </a:extLst>
          </p:cNvPr>
          <p:cNvSpPr/>
          <p:nvPr/>
        </p:nvSpPr>
        <p:spPr>
          <a:xfrm rot="5400000">
            <a:off x="5526338" y="3214254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1646F9-B109-D7DB-A70A-EA508B5DB841}"/>
              </a:ext>
            </a:extLst>
          </p:cNvPr>
          <p:cNvCxnSpPr>
            <a:cxnSpLocks/>
          </p:cNvCxnSpPr>
          <p:nvPr/>
        </p:nvCxnSpPr>
        <p:spPr>
          <a:xfrm flipH="1">
            <a:off x="2568285" y="2983871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6BECCEA-4ED8-C02C-B8C4-33FB5EE21F3F}"/>
              </a:ext>
            </a:extLst>
          </p:cNvPr>
          <p:cNvCxnSpPr>
            <a:cxnSpLocks/>
          </p:cNvCxnSpPr>
          <p:nvPr/>
        </p:nvCxnSpPr>
        <p:spPr>
          <a:xfrm flipH="1">
            <a:off x="2568285" y="344182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0F399F-43F6-F1A1-D8FD-9C25C635CED5}"/>
              </a:ext>
            </a:extLst>
          </p:cNvPr>
          <p:cNvCxnSpPr>
            <a:cxnSpLocks/>
          </p:cNvCxnSpPr>
          <p:nvPr/>
        </p:nvCxnSpPr>
        <p:spPr>
          <a:xfrm flipH="1">
            <a:off x="2865879" y="299292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B2653C-383A-09ED-FDC5-C0B10E5D8BA0}"/>
              </a:ext>
            </a:extLst>
          </p:cNvPr>
          <p:cNvCxnSpPr>
            <a:cxnSpLocks/>
          </p:cNvCxnSpPr>
          <p:nvPr/>
        </p:nvCxnSpPr>
        <p:spPr>
          <a:xfrm flipH="1">
            <a:off x="2865879" y="344182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3045AF0-1BAD-86DE-F82A-D6743BDD2831}"/>
              </a:ext>
            </a:extLst>
          </p:cNvPr>
          <p:cNvCxnSpPr>
            <a:cxnSpLocks/>
          </p:cNvCxnSpPr>
          <p:nvPr/>
        </p:nvCxnSpPr>
        <p:spPr>
          <a:xfrm flipH="1">
            <a:off x="3129153" y="299292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E68B241-F278-E870-7F8F-9F1F99A849B7}"/>
              </a:ext>
            </a:extLst>
          </p:cNvPr>
          <p:cNvCxnSpPr>
            <a:cxnSpLocks/>
          </p:cNvCxnSpPr>
          <p:nvPr/>
        </p:nvCxnSpPr>
        <p:spPr>
          <a:xfrm flipH="1">
            <a:off x="3137127" y="344182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3E11090-533C-E676-7F01-671E56022BED}"/>
              </a:ext>
            </a:extLst>
          </p:cNvPr>
          <p:cNvCxnSpPr>
            <a:cxnSpLocks/>
          </p:cNvCxnSpPr>
          <p:nvPr/>
        </p:nvCxnSpPr>
        <p:spPr>
          <a:xfrm flipH="1">
            <a:off x="3408374" y="299292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B3F0D8-B1D3-49A7-2C0F-CD788B35251F}"/>
              </a:ext>
            </a:extLst>
          </p:cNvPr>
          <p:cNvCxnSpPr>
            <a:cxnSpLocks/>
          </p:cNvCxnSpPr>
          <p:nvPr/>
        </p:nvCxnSpPr>
        <p:spPr>
          <a:xfrm flipH="1">
            <a:off x="3408374" y="342900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2DF75C-4CF8-4ABF-2A91-CAF47C0F3C96}"/>
              </a:ext>
            </a:extLst>
          </p:cNvPr>
          <p:cNvCxnSpPr>
            <a:cxnSpLocks/>
          </p:cNvCxnSpPr>
          <p:nvPr/>
        </p:nvCxnSpPr>
        <p:spPr>
          <a:xfrm flipH="1">
            <a:off x="3940167" y="3072897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E6EB0C4-3DA9-7E58-DAF1-4760DA2D0E57}"/>
              </a:ext>
            </a:extLst>
          </p:cNvPr>
          <p:cNvCxnSpPr>
            <a:cxnSpLocks/>
          </p:cNvCxnSpPr>
          <p:nvPr/>
        </p:nvCxnSpPr>
        <p:spPr>
          <a:xfrm flipH="1">
            <a:off x="3940167" y="3530851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97F88E6-E79C-00A0-B766-60B5002C5E2E}"/>
              </a:ext>
            </a:extLst>
          </p:cNvPr>
          <p:cNvCxnSpPr>
            <a:cxnSpLocks/>
          </p:cNvCxnSpPr>
          <p:nvPr/>
        </p:nvCxnSpPr>
        <p:spPr>
          <a:xfrm flipH="1">
            <a:off x="4237761" y="308195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3094D5-91D4-2E4E-925D-CBDDFD363CF0}"/>
              </a:ext>
            </a:extLst>
          </p:cNvPr>
          <p:cNvCxnSpPr>
            <a:cxnSpLocks/>
          </p:cNvCxnSpPr>
          <p:nvPr/>
        </p:nvCxnSpPr>
        <p:spPr>
          <a:xfrm flipH="1">
            <a:off x="4237761" y="3530851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C8D7E03-88E9-0044-2082-6357F9633298}"/>
              </a:ext>
            </a:extLst>
          </p:cNvPr>
          <p:cNvCxnSpPr>
            <a:cxnSpLocks/>
          </p:cNvCxnSpPr>
          <p:nvPr/>
        </p:nvCxnSpPr>
        <p:spPr>
          <a:xfrm flipH="1">
            <a:off x="4501035" y="308195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90CDEF-C182-E336-82CA-858AE0096A46}"/>
              </a:ext>
            </a:extLst>
          </p:cNvPr>
          <p:cNvCxnSpPr>
            <a:cxnSpLocks/>
          </p:cNvCxnSpPr>
          <p:nvPr/>
        </p:nvCxnSpPr>
        <p:spPr>
          <a:xfrm flipH="1">
            <a:off x="4509009" y="3530851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D8E67D-8CE1-AD96-23C4-75994A30A278}"/>
              </a:ext>
            </a:extLst>
          </p:cNvPr>
          <p:cNvCxnSpPr>
            <a:cxnSpLocks/>
          </p:cNvCxnSpPr>
          <p:nvPr/>
        </p:nvCxnSpPr>
        <p:spPr>
          <a:xfrm flipH="1">
            <a:off x="4780256" y="308195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DEE293F-E473-CEAB-BC24-72CCFB8BE976}"/>
              </a:ext>
            </a:extLst>
          </p:cNvPr>
          <p:cNvCxnSpPr>
            <a:cxnSpLocks/>
          </p:cNvCxnSpPr>
          <p:nvPr/>
        </p:nvCxnSpPr>
        <p:spPr>
          <a:xfrm flipH="1">
            <a:off x="4780256" y="3518026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8DC022-1BC0-C0A0-D8E6-976F7C11F33F}"/>
              </a:ext>
            </a:extLst>
          </p:cNvPr>
          <p:cNvCxnSpPr>
            <a:cxnSpLocks/>
          </p:cNvCxnSpPr>
          <p:nvPr/>
        </p:nvCxnSpPr>
        <p:spPr>
          <a:xfrm flipH="1">
            <a:off x="5410185" y="309477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CD465FB-1BE6-FDA8-A0BC-CAC52825BC5B}"/>
              </a:ext>
            </a:extLst>
          </p:cNvPr>
          <p:cNvCxnSpPr>
            <a:cxnSpLocks/>
          </p:cNvCxnSpPr>
          <p:nvPr/>
        </p:nvCxnSpPr>
        <p:spPr>
          <a:xfrm flipH="1">
            <a:off x="5410185" y="355272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8C6690-4E53-9A8D-65F9-12F77BE55FE7}"/>
              </a:ext>
            </a:extLst>
          </p:cNvPr>
          <p:cNvCxnSpPr>
            <a:cxnSpLocks/>
          </p:cNvCxnSpPr>
          <p:nvPr/>
        </p:nvCxnSpPr>
        <p:spPr>
          <a:xfrm flipH="1">
            <a:off x="5707779" y="3103828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98FF36-2E63-1D71-07E5-CFA6087CFB6F}"/>
              </a:ext>
            </a:extLst>
          </p:cNvPr>
          <p:cNvCxnSpPr>
            <a:cxnSpLocks/>
          </p:cNvCxnSpPr>
          <p:nvPr/>
        </p:nvCxnSpPr>
        <p:spPr>
          <a:xfrm flipH="1">
            <a:off x="5707779" y="355272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4CA85C-6A9C-A676-12DB-7C6585C911B4}"/>
              </a:ext>
            </a:extLst>
          </p:cNvPr>
          <p:cNvCxnSpPr>
            <a:cxnSpLocks/>
          </p:cNvCxnSpPr>
          <p:nvPr/>
        </p:nvCxnSpPr>
        <p:spPr>
          <a:xfrm flipH="1">
            <a:off x="5971053" y="3103828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5CD972F-4780-F1BD-97D7-269C64F3CA4B}"/>
              </a:ext>
            </a:extLst>
          </p:cNvPr>
          <p:cNvCxnSpPr>
            <a:cxnSpLocks/>
          </p:cNvCxnSpPr>
          <p:nvPr/>
        </p:nvCxnSpPr>
        <p:spPr>
          <a:xfrm flipH="1">
            <a:off x="5979027" y="355272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5D89DDB-5E50-90E9-9632-C3A86D4BE8FC}"/>
              </a:ext>
            </a:extLst>
          </p:cNvPr>
          <p:cNvCxnSpPr>
            <a:cxnSpLocks/>
          </p:cNvCxnSpPr>
          <p:nvPr/>
        </p:nvCxnSpPr>
        <p:spPr>
          <a:xfrm flipH="1">
            <a:off x="6250274" y="3103828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9A499C-CA5E-AFEA-0A72-76FC2125BA1B}"/>
              </a:ext>
            </a:extLst>
          </p:cNvPr>
          <p:cNvCxnSpPr>
            <a:cxnSpLocks/>
          </p:cNvCxnSpPr>
          <p:nvPr/>
        </p:nvCxnSpPr>
        <p:spPr>
          <a:xfrm flipH="1">
            <a:off x="6250274" y="353990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A0D10D1-1674-BDF6-3D2C-17295B17CFC2}"/>
              </a:ext>
            </a:extLst>
          </p:cNvPr>
          <p:cNvSpPr txBox="1"/>
          <p:nvPr/>
        </p:nvSpPr>
        <p:spPr>
          <a:xfrm>
            <a:off x="2837629" y="1155562"/>
            <a:ext cx="291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Taking 4 columns at a time</a:t>
            </a:r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AE8C8BCA-7AF8-D0E0-3A54-670E88532B06}"/>
              </a:ext>
            </a:extLst>
          </p:cNvPr>
          <p:cNvSpPr/>
          <p:nvPr/>
        </p:nvSpPr>
        <p:spPr>
          <a:xfrm rot="16200000">
            <a:off x="2789738" y="3405179"/>
            <a:ext cx="606342" cy="1250824"/>
          </a:xfrm>
          <a:prstGeom prst="leftBrace">
            <a:avLst>
              <a:gd name="adj1" fmla="val 34804"/>
              <a:gd name="adj2" fmla="val 50724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E0263C-F2E0-FA37-C88D-0AF066657E14}"/>
              </a:ext>
            </a:extLst>
          </p:cNvPr>
          <p:cNvSpPr txBox="1"/>
          <p:nvPr/>
        </p:nvSpPr>
        <p:spPr>
          <a:xfrm>
            <a:off x="2314529" y="4434690"/>
            <a:ext cx="156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multipliers</a:t>
            </a:r>
          </a:p>
          <a:p>
            <a:r>
              <a:rPr lang="en-US" dirty="0"/>
              <a:t>+ (d-1) adders</a:t>
            </a:r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6C73D149-65CE-8266-1AF3-1C9246012C6A}"/>
              </a:ext>
            </a:extLst>
          </p:cNvPr>
          <p:cNvSpPr/>
          <p:nvPr/>
        </p:nvSpPr>
        <p:spPr>
          <a:xfrm rot="5400000">
            <a:off x="4183902" y="392479"/>
            <a:ext cx="606342" cy="3944135"/>
          </a:xfrm>
          <a:prstGeom prst="leftBrace">
            <a:avLst>
              <a:gd name="adj1" fmla="val 34804"/>
              <a:gd name="adj2" fmla="val 50724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5B74E6-6162-6DAA-4731-7B712B54127C}"/>
              </a:ext>
            </a:extLst>
          </p:cNvPr>
          <p:cNvSpPr txBox="1"/>
          <p:nvPr/>
        </p:nvSpPr>
        <p:spPr>
          <a:xfrm>
            <a:off x="2840728" y="1644466"/>
            <a:ext cx="291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Tiles = (4d/4) = 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60ED8B-AD24-69FB-785B-8E1A792E3A03}"/>
              </a:ext>
            </a:extLst>
          </p:cNvPr>
          <p:cNvSpPr txBox="1"/>
          <p:nvPr/>
        </p:nvSpPr>
        <p:spPr>
          <a:xfrm>
            <a:off x="6467114" y="4585022"/>
            <a:ext cx="537074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Total Resource Utilization = (d x (d + d – 1)) = d(2d – 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EE37E-661D-8E8D-2470-708D95A945DF}"/>
              </a:ext>
            </a:extLst>
          </p:cNvPr>
          <p:cNvSpPr txBox="1"/>
          <p:nvPr/>
        </p:nvSpPr>
        <p:spPr>
          <a:xfrm>
            <a:off x="6459140" y="5081021"/>
            <a:ext cx="2640154" cy="369332"/>
          </a:xfrm>
          <a:prstGeom prst="rect">
            <a:avLst/>
          </a:prstGeom>
          <a:solidFill>
            <a:srgbClr val="928DF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Latency = (1 + log(d)) x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BA0B2-1C37-1A41-8B6A-6BE1D86A6DE4}"/>
              </a:ext>
            </a:extLst>
          </p:cNvPr>
          <p:cNvSpPr txBox="1"/>
          <p:nvPr/>
        </p:nvSpPr>
        <p:spPr>
          <a:xfrm>
            <a:off x="6459140" y="5573379"/>
            <a:ext cx="2640154" cy="369332"/>
          </a:xfrm>
          <a:prstGeom prst="rect">
            <a:avLst/>
          </a:prstGeom>
          <a:solidFill>
            <a:srgbClr val="48FAA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Throughput = 4d/4 = d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57B5AC0-CEBD-5BB3-25BC-70EC8FC413C6}"/>
              </a:ext>
            </a:extLst>
          </p:cNvPr>
          <p:cNvSpPr/>
          <p:nvPr/>
        </p:nvSpPr>
        <p:spPr>
          <a:xfrm rot="16200000">
            <a:off x="634633" y="3103101"/>
            <a:ext cx="606342" cy="1250824"/>
          </a:xfrm>
          <a:prstGeom prst="leftBrace">
            <a:avLst>
              <a:gd name="adj1" fmla="val 34804"/>
              <a:gd name="adj2" fmla="val 50724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6D79D-57D6-E3BD-87B4-6E2B8C546C3E}"/>
              </a:ext>
            </a:extLst>
          </p:cNvPr>
          <p:cNvSpPr txBox="1"/>
          <p:nvPr/>
        </p:nvSpPr>
        <p:spPr>
          <a:xfrm>
            <a:off x="376238" y="229711"/>
            <a:ext cx="1163002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Explaining Tiling with Tensor Core with an Example</a:t>
            </a:r>
          </a:p>
        </p:txBody>
      </p:sp>
    </p:spTree>
    <p:extLst>
      <p:ext uri="{BB962C8B-B14F-4D97-AF65-F5344CB8AC3E}">
        <p14:creationId xmlns:p14="http://schemas.microsoft.com/office/powerpoint/2010/main" val="281742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BBF515-5CA8-8560-0D39-E115FD1B231E}"/>
              </a:ext>
            </a:extLst>
          </p:cNvPr>
          <p:cNvSpPr txBox="1"/>
          <p:nvPr/>
        </p:nvSpPr>
        <p:spPr>
          <a:xfrm>
            <a:off x="225217" y="4410747"/>
            <a:ext cx="134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x d vector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A9B01-B386-E15D-6E51-5CD2E2075498}"/>
              </a:ext>
            </a:extLst>
          </p:cNvPr>
          <p:cNvSpPr txBox="1"/>
          <p:nvPr/>
        </p:nvSpPr>
        <p:spPr>
          <a:xfrm>
            <a:off x="2993668" y="5871631"/>
            <a:ext cx="343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d x 4d up projection matrix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C430E-7D50-FF1F-20F9-0894BB3675CA}"/>
              </a:ext>
            </a:extLst>
          </p:cNvPr>
          <p:cNvSpPr/>
          <p:nvPr/>
        </p:nvSpPr>
        <p:spPr>
          <a:xfrm>
            <a:off x="321252" y="3637684"/>
            <a:ext cx="1122218" cy="200891"/>
          </a:xfrm>
          <a:prstGeom prst="rect">
            <a:avLst/>
          </a:prstGeom>
          <a:solidFill>
            <a:srgbClr val="99F3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E9B778-00AD-DD67-C4C2-1FB3D5D66D54}"/>
              </a:ext>
            </a:extLst>
          </p:cNvPr>
          <p:cNvSpPr/>
          <p:nvPr/>
        </p:nvSpPr>
        <p:spPr>
          <a:xfrm rot="5400000">
            <a:off x="2059997" y="3623829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2B2DA8-0D09-F669-3BDF-12BD53CA63B2}"/>
              </a:ext>
            </a:extLst>
          </p:cNvPr>
          <p:cNvSpPr/>
          <p:nvPr/>
        </p:nvSpPr>
        <p:spPr>
          <a:xfrm rot="5400000">
            <a:off x="2357591" y="3623830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DBA8D7-809E-A190-EAA3-1566798C72A6}"/>
              </a:ext>
            </a:extLst>
          </p:cNvPr>
          <p:cNvSpPr/>
          <p:nvPr/>
        </p:nvSpPr>
        <p:spPr>
          <a:xfrm rot="5400000">
            <a:off x="2900086" y="3623830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90F5CC-B8F2-DA76-6890-0C1F8C5B32A9}"/>
              </a:ext>
            </a:extLst>
          </p:cNvPr>
          <p:cNvSpPr/>
          <p:nvPr/>
        </p:nvSpPr>
        <p:spPr>
          <a:xfrm rot="5400000">
            <a:off x="2628839" y="3614378"/>
            <a:ext cx="1122218" cy="200891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4176DC-E3B5-D2D3-FD01-FD146B14D38E}"/>
              </a:ext>
            </a:extLst>
          </p:cNvPr>
          <p:cNvCxnSpPr/>
          <p:nvPr/>
        </p:nvCxnSpPr>
        <p:spPr>
          <a:xfrm>
            <a:off x="675706" y="3637684"/>
            <a:ext cx="0" cy="200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4A12FC-E20E-8690-B869-D4419CBBF98D}"/>
              </a:ext>
            </a:extLst>
          </p:cNvPr>
          <p:cNvCxnSpPr/>
          <p:nvPr/>
        </p:nvCxnSpPr>
        <p:spPr>
          <a:xfrm>
            <a:off x="1099713" y="3637684"/>
            <a:ext cx="0" cy="200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8639D-31DC-4925-1AFA-E08D6843851C}"/>
              </a:ext>
            </a:extLst>
          </p:cNvPr>
          <p:cNvSpPr/>
          <p:nvPr/>
        </p:nvSpPr>
        <p:spPr>
          <a:xfrm rot="5400000">
            <a:off x="4678974" y="3623829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1A82B-C723-17D5-CB22-B70C3BA75D4A}"/>
              </a:ext>
            </a:extLst>
          </p:cNvPr>
          <p:cNvSpPr/>
          <p:nvPr/>
        </p:nvSpPr>
        <p:spPr>
          <a:xfrm rot="5400000">
            <a:off x="4402794" y="3623829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03EC8D-4332-6FC2-5FBD-09A44D81F4D7}"/>
              </a:ext>
            </a:extLst>
          </p:cNvPr>
          <p:cNvSpPr/>
          <p:nvPr/>
        </p:nvSpPr>
        <p:spPr>
          <a:xfrm rot="5400000">
            <a:off x="4135666" y="3623830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D3DA8B-A65F-F58C-BC8C-89733B2419B5}"/>
              </a:ext>
            </a:extLst>
          </p:cNvPr>
          <p:cNvSpPr/>
          <p:nvPr/>
        </p:nvSpPr>
        <p:spPr>
          <a:xfrm rot="5400000">
            <a:off x="3852232" y="3623829"/>
            <a:ext cx="1122218" cy="200891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079086-F906-D212-A152-8BEE6C7A6686}"/>
              </a:ext>
            </a:extLst>
          </p:cNvPr>
          <p:cNvSpPr/>
          <p:nvPr/>
        </p:nvSpPr>
        <p:spPr>
          <a:xfrm rot="5400000">
            <a:off x="5311525" y="3633280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5C42A1-D5D3-0FAE-992E-0453E2990940}"/>
              </a:ext>
            </a:extLst>
          </p:cNvPr>
          <p:cNvSpPr/>
          <p:nvPr/>
        </p:nvSpPr>
        <p:spPr>
          <a:xfrm rot="5400000">
            <a:off x="5609119" y="3633281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692694-8C2F-9BB6-9E6E-54F747839013}"/>
              </a:ext>
            </a:extLst>
          </p:cNvPr>
          <p:cNvSpPr/>
          <p:nvPr/>
        </p:nvSpPr>
        <p:spPr>
          <a:xfrm rot="5400000">
            <a:off x="6151614" y="3633281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031B19-F7B5-590F-EC5C-A327E7CB59CE}"/>
              </a:ext>
            </a:extLst>
          </p:cNvPr>
          <p:cNvSpPr/>
          <p:nvPr/>
        </p:nvSpPr>
        <p:spPr>
          <a:xfrm rot="5400000">
            <a:off x="5880367" y="3623829"/>
            <a:ext cx="1122218" cy="200891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D00B0F-4EE0-8560-A0BF-00EBF764B1D6}"/>
              </a:ext>
            </a:extLst>
          </p:cNvPr>
          <p:cNvCxnSpPr>
            <a:cxnSpLocks/>
          </p:cNvCxnSpPr>
          <p:nvPr/>
        </p:nvCxnSpPr>
        <p:spPr>
          <a:xfrm flipH="1">
            <a:off x="2520660" y="3393446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4AC5DF-FE59-08D4-BE79-E9C305563D39}"/>
              </a:ext>
            </a:extLst>
          </p:cNvPr>
          <p:cNvCxnSpPr>
            <a:cxnSpLocks/>
          </p:cNvCxnSpPr>
          <p:nvPr/>
        </p:nvCxnSpPr>
        <p:spPr>
          <a:xfrm flipH="1">
            <a:off x="2520660" y="385140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634B8C-D1F2-75EB-5B40-BA668281217F}"/>
              </a:ext>
            </a:extLst>
          </p:cNvPr>
          <p:cNvCxnSpPr>
            <a:cxnSpLocks/>
          </p:cNvCxnSpPr>
          <p:nvPr/>
        </p:nvCxnSpPr>
        <p:spPr>
          <a:xfrm flipH="1">
            <a:off x="2818254" y="340249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461529-6963-1037-366B-89370CB90ACA}"/>
              </a:ext>
            </a:extLst>
          </p:cNvPr>
          <p:cNvCxnSpPr>
            <a:cxnSpLocks/>
          </p:cNvCxnSpPr>
          <p:nvPr/>
        </p:nvCxnSpPr>
        <p:spPr>
          <a:xfrm flipH="1">
            <a:off x="2818254" y="385140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4807FE5-C0BC-4A1F-5D8B-37EE2EB8177E}"/>
              </a:ext>
            </a:extLst>
          </p:cNvPr>
          <p:cNvCxnSpPr>
            <a:cxnSpLocks/>
          </p:cNvCxnSpPr>
          <p:nvPr/>
        </p:nvCxnSpPr>
        <p:spPr>
          <a:xfrm flipH="1">
            <a:off x="3081528" y="340249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683641-793E-CF36-355E-DAAFD83DE2B7}"/>
              </a:ext>
            </a:extLst>
          </p:cNvPr>
          <p:cNvCxnSpPr>
            <a:cxnSpLocks/>
          </p:cNvCxnSpPr>
          <p:nvPr/>
        </p:nvCxnSpPr>
        <p:spPr>
          <a:xfrm flipH="1">
            <a:off x="3089502" y="385140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4C0629-4885-C841-E56A-F1E1EDC97C50}"/>
              </a:ext>
            </a:extLst>
          </p:cNvPr>
          <p:cNvCxnSpPr>
            <a:cxnSpLocks/>
          </p:cNvCxnSpPr>
          <p:nvPr/>
        </p:nvCxnSpPr>
        <p:spPr>
          <a:xfrm flipH="1">
            <a:off x="3360749" y="340249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0BE9AE-7AD0-4469-627F-324FC92B5679}"/>
              </a:ext>
            </a:extLst>
          </p:cNvPr>
          <p:cNvCxnSpPr>
            <a:cxnSpLocks/>
          </p:cNvCxnSpPr>
          <p:nvPr/>
        </p:nvCxnSpPr>
        <p:spPr>
          <a:xfrm flipH="1">
            <a:off x="3360749" y="383857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6D012F-B873-E4F0-42BA-4D7A729C2175}"/>
              </a:ext>
            </a:extLst>
          </p:cNvPr>
          <p:cNvCxnSpPr>
            <a:cxnSpLocks/>
          </p:cNvCxnSpPr>
          <p:nvPr/>
        </p:nvCxnSpPr>
        <p:spPr>
          <a:xfrm flipH="1">
            <a:off x="4294196" y="3482472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74E4A2-BA5F-76BD-8BAD-CF7FAD607AC2}"/>
              </a:ext>
            </a:extLst>
          </p:cNvPr>
          <p:cNvCxnSpPr>
            <a:cxnSpLocks/>
          </p:cNvCxnSpPr>
          <p:nvPr/>
        </p:nvCxnSpPr>
        <p:spPr>
          <a:xfrm flipH="1">
            <a:off x="4294196" y="3940426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AB4B795-2517-2B42-652E-E5F20CC13C33}"/>
              </a:ext>
            </a:extLst>
          </p:cNvPr>
          <p:cNvCxnSpPr>
            <a:cxnSpLocks/>
          </p:cNvCxnSpPr>
          <p:nvPr/>
        </p:nvCxnSpPr>
        <p:spPr>
          <a:xfrm flipH="1">
            <a:off x="4591790" y="349152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8B3510-53C0-1310-9CD8-34FF25C7B783}"/>
              </a:ext>
            </a:extLst>
          </p:cNvPr>
          <p:cNvCxnSpPr>
            <a:cxnSpLocks/>
          </p:cNvCxnSpPr>
          <p:nvPr/>
        </p:nvCxnSpPr>
        <p:spPr>
          <a:xfrm flipH="1">
            <a:off x="4591790" y="3940426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CCDEC8-8136-8889-DDF4-4C697F0602B9}"/>
              </a:ext>
            </a:extLst>
          </p:cNvPr>
          <p:cNvCxnSpPr>
            <a:cxnSpLocks/>
          </p:cNvCxnSpPr>
          <p:nvPr/>
        </p:nvCxnSpPr>
        <p:spPr>
          <a:xfrm flipH="1">
            <a:off x="4855064" y="349152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D39FD1-6B33-C629-4A7D-0D5F6A0BF1C0}"/>
              </a:ext>
            </a:extLst>
          </p:cNvPr>
          <p:cNvCxnSpPr>
            <a:cxnSpLocks/>
          </p:cNvCxnSpPr>
          <p:nvPr/>
        </p:nvCxnSpPr>
        <p:spPr>
          <a:xfrm flipH="1">
            <a:off x="4863038" y="3940426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5F6AB63-A19E-9E5F-0266-46BADE1C88A4}"/>
              </a:ext>
            </a:extLst>
          </p:cNvPr>
          <p:cNvCxnSpPr>
            <a:cxnSpLocks/>
          </p:cNvCxnSpPr>
          <p:nvPr/>
        </p:nvCxnSpPr>
        <p:spPr>
          <a:xfrm flipH="1">
            <a:off x="5134285" y="3491525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FDD8DDB-56BA-A6B7-3609-B0DDD46E4FF7}"/>
              </a:ext>
            </a:extLst>
          </p:cNvPr>
          <p:cNvCxnSpPr>
            <a:cxnSpLocks/>
          </p:cNvCxnSpPr>
          <p:nvPr/>
        </p:nvCxnSpPr>
        <p:spPr>
          <a:xfrm flipH="1">
            <a:off x="5134285" y="3927601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ED2F86-DFAD-0697-AAB8-7089D098168C}"/>
              </a:ext>
            </a:extLst>
          </p:cNvPr>
          <p:cNvCxnSpPr>
            <a:cxnSpLocks/>
          </p:cNvCxnSpPr>
          <p:nvPr/>
        </p:nvCxnSpPr>
        <p:spPr>
          <a:xfrm flipH="1">
            <a:off x="5764214" y="3504350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7AC2D3-DDD3-5C3D-70E5-F7C393E57ACE}"/>
              </a:ext>
            </a:extLst>
          </p:cNvPr>
          <p:cNvCxnSpPr>
            <a:cxnSpLocks/>
          </p:cNvCxnSpPr>
          <p:nvPr/>
        </p:nvCxnSpPr>
        <p:spPr>
          <a:xfrm flipH="1">
            <a:off x="5764214" y="396230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D0E6A63-3A97-6BCD-E426-25FFD1E91483}"/>
              </a:ext>
            </a:extLst>
          </p:cNvPr>
          <p:cNvCxnSpPr>
            <a:cxnSpLocks/>
          </p:cNvCxnSpPr>
          <p:nvPr/>
        </p:nvCxnSpPr>
        <p:spPr>
          <a:xfrm flipH="1">
            <a:off x="6061808" y="3513403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31502B-B339-9DC1-718C-B21AE193DF7D}"/>
              </a:ext>
            </a:extLst>
          </p:cNvPr>
          <p:cNvCxnSpPr>
            <a:cxnSpLocks/>
          </p:cNvCxnSpPr>
          <p:nvPr/>
        </p:nvCxnSpPr>
        <p:spPr>
          <a:xfrm flipH="1">
            <a:off x="6061808" y="396230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BE213D-BAE2-80A0-4165-32371A1D82CF}"/>
              </a:ext>
            </a:extLst>
          </p:cNvPr>
          <p:cNvCxnSpPr>
            <a:cxnSpLocks/>
          </p:cNvCxnSpPr>
          <p:nvPr/>
        </p:nvCxnSpPr>
        <p:spPr>
          <a:xfrm flipH="1">
            <a:off x="6325082" y="3513403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2B4470B-922D-AD95-B62D-ABC12DED162D}"/>
              </a:ext>
            </a:extLst>
          </p:cNvPr>
          <p:cNvCxnSpPr>
            <a:cxnSpLocks/>
          </p:cNvCxnSpPr>
          <p:nvPr/>
        </p:nvCxnSpPr>
        <p:spPr>
          <a:xfrm flipH="1">
            <a:off x="6333056" y="3962304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D879657-8997-2526-3DF8-8736DC3352A3}"/>
              </a:ext>
            </a:extLst>
          </p:cNvPr>
          <p:cNvCxnSpPr>
            <a:cxnSpLocks/>
          </p:cNvCxnSpPr>
          <p:nvPr/>
        </p:nvCxnSpPr>
        <p:spPr>
          <a:xfrm flipH="1">
            <a:off x="6604303" y="3513403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A3E8960-559A-CA0B-659B-2B0FDC00536D}"/>
              </a:ext>
            </a:extLst>
          </p:cNvPr>
          <p:cNvCxnSpPr>
            <a:cxnSpLocks/>
          </p:cNvCxnSpPr>
          <p:nvPr/>
        </p:nvCxnSpPr>
        <p:spPr>
          <a:xfrm flipH="1">
            <a:off x="6604303" y="3949479"/>
            <a:ext cx="2168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85FD34D-177F-3CF7-E51C-F1D21D6AD6C0}"/>
              </a:ext>
            </a:extLst>
          </p:cNvPr>
          <p:cNvSpPr txBox="1"/>
          <p:nvPr/>
        </p:nvSpPr>
        <p:spPr>
          <a:xfrm>
            <a:off x="2793103" y="1140088"/>
            <a:ext cx="3562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Taking m columns at a time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9EA83016-F246-631A-218C-13CE514984C3}"/>
              </a:ext>
            </a:extLst>
          </p:cNvPr>
          <p:cNvSpPr/>
          <p:nvPr/>
        </p:nvSpPr>
        <p:spPr>
          <a:xfrm rot="16200000">
            <a:off x="2901222" y="3655644"/>
            <a:ext cx="606342" cy="1569043"/>
          </a:xfrm>
          <a:prstGeom prst="leftBrace">
            <a:avLst>
              <a:gd name="adj1" fmla="val 34804"/>
              <a:gd name="adj2" fmla="val 50724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080B2-FA94-0092-35AF-6F0CC37AF028}"/>
              </a:ext>
            </a:extLst>
          </p:cNvPr>
          <p:cNvSpPr txBox="1"/>
          <p:nvPr/>
        </p:nvSpPr>
        <p:spPr>
          <a:xfrm>
            <a:off x="2454063" y="4844265"/>
            <a:ext cx="156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multipliers</a:t>
            </a:r>
          </a:p>
          <a:p>
            <a:r>
              <a:rPr lang="en-US" dirty="0"/>
              <a:t>+ (d-1) adders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8B8FD3B0-73D4-CACA-4C69-5872CACB6090}"/>
              </a:ext>
            </a:extLst>
          </p:cNvPr>
          <p:cNvSpPr/>
          <p:nvPr/>
        </p:nvSpPr>
        <p:spPr>
          <a:xfrm rot="5400000">
            <a:off x="4606056" y="332274"/>
            <a:ext cx="606342" cy="4883695"/>
          </a:xfrm>
          <a:prstGeom prst="leftBrace">
            <a:avLst>
              <a:gd name="adj1" fmla="val 34804"/>
              <a:gd name="adj2" fmla="val 50724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06FE06-0298-F93F-BD11-DDD3122A976E}"/>
              </a:ext>
            </a:extLst>
          </p:cNvPr>
          <p:cNvSpPr txBox="1"/>
          <p:nvPr/>
        </p:nvSpPr>
        <p:spPr>
          <a:xfrm>
            <a:off x="2793103" y="2054041"/>
            <a:ext cx="353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Tiles = (nd/m)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CA3FEE-25EC-DD98-995B-1594259C140F}"/>
              </a:ext>
            </a:extLst>
          </p:cNvPr>
          <p:cNvSpPr txBox="1"/>
          <p:nvPr/>
        </p:nvSpPr>
        <p:spPr>
          <a:xfrm>
            <a:off x="7538247" y="4521097"/>
            <a:ext cx="3663153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Total Resource Utilization = ((nd/m) x (d + d – 1)) = (nd/m) (2d – 1)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97217E-FCD6-7EF3-4E2C-2121F17FCAB0}"/>
              </a:ext>
            </a:extLst>
          </p:cNvPr>
          <p:cNvSpPr txBox="1"/>
          <p:nvPr/>
        </p:nvSpPr>
        <p:spPr>
          <a:xfrm>
            <a:off x="3559598" y="3513403"/>
            <a:ext cx="463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FEE0BD-1653-0BA8-E4DE-13D6DC5BC70E}"/>
              </a:ext>
            </a:extLst>
          </p:cNvPr>
          <p:cNvSpPr txBox="1"/>
          <p:nvPr/>
        </p:nvSpPr>
        <p:spPr>
          <a:xfrm>
            <a:off x="6807667" y="3504350"/>
            <a:ext cx="463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C00B71-5030-284A-9770-F6A782264915}"/>
              </a:ext>
            </a:extLst>
          </p:cNvPr>
          <p:cNvSpPr txBox="1"/>
          <p:nvPr/>
        </p:nvSpPr>
        <p:spPr>
          <a:xfrm>
            <a:off x="5291466" y="3518792"/>
            <a:ext cx="463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D4B464-2743-5AE4-F9BB-C269396ADC4C}"/>
              </a:ext>
            </a:extLst>
          </p:cNvPr>
          <p:cNvSpPr txBox="1"/>
          <p:nvPr/>
        </p:nvSpPr>
        <p:spPr>
          <a:xfrm>
            <a:off x="2793103" y="1620853"/>
            <a:ext cx="3562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Projection Matrix Dimension = 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D7BAFF-6C2C-B37B-34E1-304E3945ACD5}"/>
              </a:ext>
            </a:extLst>
          </p:cNvPr>
          <p:cNvSpPr txBox="1"/>
          <p:nvPr/>
        </p:nvSpPr>
        <p:spPr>
          <a:xfrm>
            <a:off x="7538247" y="5305930"/>
            <a:ext cx="2748753" cy="369332"/>
          </a:xfrm>
          <a:prstGeom prst="rect">
            <a:avLst/>
          </a:prstGeom>
          <a:solidFill>
            <a:srgbClr val="928DFD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Latency = (1 + log(d)) x 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B77E5A-862C-7796-6FE8-0BF067995B76}"/>
              </a:ext>
            </a:extLst>
          </p:cNvPr>
          <p:cNvSpPr txBox="1"/>
          <p:nvPr/>
        </p:nvSpPr>
        <p:spPr>
          <a:xfrm>
            <a:off x="7538247" y="5813764"/>
            <a:ext cx="2748753" cy="369332"/>
          </a:xfrm>
          <a:prstGeom prst="rect">
            <a:avLst/>
          </a:prstGeom>
          <a:solidFill>
            <a:srgbClr val="48FAA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Throughput = (nd/m) 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116D76DA-BE8B-AF34-9502-D4B74AEC2CF7}"/>
              </a:ext>
            </a:extLst>
          </p:cNvPr>
          <p:cNvSpPr/>
          <p:nvPr/>
        </p:nvSpPr>
        <p:spPr>
          <a:xfrm rot="16200000">
            <a:off x="579190" y="3316311"/>
            <a:ext cx="606342" cy="1569043"/>
          </a:xfrm>
          <a:prstGeom prst="leftBrace">
            <a:avLst>
              <a:gd name="adj1" fmla="val 34804"/>
              <a:gd name="adj2" fmla="val 50724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61CD2C-450F-B18E-0394-ECE5F0593A88}"/>
              </a:ext>
            </a:extLst>
          </p:cNvPr>
          <p:cNvSpPr txBox="1"/>
          <p:nvPr/>
        </p:nvSpPr>
        <p:spPr>
          <a:xfrm>
            <a:off x="290822" y="280491"/>
            <a:ext cx="11649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Explaining Tiling with Tensor Core (Generalized)</a:t>
            </a:r>
          </a:p>
        </p:txBody>
      </p:sp>
    </p:spTree>
    <p:extLst>
      <p:ext uri="{BB962C8B-B14F-4D97-AF65-F5344CB8AC3E}">
        <p14:creationId xmlns:p14="http://schemas.microsoft.com/office/powerpoint/2010/main" val="313661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88AC-508B-92A8-24B8-C85AF300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482" y="24991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Design Choices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322BC-A8AD-2D79-FA36-F5B77B093C97}"/>
              </a:ext>
            </a:extLst>
          </p:cNvPr>
          <p:cNvSpPr txBox="1"/>
          <p:nvPr/>
        </p:nvSpPr>
        <p:spPr>
          <a:xfrm>
            <a:off x="1928381" y="1710221"/>
            <a:ext cx="7161290" cy="369332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size of the input row vector is 1x8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86568-574C-BAC2-B0A7-66ACBA8E57D6}"/>
              </a:ext>
            </a:extLst>
          </p:cNvPr>
          <p:cNvSpPr txBox="1"/>
          <p:nvPr/>
        </p:nvSpPr>
        <p:spPr>
          <a:xfrm>
            <a:off x="1928381" y="2243972"/>
            <a:ext cx="7161288" cy="369332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size of up projection matrix is 8x32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830B1-0F20-1A34-037B-6090553F7B6D}"/>
              </a:ext>
            </a:extLst>
          </p:cNvPr>
          <p:cNvSpPr txBox="1"/>
          <p:nvPr/>
        </p:nvSpPr>
        <p:spPr>
          <a:xfrm>
            <a:off x="1928381" y="2768290"/>
            <a:ext cx="7161289" cy="369332"/>
          </a:xfrm>
          <a:prstGeom prst="rect">
            <a:avLst/>
          </a:prstGeom>
          <a:solidFill>
            <a:srgbClr val="F1FD7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up projection matrix is partitioned into 4 tiles, each of size 8x8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F3525-570C-F763-C9A1-7F1AD257199D}"/>
              </a:ext>
            </a:extLst>
          </p:cNvPr>
          <p:cNvSpPr txBox="1"/>
          <p:nvPr/>
        </p:nvSpPr>
        <p:spPr>
          <a:xfrm>
            <a:off x="1928382" y="3318936"/>
            <a:ext cx="7161287" cy="369332"/>
          </a:xfrm>
          <a:prstGeom prst="rect">
            <a:avLst/>
          </a:prstGeom>
          <a:solidFill>
            <a:srgbClr val="FBB3B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size of the down projection matrix is 32x8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B38F2-604F-EE61-FC07-3543A00B8944}"/>
              </a:ext>
            </a:extLst>
          </p:cNvPr>
          <p:cNvSpPr txBox="1"/>
          <p:nvPr/>
        </p:nvSpPr>
        <p:spPr>
          <a:xfrm>
            <a:off x="1928381" y="3845456"/>
            <a:ext cx="7161293" cy="369332"/>
          </a:xfrm>
          <a:prstGeom prst="rect">
            <a:avLst/>
          </a:prstGeom>
          <a:solidFill>
            <a:srgbClr val="EF9EF8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 valid matrix multiplication, the down projection matrix is transposed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728674-01DC-67DF-1108-E9ECF42314F2}"/>
              </a:ext>
            </a:extLst>
          </p:cNvPr>
          <p:cNvSpPr txBox="1"/>
          <p:nvPr/>
        </p:nvSpPr>
        <p:spPr>
          <a:xfrm>
            <a:off x="1928375" y="4349505"/>
            <a:ext cx="7161286" cy="369332"/>
          </a:xfrm>
          <a:prstGeom prst="rect">
            <a:avLst/>
          </a:prstGeom>
          <a:solidFill>
            <a:srgbClr val="A9CB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partitioned into 4 tiles of 8x8 size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C5FCBB-DE0B-043D-B4B1-ACDE9110012C}"/>
              </a:ext>
            </a:extLst>
          </p:cNvPr>
          <p:cNvSpPr txBox="1"/>
          <p:nvPr/>
        </p:nvSpPr>
        <p:spPr>
          <a:xfrm>
            <a:off x="1928375" y="4864411"/>
            <a:ext cx="7161293" cy="369332"/>
          </a:xfrm>
          <a:prstGeom prst="rect">
            <a:avLst/>
          </a:prstGeom>
          <a:solidFill>
            <a:srgbClr val="B2B2B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up and down projection matrix tiles are fetched from BRAM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19C2B8-CA8E-6E9C-B0EE-EE55640C7C42}"/>
              </a:ext>
            </a:extLst>
          </p:cNvPr>
          <p:cNvSpPr txBox="1"/>
          <p:nvPr/>
        </p:nvSpPr>
        <p:spPr>
          <a:xfrm>
            <a:off x="1928376" y="5398162"/>
            <a:ext cx="7161293" cy="369332"/>
          </a:xfrm>
          <a:prstGeom prst="rect">
            <a:avLst/>
          </a:prstGeom>
          <a:solidFill>
            <a:srgbClr val="BC7DF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BRAM is dynamically loaded with weight tiles from an external memory</a:t>
            </a:r>
          </a:p>
        </p:txBody>
      </p:sp>
    </p:spTree>
    <p:extLst>
      <p:ext uri="{BB962C8B-B14F-4D97-AF65-F5344CB8AC3E}">
        <p14:creationId xmlns:p14="http://schemas.microsoft.com/office/powerpoint/2010/main" val="3395504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CFE8-2A2A-1DF0-9F9D-10AB82DDB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69668" cy="10369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Algorithmic Representation of Pipelined Feed Forward Network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C012D-A73B-16C5-82B8-F9808B19C0F5}"/>
              </a:ext>
            </a:extLst>
          </p:cNvPr>
          <p:cNvSpPr/>
          <p:nvPr/>
        </p:nvSpPr>
        <p:spPr>
          <a:xfrm>
            <a:off x="4912636" y="2565576"/>
            <a:ext cx="2381062" cy="461340"/>
          </a:xfrm>
          <a:prstGeom prst="rect">
            <a:avLst/>
          </a:prstGeom>
          <a:solidFill>
            <a:srgbClr val="928D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Multiply 1x8 input vector with 8 x 8 up projection matrix corresponding to tile_index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CD4B25-6CD6-C039-5F4C-DA538784C72C}"/>
              </a:ext>
            </a:extLst>
          </p:cNvPr>
          <p:cNvSpPr/>
          <p:nvPr/>
        </p:nvSpPr>
        <p:spPr>
          <a:xfrm>
            <a:off x="5691232" y="1486305"/>
            <a:ext cx="769546" cy="246842"/>
          </a:xfrm>
          <a:prstGeom prst="ellipse">
            <a:avLst/>
          </a:prstGeom>
          <a:solidFill>
            <a:srgbClr val="77D393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B746C-0EFB-8F59-7D15-6989A89A0588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6076005" y="1733147"/>
            <a:ext cx="0" cy="19807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BD1F04-779D-1211-E999-4E8345783B93}"/>
              </a:ext>
            </a:extLst>
          </p:cNvPr>
          <p:cNvCxnSpPr>
            <a:cxnSpLocks/>
          </p:cNvCxnSpPr>
          <p:nvPr/>
        </p:nvCxnSpPr>
        <p:spPr>
          <a:xfrm>
            <a:off x="6066950" y="3028991"/>
            <a:ext cx="0" cy="2625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5203C906-3E32-1F77-E67D-C80EC2DE52A2}"/>
              </a:ext>
            </a:extLst>
          </p:cNvPr>
          <p:cNvSpPr/>
          <p:nvPr/>
        </p:nvSpPr>
        <p:spPr>
          <a:xfrm>
            <a:off x="4950736" y="5434517"/>
            <a:ext cx="2103861" cy="588475"/>
          </a:xfrm>
          <a:prstGeom prst="diamond">
            <a:avLst/>
          </a:prstGeom>
          <a:solidFill>
            <a:srgbClr val="EE926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8DBE2-A0DB-E73F-26B2-CCA3B26B1D9C}"/>
              </a:ext>
            </a:extLst>
          </p:cNvPr>
          <p:cNvSpPr/>
          <p:nvPr/>
        </p:nvSpPr>
        <p:spPr>
          <a:xfrm>
            <a:off x="4930744" y="1937040"/>
            <a:ext cx="2381062" cy="369377"/>
          </a:xfrm>
          <a:prstGeom prst="rect">
            <a:avLst/>
          </a:prstGeom>
          <a:solidFill>
            <a:srgbClr val="99F3F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Initialize </a:t>
            </a: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tile_index = 0, 8-register accumulator bank to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AE607B-5B54-5749-D34D-BB9AAFE3FC1C}"/>
              </a:ext>
            </a:extLst>
          </p:cNvPr>
          <p:cNvCxnSpPr>
            <a:cxnSpLocks/>
          </p:cNvCxnSpPr>
          <p:nvPr/>
        </p:nvCxnSpPr>
        <p:spPr>
          <a:xfrm>
            <a:off x="6076005" y="2306417"/>
            <a:ext cx="0" cy="2625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9C5DD-46C7-6911-6AF0-62FEAAE26378}"/>
              </a:ext>
            </a:extLst>
          </p:cNvPr>
          <p:cNvSpPr/>
          <p:nvPr/>
        </p:nvSpPr>
        <p:spPr>
          <a:xfrm>
            <a:off x="4900444" y="3304850"/>
            <a:ext cx="2381062" cy="397746"/>
          </a:xfrm>
          <a:prstGeom prst="rect">
            <a:avLst/>
          </a:prstGeom>
          <a:solidFill>
            <a:srgbClr val="48FAA9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Pass the previous cycle’s up projection output through ReLU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755DA-8685-2E5A-3F7B-0BC1BFA1A47C}"/>
              </a:ext>
            </a:extLst>
          </p:cNvPr>
          <p:cNvCxnSpPr>
            <a:cxnSpLocks/>
          </p:cNvCxnSpPr>
          <p:nvPr/>
        </p:nvCxnSpPr>
        <p:spPr>
          <a:xfrm>
            <a:off x="6066950" y="3716016"/>
            <a:ext cx="0" cy="2625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929283-855B-629B-AF65-0B34629CB5A9}"/>
              </a:ext>
            </a:extLst>
          </p:cNvPr>
          <p:cNvCxnSpPr>
            <a:cxnSpLocks/>
          </p:cNvCxnSpPr>
          <p:nvPr/>
        </p:nvCxnSpPr>
        <p:spPr>
          <a:xfrm flipV="1">
            <a:off x="7067362" y="5728753"/>
            <a:ext cx="1919850" cy="49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9D5358-7E47-C3CB-3A2D-791CADBA53B5}"/>
              </a:ext>
            </a:extLst>
          </p:cNvPr>
          <p:cNvCxnSpPr>
            <a:cxnSpLocks/>
          </p:cNvCxnSpPr>
          <p:nvPr/>
        </p:nvCxnSpPr>
        <p:spPr>
          <a:xfrm>
            <a:off x="6007536" y="4646720"/>
            <a:ext cx="0" cy="2625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FBF9F75-131A-15A7-DCA5-E968624DB884}"/>
              </a:ext>
            </a:extLst>
          </p:cNvPr>
          <p:cNvSpPr/>
          <p:nvPr/>
        </p:nvSpPr>
        <p:spPr>
          <a:xfrm>
            <a:off x="4006583" y="3987110"/>
            <a:ext cx="4384613" cy="659610"/>
          </a:xfrm>
          <a:prstGeom prst="rect">
            <a:avLst/>
          </a:prstGeom>
          <a:solidFill>
            <a:srgbClr val="FC748B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Multiply the previous cycle’s ReLU output with 8x8 transposed down projection matrix tile corresponding to tile_index, and add it element-wise directly into the 8 register bank.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20333F-5712-3588-4D86-A5393359988C}"/>
              </a:ext>
            </a:extLst>
          </p:cNvPr>
          <p:cNvCxnSpPr>
            <a:cxnSpLocks/>
          </p:cNvCxnSpPr>
          <p:nvPr/>
        </p:nvCxnSpPr>
        <p:spPr>
          <a:xfrm>
            <a:off x="6007536" y="5132137"/>
            <a:ext cx="0" cy="2625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9545BA8-82AA-7EB2-BFBC-BEAEADC94877}"/>
              </a:ext>
            </a:extLst>
          </p:cNvPr>
          <p:cNvSpPr/>
          <p:nvPr/>
        </p:nvSpPr>
        <p:spPr>
          <a:xfrm>
            <a:off x="4686300" y="4931234"/>
            <a:ext cx="2381062" cy="262550"/>
          </a:xfrm>
          <a:prstGeom prst="rect">
            <a:avLst/>
          </a:prstGeom>
          <a:solidFill>
            <a:srgbClr val="E3F95D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Increment tile_index by 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900486-CED3-305A-479F-848047D30852}"/>
              </a:ext>
            </a:extLst>
          </p:cNvPr>
          <p:cNvCxnSpPr>
            <a:cxnSpLocks/>
          </p:cNvCxnSpPr>
          <p:nvPr/>
        </p:nvCxnSpPr>
        <p:spPr>
          <a:xfrm flipH="1">
            <a:off x="7311806" y="2660641"/>
            <a:ext cx="898744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C95D17-4D94-E8EE-B711-6C0CB68AE182}"/>
              </a:ext>
            </a:extLst>
          </p:cNvPr>
          <p:cNvCxnSpPr>
            <a:cxnSpLocks/>
          </p:cNvCxnSpPr>
          <p:nvPr/>
        </p:nvCxnSpPr>
        <p:spPr>
          <a:xfrm>
            <a:off x="6002666" y="6022992"/>
            <a:ext cx="0" cy="26255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D8F5AB8-8FF8-BCE5-5015-4B060C96611F}"/>
              </a:ext>
            </a:extLst>
          </p:cNvPr>
          <p:cNvCxnSpPr>
            <a:cxnSpLocks/>
          </p:cNvCxnSpPr>
          <p:nvPr/>
        </p:nvCxnSpPr>
        <p:spPr>
          <a:xfrm flipH="1">
            <a:off x="8987212" y="2660641"/>
            <a:ext cx="17357" cy="306811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59FBE3C-68CD-9EDB-66D2-5A7FEE170C55}"/>
              </a:ext>
            </a:extLst>
          </p:cNvPr>
          <p:cNvCxnSpPr>
            <a:cxnSpLocks/>
          </p:cNvCxnSpPr>
          <p:nvPr/>
        </p:nvCxnSpPr>
        <p:spPr>
          <a:xfrm>
            <a:off x="8210550" y="2660641"/>
            <a:ext cx="794019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6A70E7D-D79F-808F-0195-5A239F52D1A8}"/>
              </a:ext>
            </a:extLst>
          </p:cNvPr>
          <p:cNvSpPr txBox="1"/>
          <p:nvPr/>
        </p:nvSpPr>
        <p:spPr>
          <a:xfrm>
            <a:off x="5406401" y="5605643"/>
            <a:ext cx="119253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Tile_index == 4 ?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DF90BD8-7739-4E59-6248-38697E934A2D}"/>
              </a:ext>
            </a:extLst>
          </p:cNvPr>
          <p:cNvSpPr/>
          <p:nvPr/>
        </p:nvSpPr>
        <p:spPr>
          <a:xfrm>
            <a:off x="5617893" y="6291342"/>
            <a:ext cx="769546" cy="246842"/>
          </a:xfrm>
          <a:prstGeom prst="ellipse">
            <a:avLst/>
          </a:prstGeom>
          <a:solidFill>
            <a:srgbClr val="77D393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Stop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0E575B-CAC4-B81B-F39B-C9A723442533}"/>
              </a:ext>
            </a:extLst>
          </p:cNvPr>
          <p:cNvSpPr txBox="1"/>
          <p:nvPr/>
        </p:nvSpPr>
        <p:spPr>
          <a:xfrm>
            <a:off x="6040290" y="5960532"/>
            <a:ext cx="619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yes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F571AD-7652-5190-3813-823AD22EB33D}"/>
              </a:ext>
            </a:extLst>
          </p:cNvPr>
          <p:cNvSpPr txBox="1"/>
          <p:nvPr/>
        </p:nvSpPr>
        <p:spPr>
          <a:xfrm>
            <a:off x="7067362" y="5428528"/>
            <a:ext cx="619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1240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C12E-3126-ADEC-C92D-111C135AA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87" y="107724"/>
            <a:ext cx="11430000" cy="1655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Basic Representation of Pipelined Feed Forward Network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FFE6A-285C-5D9B-9F99-AA127B32D301}"/>
              </a:ext>
            </a:extLst>
          </p:cNvPr>
          <p:cNvSpPr/>
          <p:nvPr/>
        </p:nvSpPr>
        <p:spPr>
          <a:xfrm>
            <a:off x="4338736" y="2184110"/>
            <a:ext cx="2892489" cy="306977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Pipelined FFN</a:t>
            </a:r>
          </a:p>
          <a:p>
            <a:pPr algn="ctr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FBCC83-BC78-94FA-53BD-45DC332EE309}"/>
              </a:ext>
            </a:extLst>
          </p:cNvPr>
          <p:cNvCxnSpPr>
            <a:cxnSpLocks/>
          </p:cNvCxnSpPr>
          <p:nvPr/>
        </p:nvCxnSpPr>
        <p:spPr>
          <a:xfrm>
            <a:off x="2448560" y="2633472"/>
            <a:ext cx="1890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E10B0CC-9130-55F0-3F23-0BB5EEEB5B2A}"/>
              </a:ext>
            </a:extLst>
          </p:cNvPr>
          <p:cNvSpPr/>
          <p:nvPr/>
        </p:nvSpPr>
        <p:spPr>
          <a:xfrm>
            <a:off x="3986173" y="5714161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clk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A734AC-6585-A307-275A-86C2C67B0B6B}"/>
              </a:ext>
            </a:extLst>
          </p:cNvPr>
          <p:cNvCxnSpPr>
            <a:cxnSpLocks/>
          </p:cNvCxnSpPr>
          <p:nvPr/>
        </p:nvCxnSpPr>
        <p:spPr>
          <a:xfrm>
            <a:off x="2550056" y="3200375"/>
            <a:ext cx="1788680" cy="18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B3B3D-ABE6-5576-0156-3E7E12E6CC59}"/>
              </a:ext>
            </a:extLst>
          </p:cNvPr>
          <p:cNvSpPr/>
          <p:nvPr/>
        </p:nvSpPr>
        <p:spPr>
          <a:xfrm>
            <a:off x="4920543" y="5714161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rst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D6692B-D3E1-6E71-1E7A-0E67A4340008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411369" y="5215171"/>
            <a:ext cx="5672" cy="498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411A333-25F4-E9F9-0B06-2BAC37505083}"/>
              </a:ext>
            </a:extLst>
          </p:cNvPr>
          <p:cNvSpPr/>
          <p:nvPr/>
        </p:nvSpPr>
        <p:spPr>
          <a:xfrm>
            <a:off x="5846342" y="5714161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start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13EB2B-7E29-3F35-1FE5-14E4A873758C}"/>
              </a:ext>
            </a:extLst>
          </p:cNvPr>
          <p:cNvCxnSpPr>
            <a:cxnSpLocks/>
          </p:cNvCxnSpPr>
          <p:nvPr/>
        </p:nvCxnSpPr>
        <p:spPr>
          <a:xfrm>
            <a:off x="2550056" y="4185078"/>
            <a:ext cx="1788680" cy="2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C66BB-ABA1-83D3-7429-F8A0B7A58A39}"/>
              </a:ext>
            </a:extLst>
          </p:cNvPr>
          <p:cNvSpPr/>
          <p:nvPr/>
        </p:nvSpPr>
        <p:spPr>
          <a:xfrm>
            <a:off x="572712" y="2454473"/>
            <a:ext cx="1977344" cy="443482"/>
          </a:xfrm>
          <a:prstGeom prst="rect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Row vector input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F3087E-542F-C225-3EEA-4CDD48D7627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345739" y="5254201"/>
            <a:ext cx="0" cy="459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127FFE-81EC-13F7-4AEC-2C94106C094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6271538" y="5242661"/>
            <a:ext cx="0" cy="47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FD0C13F-C605-F2A8-415C-28ED96B7B129}"/>
              </a:ext>
            </a:extLst>
          </p:cNvPr>
          <p:cNvSpPr/>
          <p:nvPr/>
        </p:nvSpPr>
        <p:spPr>
          <a:xfrm>
            <a:off x="572712" y="2999906"/>
            <a:ext cx="1977344" cy="806955"/>
          </a:xfrm>
          <a:prstGeom prst="rect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BRAM up projection data bus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A106D8-5E4D-B2FC-01E0-B044EEA52230}"/>
              </a:ext>
            </a:extLst>
          </p:cNvPr>
          <p:cNvSpPr/>
          <p:nvPr/>
        </p:nvSpPr>
        <p:spPr>
          <a:xfrm>
            <a:off x="552600" y="3931118"/>
            <a:ext cx="1977344" cy="806955"/>
          </a:xfrm>
          <a:prstGeom prst="rect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BRAM down projection data bus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7CD54-44BD-1D0B-9EAF-314F9AB694D8}"/>
              </a:ext>
            </a:extLst>
          </p:cNvPr>
          <p:cNvSpPr/>
          <p:nvPr/>
        </p:nvSpPr>
        <p:spPr>
          <a:xfrm>
            <a:off x="8996433" y="2164282"/>
            <a:ext cx="1977344" cy="806955"/>
          </a:xfrm>
          <a:prstGeom prst="rect">
            <a:avLst/>
          </a:prstGeom>
          <a:solidFill>
            <a:srgbClr val="A7F6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BRAM up projection address bus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E254BC-C664-2ECC-F9B8-2192D1933A82}"/>
              </a:ext>
            </a:extLst>
          </p:cNvPr>
          <p:cNvCxnSpPr>
            <a:cxnSpLocks/>
          </p:cNvCxnSpPr>
          <p:nvPr/>
        </p:nvCxnSpPr>
        <p:spPr>
          <a:xfrm flipV="1">
            <a:off x="7231225" y="2454473"/>
            <a:ext cx="1765208" cy="15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8B99B-244D-4215-8E12-450A92C93C6E}"/>
              </a:ext>
            </a:extLst>
          </p:cNvPr>
          <p:cNvSpPr/>
          <p:nvPr/>
        </p:nvSpPr>
        <p:spPr>
          <a:xfrm>
            <a:off x="8996433" y="3080007"/>
            <a:ext cx="1977344" cy="806955"/>
          </a:xfrm>
          <a:prstGeom prst="rect">
            <a:avLst/>
          </a:prstGeom>
          <a:solidFill>
            <a:srgbClr val="A7F6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BRAM down projection address bus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F77BB5-328B-E86D-9560-4AF6C820F94C}"/>
              </a:ext>
            </a:extLst>
          </p:cNvPr>
          <p:cNvCxnSpPr>
            <a:cxnSpLocks/>
          </p:cNvCxnSpPr>
          <p:nvPr/>
        </p:nvCxnSpPr>
        <p:spPr>
          <a:xfrm>
            <a:off x="7231225" y="3388994"/>
            <a:ext cx="1788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173AFC9-EE6E-AD27-6015-CD3A08C939F3}"/>
              </a:ext>
            </a:extLst>
          </p:cNvPr>
          <p:cNvSpPr/>
          <p:nvPr/>
        </p:nvSpPr>
        <p:spPr>
          <a:xfrm>
            <a:off x="6768339" y="5675865"/>
            <a:ext cx="850392" cy="443482"/>
          </a:xfrm>
          <a:prstGeom prst="rect">
            <a:avLst/>
          </a:prstGeom>
          <a:solidFill>
            <a:srgbClr val="FA7E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done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15CD0B-9D92-4787-DB87-99A9D5AC6FEB}"/>
              </a:ext>
            </a:extLst>
          </p:cNvPr>
          <p:cNvCxnSpPr>
            <a:cxnSpLocks/>
          </p:cNvCxnSpPr>
          <p:nvPr/>
        </p:nvCxnSpPr>
        <p:spPr>
          <a:xfrm>
            <a:off x="6994244" y="5253881"/>
            <a:ext cx="0" cy="40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1AEBD04-A1DB-A770-1FA8-994B08A924D0}"/>
              </a:ext>
            </a:extLst>
          </p:cNvPr>
          <p:cNvSpPr/>
          <p:nvPr/>
        </p:nvSpPr>
        <p:spPr>
          <a:xfrm>
            <a:off x="9019905" y="4185078"/>
            <a:ext cx="1977344" cy="806955"/>
          </a:xfrm>
          <a:prstGeom prst="rect">
            <a:avLst/>
          </a:prstGeom>
          <a:solidFill>
            <a:srgbClr val="A7F6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Accumulator register bank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C83353-F206-54F0-D269-2D6063A9F278}"/>
              </a:ext>
            </a:extLst>
          </p:cNvPr>
          <p:cNvCxnSpPr>
            <a:cxnSpLocks/>
          </p:cNvCxnSpPr>
          <p:nvPr/>
        </p:nvCxnSpPr>
        <p:spPr>
          <a:xfrm>
            <a:off x="7231225" y="4526746"/>
            <a:ext cx="1788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8934A4-09AA-57CB-29EE-F4884B838816}"/>
              </a:ext>
            </a:extLst>
          </p:cNvPr>
          <p:cNvSpPr txBox="1"/>
          <p:nvPr/>
        </p:nvSpPr>
        <p:spPr>
          <a:xfrm>
            <a:off x="2793023" y="2198209"/>
            <a:ext cx="161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[8 x 16 -1 : 0 ]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B2AFB6-6199-249D-3ABC-ECDB80887954}"/>
              </a:ext>
            </a:extLst>
          </p:cNvPr>
          <p:cNvSpPr txBox="1"/>
          <p:nvPr/>
        </p:nvSpPr>
        <p:spPr>
          <a:xfrm>
            <a:off x="7316907" y="4075764"/>
            <a:ext cx="161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[8 x 16 -1 : 0 ]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2EEB1E-1F28-5138-E070-402F6425E1DE}"/>
              </a:ext>
            </a:extLst>
          </p:cNvPr>
          <p:cNvSpPr txBox="1"/>
          <p:nvPr/>
        </p:nvSpPr>
        <p:spPr>
          <a:xfrm>
            <a:off x="3513536" y="2831043"/>
            <a:ext cx="161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 : 0 ]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05D014-E11F-4BD9-D83C-649F5FBA6AE2}"/>
              </a:ext>
            </a:extLst>
          </p:cNvPr>
          <p:cNvSpPr txBox="1"/>
          <p:nvPr/>
        </p:nvSpPr>
        <p:spPr>
          <a:xfrm>
            <a:off x="3492728" y="3769560"/>
            <a:ext cx="161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 : 0 ]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5D0A78-2768-BDB4-F6D1-0165E8C36174}"/>
              </a:ext>
            </a:extLst>
          </p:cNvPr>
          <p:cNvSpPr txBox="1"/>
          <p:nvPr/>
        </p:nvSpPr>
        <p:spPr>
          <a:xfrm>
            <a:off x="7192617" y="2938013"/>
            <a:ext cx="161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[15 : 0 ]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2B5C49-D85F-7A54-FC72-A5B8C1A6A603}"/>
              </a:ext>
            </a:extLst>
          </p:cNvPr>
          <p:cNvSpPr txBox="1"/>
          <p:nvPr/>
        </p:nvSpPr>
        <p:spPr>
          <a:xfrm>
            <a:off x="7192617" y="1936784"/>
            <a:ext cx="161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[15 : 0 ]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592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1842AD1-FD62-8335-3E5F-BB347C3B5486}"/>
              </a:ext>
            </a:extLst>
          </p:cNvPr>
          <p:cNvSpPr txBox="1"/>
          <p:nvPr/>
        </p:nvSpPr>
        <p:spPr>
          <a:xfrm rot="19608549">
            <a:off x="1523568" y="1046523"/>
            <a:ext cx="26352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cycle_count= 0</a:t>
            </a:r>
          </a:p>
          <a:p>
            <a:r>
              <a:rPr lang="en-US" sz="2800" dirty="0"/>
              <a:t>running = 0</a:t>
            </a:r>
          </a:p>
          <a:p>
            <a:r>
              <a:rPr lang="en-US" sz="2800" dirty="0"/>
              <a:t>Start = 0</a:t>
            </a:r>
          </a:p>
          <a:p>
            <a:r>
              <a:rPr lang="en-US" sz="2800" dirty="0"/>
              <a:t>        </a:t>
            </a:r>
          </a:p>
          <a:p>
            <a:r>
              <a:rPr lang="en-US" sz="2800" dirty="0"/>
              <a:t>                        </a:t>
            </a:r>
            <a:endParaRPr lang="en-IN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F88F1-D2E7-9AC0-86DA-2574B008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044" y="-19584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FSM Control Path Diagram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957E4B-1FA8-1F29-F1F5-150EB905ACAF}"/>
              </a:ext>
            </a:extLst>
          </p:cNvPr>
          <p:cNvSpPr/>
          <p:nvPr/>
        </p:nvSpPr>
        <p:spPr>
          <a:xfrm>
            <a:off x="3032568" y="2569580"/>
            <a:ext cx="1423686" cy="1435261"/>
          </a:xfrm>
          <a:prstGeom prst="ellipse">
            <a:avLst/>
          </a:prstGeom>
          <a:solidFill>
            <a:srgbClr val="68D4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DD2EF4-8C76-2E43-3B54-FDD669C966A5}"/>
              </a:ext>
            </a:extLst>
          </p:cNvPr>
          <p:cNvSpPr/>
          <p:nvPr/>
        </p:nvSpPr>
        <p:spPr>
          <a:xfrm>
            <a:off x="6865717" y="2569579"/>
            <a:ext cx="1423686" cy="1435261"/>
          </a:xfrm>
          <a:prstGeom prst="ellipse">
            <a:avLst/>
          </a:prstGeom>
          <a:solidFill>
            <a:srgbClr val="FA7ED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94B69B15-5185-BC40-8D86-016AB1FB9E45}"/>
              </a:ext>
            </a:extLst>
          </p:cNvPr>
          <p:cNvSpPr/>
          <p:nvPr/>
        </p:nvSpPr>
        <p:spPr>
          <a:xfrm>
            <a:off x="4109978" y="1794076"/>
            <a:ext cx="3102015" cy="1990846"/>
          </a:xfrm>
          <a:prstGeom prst="arc">
            <a:avLst>
              <a:gd name="adj1" fmla="val 10819097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DA1BA992-464B-B834-24CC-4F418F87B582}"/>
              </a:ext>
            </a:extLst>
          </p:cNvPr>
          <p:cNvSpPr/>
          <p:nvPr/>
        </p:nvSpPr>
        <p:spPr>
          <a:xfrm flipV="1">
            <a:off x="4109977" y="2680504"/>
            <a:ext cx="3102015" cy="2428754"/>
          </a:xfrm>
          <a:prstGeom prst="arc">
            <a:avLst>
              <a:gd name="adj1" fmla="val 10819097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F0BF746-C4C5-6A1F-DF2E-22E61C3F8EC6}"/>
              </a:ext>
            </a:extLst>
          </p:cNvPr>
          <p:cNvSpPr/>
          <p:nvPr/>
        </p:nvSpPr>
        <p:spPr>
          <a:xfrm>
            <a:off x="7019082" y="2414285"/>
            <a:ext cx="250785" cy="231494"/>
          </a:xfrm>
          <a:prstGeom prst="triangle">
            <a:avLst>
              <a:gd name="adj" fmla="val 868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893E2CC-D382-1D10-FA23-5272F4BC3603}"/>
              </a:ext>
            </a:extLst>
          </p:cNvPr>
          <p:cNvSpPr/>
          <p:nvPr/>
        </p:nvSpPr>
        <p:spPr>
          <a:xfrm rot="12595387">
            <a:off x="4009403" y="3968675"/>
            <a:ext cx="250785" cy="231494"/>
          </a:xfrm>
          <a:prstGeom prst="triangle">
            <a:avLst>
              <a:gd name="adj" fmla="val 868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40A9D-47BA-4DDD-FA23-110FE34B6E00}"/>
              </a:ext>
            </a:extLst>
          </p:cNvPr>
          <p:cNvSpPr txBox="1"/>
          <p:nvPr/>
        </p:nvSpPr>
        <p:spPr>
          <a:xfrm>
            <a:off x="3345859" y="2955120"/>
            <a:ext cx="113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IDLE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6F4DE4-E7B6-BB0D-8445-FB340F70D5A1}"/>
              </a:ext>
            </a:extLst>
          </p:cNvPr>
          <p:cNvSpPr txBox="1"/>
          <p:nvPr/>
        </p:nvSpPr>
        <p:spPr>
          <a:xfrm>
            <a:off x="6937604" y="2981645"/>
            <a:ext cx="1423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ACTIVE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9C7D4D-0076-D27D-88F2-70BA2644F01F}"/>
              </a:ext>
            </a:extLst>
          </p:cNvPr>
          <p:cNvSpPr txBox="1"/>
          <p:nvPr/>
        </p:nvSpPr>
        <p:spPr>
          <a:xfrm>
            <a:off x="1646579" y="3922049"/>
            <a:ext cx="212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Initialization state</a:t>
            </a:r>
            <a:endParaRPr lang="en-IN" sz="2800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830465D-BB07-4BE7-76EA-478E6189481C}"/>
              </a:ext>
            </a:extLst>
          </p:cNvPr>
          <p:cNvSpPr/>
          <p:nvPr/>
        </p:nvSpPr>
        <p:spPr>
          <a:xfrm rot="19966375">
            <a:off x="3250969" y="1743424"/>
            <a:ext cx="598913" cy="2244486"/>
          </a:xfrm>
          <a:prstGeom prst="arc">
            <a:avLst>
              <a:gd name="adj1" fmla="val 12278371"/>
              <a:gd name="adj2" fmla="val 2037434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65A3A4C-F415-8074-62F1-88461CCE3B58}"/>
              </a:ext>
            </a:extLst>
          </p:cNvPr>
          <p:cNvSpPr/>
          <p:nvPr/>
        </p:nvSpPr>
        <p:spPr>
          <a:xfrm rot="743362">
            <a:off x="3494480" y="2310734"/>
            <a:ext cx="250785" cy="231494"/>
          </a:xfrm>
          <a:prstGeom prst="triangle">
            <a:avLst>
              <a:gd name="adj" fmla="val 868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7CAA578-53A4-602C-84D5-44D8211B1061}"/>
              </a:ext>
            </a:extLst>
          </p:cNvPr>
          <p:cNvSpPr/>
          <p:nvPr/>
        </p:nvSpPr>
        <p:spPr>
          <a:xfrm rot="2629941">
            <a:off x="7712854" y="1861390"/>
            <a:ext cx="598913" cy="2244486"/>
          </a:xfrm>
          <a:prstGeom prst="arc">
            <a:avLst>
              <a:gd name="adj1" fmla="val 12278371"/>
              <a:gd name="adj2" fmla="val 2037434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728F5A-2AAD-72CC-A327-E41ABC34027D}"/>
              </a:ext>
            </a:extLst>
          </p:cNvPr>
          <p:cNvSpPr txBox="1"/>
          <p:nvPr/>
        </p:nvSpPr>
        <p:spPr>
          <a:xfrm>
            <a:off x="4406731" y="4253826"/>
            <a:ext cx="2686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cycle_count= 6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768B73-37D9-B6F0-4043-DFA43C8FC4AF}"/>
              </a:ext>
            </a:extLst>
          </p:cNvPr>
          <p:cNvSpPr txBox="1"/>
          <p:nvPr/>
        </p:nvSpPr>
        <p:spPr>
          <a:xfrm>
            <a:off x="4786381" y="1908298"/>
            <a:ext cx="2003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running = 1</a:t>
            </a:r>
            <a:endParaRPr lang="en-IN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95B336-EA8A-3381-32F1-59736C48FB3C}"/>
              </a:ext>
            </a:extLst>
          </p:cNvPr>
          <p:cNvSpPr txBox="1"/>
          <p:nvPr/>
        </p:nvSpPr>
        <p:spPr>
          <a:xfrm>
            <a:off x="5026896" y="5142907"/>
            <a:ext cx="1620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done = 1</a:t>
            </a:r>
            <a:endParaRPr lang="en-IN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2A929D-C4C1-D379-B5A6-41B7A185525C}"/>
              </a:ext>
            </a:extLst>
          </p:cNvPr>
          <p:cNvSpPr txBox="1"/>
          <p:nvPr/>
        </p:nvSpPr>
        <p:spPr>
          <a:xfrm>
            <a:off x="5006760" y="1312547"/>
            <a:ext cx="1486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Start = 1</a:t>
            </a:r>
            <a:endParaRPr lang="en-IN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39F168-7113-99E0-88A3-FCF8FB5F7428}"/>
              </a:ext>
            </a:extLst>
          </p:cNvPr>
          <p:cNvSpPr txBox="1"/>
          <p:nvPr/>
        </p:nvSpPr>
        <p:spPr>
          <a:xfrm>
            <a:off x="4819881" y="5434974"/>
            <a:ext cx="1924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running = 0</a:t>
            </a:r>
            <a:endParaRPr lang="en-IN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FBB95D-BBA1-0E8E-BDE8-696827FAD805}"/>
              </a:ext>
            </a:extLst>
          </p:cNvPr>
          <p:cNvSpPr txBox="1"/>
          <p:nvPr/>
        </p:nvSpPr>
        <p:spPr>
          <a:xfrm rot="2031913">
            <a:off x="7727847" y="1775501"/>
            <a:ext cx="286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cycle_count += 1 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420A630-FA18-545B-7A00-41B3C09942B7}"/>
              </a:ext>
            </a:extLst>
          </p:cNvPr>
          <p:cNvSpPr/>
          <p:nvPr/>
        </p:nvSpPr>
        <p:spPr>
          <a:xfrm rot="6038464">
            <a:off x="8295325" y="2911601"/>
            <a:ext cx="250785" cy="231494"/>
          </a:xfrm>
          <a:prstGeom prst="triangle">
            <a:avLst>
              <a:gd name="adj" fmla="val 868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647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682D-4467-680B-2E19-C161DA09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The Requirement of 6 cycles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D17DE-CE8B-45AD-12AF-ACE623ED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688"/>
            <a:ext cx="10515600" cy="48252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4-Stage Data Pipeline (4 Cycles)</a:t>
            </a:r>
          </a:p>
          <a:p>
            <a:r>
              <a:rPr lang="en-US" b="1" dirty="0"/>
              <a:t>Stage 1 (_s1):</a:t>
            </a:r>
            <a:r>
              <a:rPr lang="en-US" dirty="0"/>
              <a:t> Input latching and initial matrix processing setup.</a:t>
            </a:r>
          </a:p>
          <a:p>
            <a:r>
              <a:rPr lang="en-US" b="1" dirty="0"/>
              <a:t>Stage 2 (_s2):</a:t>
            </a:r>
            <a:r>
              <a:rPr lang="en-US" dirty="0"/>
              <a:t> up-projection matrix multiplication</a:t>
            </a:r>
          </a:p>
          <a:p>
            <a:r>
              <a:rPr lang="en-US" b="1" dirty="0"/>
              <a:t>Stage 3 (_s3):</a:t>
            </a:r>
            <a:r>
              <a:rPr lang="en-US" dirty="0"/>
              <a:t> Application of the rectified linear activation function </a:t>
            </a:r>
          </a:p>
          <a:p>
            <a:r>
              <a:rPr lang="en-US" b="1" dirty="0"/>
              <a:t>Stage 4 (_s4):</a:t>
            </a:r>
            <a:r>
              <a:rPr lang="en-US" dirty="0"/>
              <a:t> down-projection matrix multiplication.</a:t>
            </a:r>
          </a:p>
          <a:p>
            <a:r>
              <a:rPr lang="en-US" b="1" dirty="0"/>
              <a:t> Pipeline Overhead &amp; FSM Control (2 Cycles)</a:t>
            </a:r>
          </a:p>
          <a:p>
            <a:r>
              <a:rPr lang="en-US" b="1" dirty="0"/>
              <a:t>Ingress Cycle (Latch/Setup):</a:t>
            </a:r>
            <a:r>
              <a:rPr lang="en-US" dirty="0"/>
              <a:t> 1 cycle is required at the beginning to transition the FSM from an idle state to active (running = 1), sampling the valid input vector and asserting the first validity qualifier (valid_s1).</a:t>
            </a:r>
          </a:p>
          <a:p>
            <a:r>
              <a:rPr lang="en-US" b="1" dirty="0"/>
              <a:t>Egress Cycle (Writeback &amp; Done):</a:t>
            </a:r>
            <a:r>
              <a:rPr lang="en-US" dirty="0"/>
              <a:t> 1 cycle is needed at the end of the pipeline to accumulate the final down-projection results into the accumulator_bank and safely assert the done control signal to notify external blocks that the output is stable.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64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D9F54-04B2-B520-507B-A86C0AE7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65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The Pipelined Architecture Timeline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3A098F0-4107-CF4F-F0D4-F04B1227F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948871"/>
              </p:ext>
            </p:extLst>
          </p:nvPr>
        </p:nvGraphicFramePr>
        <p:xfrm>
          <a:off x="2620974" y="1810667"/>
          <a:ext cx="6950052" cy="4381254"/>
        </p:xfrm>
        <a:graphic>
          <a:graphicData uri="http://schemas.openxmlformats.org/drawingml/2006/table">
            <a:tbl>
              <a:tblPr/>
              <a:tblGrid>
                <a:gridCol w="1737513">
                  <a:extLst>
                    <a:ext uri="{9D8B030D-6E8A-4147-A177-3AD203B41FA5}">
                      <a16:colId xmlns:a16="http://schemas.microsoft.com/office/drawing/2014/main" val="3736805649"/>
                    </a:ext>
                  </a:extLst>
                </a:gridCol>
                <a:gridCol w="1737513">
                  <a:extLst>
                    <a:ext uri="{9D8B030D-6E8A-4147-A177-3AD203B41FA5}">
                      <a16:colId xmlns:a16="http://schemas.microsoft.com/office/drawing/2014/main" val="2321566957"/>
                    </a:ext>
                  </a:extLst>
                </a:gridCol>
                <a:gridCol w="1737513">
                  <a:extLst>
                    <a:ext uri="{9D8B030D-6E8A-4147-A177-3AD203B41FA5}">
                      <a16:colId xmlns:a16="http://schemas.microsoft.com/office/drawing/2014/main" val="230995588"/>
                    </a:ext>
                  </a:extLst>
                </a:gridCol>
                <a:gridCol w="1737513">
                  <a:extLst>
                    <a:ext uri="{9D8B030D-6E8A-4147-A177-3AD203B41FA5}">
                      <a16:colId xmlns:a16="http://schemas.microsoft.com/office/drawing/2014/main" val="2716726575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Clock Cycle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running State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main_counter Value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Hardware Operation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176850"/>
                  </a:ext>
                </a:extLst>
              </a:tr>
              <a:tr h="463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Idle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is waiting for a </a:t>
                      </a: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start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pulse.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878952"/>
                  </a:ext>
                </a:extLst>
              </a:tr>
              <a:tr h="463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(Active)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start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received. Addresses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Tile 0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from BRAM.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692118"/>
                  </a:ext>
                </a:extLst>
              </a:tr>
              <a:tr h="463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(Active)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Addresses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Tile 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from BRAM.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824765"/>
                  </a:ext>
                </a:extLst>
              </a:tr>
              <a:tr h="463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2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(Active)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Addresses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Tile 2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from BRAM.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126669"/>
                  </a:ext>
                </a:extLst>
              </a:tr>
              <a:tr h="463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(Active)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Addresses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Tile 3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(Final Tile) from BRAM.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091822"/>
                  </a:ext>
                </a:extLst>
              </a:tr>
              <a:tr h="644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4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(Active)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Stops addressing BRAM. Up-Projection finishes processing Tile 3.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583544"/>
                  </a:ext>
                </a:extLst>
              </a:tr>
              <a:tr h="463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5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(Active)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Down-Projection finishes processing Tile 2.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314894"/>
                  </a:ext>
                </a:extLst>
              </a:tr>
              <a:tr h="644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Cycle 6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Down-Projection finishes processing Tile 3. </a:t>
                      </a:r>
                      <a:r>
                        <a:rPr lang="en-US" sz="12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done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fires; system turns off.</a:t>
                      </a:r>
                    </a:p>
                  </a:txBody>
                  <a:tcPr marL="75544" marR="75544" marT="50363" marB="50363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308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582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68EF-8194-AF1A-B469-1EB0E7E5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993952" y="288291"/>
            <a:ext cx="10600743" cy="136319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Block Diagram Representation of </a:t>
            </a:r>
            <a:br>
              <a:rPr lang="en-IN" b="1" dirty="0">
                <a:solidFill>
                  <a:srgbClr val="00B050"/>
                </a:solidFill>
              </a:rPr>
            </a:br>
            <a:r>
              <a:rPr lang="en-IN" b="1" dirty="0">
                <a:solidFill>
                  <a:srgbClr val="00B050"/>
                </a:solidFill>
              </a:rPr>
              <a:t>Feed Forward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929BA-59B8-A6A7-94FD-A5CE30A1EC09}"/>
              </a:ext>
            </a:extLst>
          </p:cNvPr>
          <p:cNvSpPr txBox="1"/>
          <p:nvPr/>
        </p:nvSpPr>
        <p:spPr>
          <a:xfrm>
            <a:off x="1842522" y="2475395"/>
            <a:ext cx="1253765" cy="2246769"/>
          </a:xfrm>
          <a:prstGeom prst="rect">
            <a:avLst/>
          </a:prstGeom>
          <a:solidFill>
            <a:srgbClr val="A9CB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Stage 1 : Address Generation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IN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33110-EFBB-1F91-CF9A-8E194AF016D4}"/>
              </a:ext>
            </a:extLst>
          </p:cNvPr>
          <p:cNvSpPr txBox="1"/>
          <p:nvPr/>
        </p:nvSpPr>
        <p:spPr>
          <a:xfrm>
            <a:off x="4538800" y="2475395"/>
            <a:ext cx="1253765" cy="2246769"/>
          </a:xfrm>
          <a:prstGeom prst="rect">
            <a:avLst/>
          </a:prstGeom>
          <a:solidFill>
            <a:srgbClr val="FBB3B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Stage 2 : Up Projection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4EBEE-9C5B-A576-42F3-D52272640E5E}"/>
              </a:ext>
            </a:extLst>
          </p:cNvPr>
          <p:cNvSpPr txBox="1"/>
          <p:nvPr/>
        </p:nvSpPr>
        <p:spPr>
          <a:xfrm>
            <a:off x="7152270" y="2475395"/>
            <a:ext cx="1253765" cy="2246769"/>
          </a:xfrm>
          <a:prstGeom prst="rect">
            <a:avLst/>
          </a:prstGeom>
          <a:solidFill>
            <a:srgbClr val="F1FD7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Stage 3 : ReLU Activation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C743D-00B2-742C-5A84-8CABFCDC6CC9}"/>
              </a:ext>
            </a:extLst>
          </p:cNvPr>
          <p:cNvSpPr txBox="1"/>
          <p:nvPr/>
        </p:nvSpPr>
        <p:spPr>
          <a:xfrm>
            <a:off x="9849327" y="2475395"/>
            <a:ext cx="1253765" cy="2246769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Stage 4 : Down Projection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4F603-14AC-7503-E652-23CCA1B5302E}"/>
              </a:ext>
            </a:extLst>
          </p:cNvPr>
          <p:cNvSpPr txBox="1"/>
          <p:nvPr/>
        </p:nvSpPr>
        <p:spPr>
          <a:xfrm>
            <a:off x="1069882" y="2914559"/>
            <a:ext cx="688309" cy="2462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valid_s1</a:t>
            </a:r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3F5C4-348C-54BB-9000-83F4FED52517}"/>
              </a:ext>
            </a:extLst>
          </p:cNvPr>
          <p:cNvSpPr txBox="1"/>
          <p:nvPr/>
        </p:nvSpPr>
        <p:spPr>
          <a:xfrm>
            <a:off x="3749023" y="2921993"/>
            <a:ext cx="653045" cy="2462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valid_s2</a:t>
            </a:r>
            <a:endParaRPr lang="en-IN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8FE70-2FB6-AA76-B9C9-7CD62344F1A6}"/>
              </a:ext>
            </a:extLst>
          </p:cNvPr>
          <p:cNvSpPr txBox="1"/>
          <p:nvPr/>
        </p:nvSpPr>
        <p:spPr>
          <a:xfrm>
            <a:off x="6366416" y="2892365"/>
            <a:ext cx="654742" cy="2462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valid_s3</a:t>
            </a:r>
            <a:endParaRPr lang="en-IN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AE01B-FF51-527B-16F9-1ABAC1632E50}"/>
              </a:ext>
            </a:extLst>
          </p:cNvPr>
          <p:cNvSpPr txBox="1"/>
          <p:nvPr/>
        </p:nvSpPr>
        <p:spPr>
          <a:xfrm>
            <a:off x="9085260" y="2915657"/>
            <a:ext cx="644400" cy="2462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valid_s4</a:t>
            </a:r>
            <a:endParaRPr lang="en-IN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B2B96-8B07-51F1-BDCC-FAF80F2A80FC}"/>
              </a:ext>
            </a:extLst>
          </p:cNvPr>
          <p:cNvSpPr txBox="1"/>
          <p:nvPr/>
        </p:nvSpPr>
        <p:spPr>
          <a:xfrm>
            <a:off x="11473786" y="3391290"/>
            <a:ext cx="499037" cy="246221"/>
          </a:xfrm>
          <a:prstGeom prst="rect">
            <a:avLst/>
          </a:prstGeom>
          <a:solidFill>
            <a:srgbClr val="B2B2B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done</a:t>
            </a:r>
            <a:endParaRPr lang="en-IN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6D3E4-E9E4-B561-E18E-86D42AEDCE3B}"/>
              </a:ext>
            </a:extLst>
          </p:cNvPr>
          <p:cNvSpPr txBox="1"/>
          <p:nvPr/>
        </p:nvSpPr>
        <p:spPr>
          <a:xfrm>
            <a:off x="828662" y="2567728"/>
            <a:ext cx="892146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tile_idx_s1</a:t>
            </a:r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28F772-D6CC-4776-7D4F-85DB8D70EC02}"/>
              </a:ext>
            </a:extLst>
          </p:cNvPr>
          <p:cNvSpPr txBox="1"/>
          <p:nvPr/>
        </p:nvSpPr>
        <p:spPr>
          <a:xfrm>
            <a:off x="3565242" y="2613877"/>
            <a:ext cx="769770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tile_idx_s2</a:t>
            </a:r>
            <a:endParaRPr lang="en-IN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B04D16-40AE-2219-B343-428615C46EC0}"/>
              </a:ext>
            </a:extLst>
          </p:cNvPr>
          <p:cNvSpPr txBox="1"/>
          <p:nvPr/>
        </p:nvSpPr>
        <p:spPr>
          <a:xfrm>
            <a:off x="6145820" y="2567728"/>
            <a:ext cx="831399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tile_idx_s3</a:t>
            </a:r>
            <a:endParaRPr lang="en-IN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4628B3-D6A9-6114-75B2-882C188FB83B}"/>
              </a:ext>
            </a:extLst>
          </p:cNvPr>
          <p:cNvSpPr txBox="1"/>
          <p:nvPr/>
        </p:nvSpPr>
        <p:spPr>
          <a:xfrm>
            <a:off x="8946306" y="2610212"/>
            <a:ext cx="793690" cy="24622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tile_idx_s4</a:t>
            </a:r>
            <a:endParaRPr lang="en-IN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3E6012-37AE-4667-B92E-BD7E3AA00BF1}"/>
              </a:ext>
            </a:extLst>
          </p:cNvPr>
          <p:cNvSpPr txBox="1"/>
          <p:nvPr/>
        </p:nvSpPr>
        <p:spPr>
          <a:xfrm>
            <a:off x="287094" y="5010853"/>
            <a:ext cx="420662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clk</a:t>
            </a:r>
            <a:endParaRPr lang="en-IN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771162-6081-58A8-8377-A0A35ACDD747}"/>
              </a:ext>
            </a:extLst>
          </p:cNvPr>
          <p:cNvSpPr txBox="1"/>
          <p:nvPr/>
        </p:nvSpPr>
        <p:spPr>
          <a:xfrm>
            <a:off x="324490" y="5434998"/>
            <a:ext cx="335302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rst</a:t>
            </a:r>
            <a:endParaRPr lang="en-IN" sz="10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86446C-5ED3-593E-BF07-EFB5DD33B217}"/>
              </a:ext>
            </a:extLst>
          </p:cNvPr>
          <p:cNvCxnSpPr>
            <a:cxnSpLocks/>
            <a:endCxn id="23" idx="3"/>
          </p:cNvCxnSpPr>
          <p:nvPr/>
        </p:nvCxnSpPr>
        <p:spPr>
          <a:xfrm flipH="1" flipV="1">
            <a:off x="707756" y="5133964"/>
            <a:ext cx="10548844" cy="9155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21CF4A-66EC-0509-3703-65400A45BEC4}"/>
              </a:ext>
            </a:extLst>
          </p:cNvPr>
          <p:cNvCxnSpPr>
            <a:cxnSpLocks/>
          </p:cNvCxnSpPr>
          <p:nvPr/>
        </p:nvCxnSpPr>
        <p:spPr>
          <a:xfrm flipV="1">
            <a:off x="5097453" y="4794267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0001CB-A965-A093-6F59-8E23E3DB20F6}"/>
              </a:ext>
            </a:extLst>
          </p:cNvPr>
          <p:cNvCxnSpPr>
            <a:cxnSpLocks/>
          </p:cNvCxnSpPr>
          <p:nvPr/>
        </p:nvCxnSpPr>
        <p:spPr>
          <a:xfrm flipV="1">
            <a:off x="4302442" y="4778420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21C1A1-E0EB-371E-5772-0B3A8D4ADC2D}"/>
              </a:ext>
            </a:extLst>
          </p:cNvPr>
          <p:cNvCxnSpPr>
            <a:cxnSpLocks/>
          </p:cNvCxnSpPr>
          <p:nvPr/>
        </p:nvCxnSpPr>
        <p:spPr>
          <a:xfrm flipV="1">
            <a:off x="7678923" y="4796372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2EAAA7-D85D-B955-807D-95F69369ABFB}"/>
              </a:ext>
            </a:extLst>
          </p:cNvPr>
          <p:cNvCxnSpPr>
            <a:cxnSpLocks/>
          </p:cNvCxnSpPr>
          <p:nvPr/>
        </p:nvCxnSpPr>
        <p:spPr>
          <a:xfrm flipV="1">
            <a:off x="9606550" y="4803096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DAB8FB-4B9F-0165-2404-C23C1B8C61F6}"/>
              </a:ext>
            </a:extLst>
          </p:cNvPr>
          <p:cNvCxnSpPr>
            <a:cxnSpLocks/>
          </p:cNvCxnSpPr>
          <p:nvPr/>
        </p:nvCxnSpPr>
        <p:spPr>
          <a:xfrm flipV="1">
            <a:off x="10429559" y="4803096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489621-52B8-86D0-E3C4-C8FF634A18C0}"/>
              </a:ext>
            </a:extLst>
          </p:cNvPr>
          <p:cNvCxnSpPr>
            <a:cxnSpLocks/>
          </p:cNvCxnSpPr>
          <p:nvPr/>
        </p:nvCxnSpPr>
        <p:spPr>
          <a:xfrm flipV="1">
            <a:off x="2500433" y="4794267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821164-14E9-DD17-4052-42C1E79D2DF5}"/>
              </a:ext>
            </a:extLst>
          </p:cNvPr>
          <p:cNvCxnSpPr>
            <a:cxnSpLocks/>
          </p:cNvCxnSpPr>
          <p:nvPr/>
        </p:nvCxnSpPr>
        <p:spPr>
          <a:xfrm flipV="1">
            <a:off x="1579812" y="4803422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DB5DBC-AFF5-67B8-0B5F-BB2D60035852}"/>
              </a:ext>
            </a:extLst>
          </p:cNvPr>
          <p:cNvCxnSpPr>
            <a:cxnSpLocks/>
          </p:cNvCxnSpPr>
          <p:nvPr/>
        </p:nvCxnSpPr>
        <p:spPr>
          <a:xfrm flipV="1">
            <a:off x="6926550" y="4791480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75AB40-8580-D68F-B512-97A14B09D30F}"/>
              </a:ext>
            </a:extLst>
          </p:cNvPr>
          <p:cNvCxnSpPr>
            <a:cxnSpLocks/>
          </p:cNvCxnSpPr>
          <p:nvPr/>
        </p:nvCxnSpPr>
        <p:spPr>
          <a:xfrm flipH="1">
            <a:off x="707756" y="5510299"/>
            <a:ext cx="10937106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49754F-5C53-7047-3A03-9AAD2295C2B2}"/>
              </a:ext>
            </a:extLst>
          </p:cNvPr>
          <p:cNvCxnSpPr>
            <a:cxnSpLocks/>
          </p:cNvCxnSpPr>
          <p:nvPr/>
        </p:nvCxnSpPr>
        <p:spPr>
          <a:xfrm flipV="1">
            <a:off x="10622376" y="4722163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8384F4-FFF7-4528-0DE8-D33C839483BC}"/>
              </a:ext>
            </a:extLst>
          </p:cNvPr>
          <p:cNvCxnSpPr>
            <a:cxnSpLocks/>
          </p:cNvCxnSpPr>
          <p:nvPr/>
        </p:nvCxnSpPr>
        <p:spPr>
          <a:xfrm flipV="1">
            <a:off x="9688968" y="4704999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2D480B-1D1C-AB08-C796-CAD802D8E44F}"/>
              </a:ext>
            </a:extLst>
          </p:cNvPr>
          <p:cNvCxnSpPr>
            <a:cxnSpLocks/>
          </p:cNvCxnSpPr>
          <p:nvPr/>
        </p:nvCxnSpPr>
        <p:spPr>
          <a:xfrm flipV="1">
            <a:off x="7910278" y="4704999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4D7E72C-52B1-7E05-B4B7-A041482CA402}"/>
              </a:ext>
            </a:extLst>
          </p:cNvPr>
          <p:cNvCxnSpPr>
            <a:cxnSpLocks/>
          </p:cNvCxnSpPr>
          <p:nvPr/>
        </p:nvCxnSpPr>
        <p:spPr>
          <a:xfrm flipV="1">
            <a:off x="7000271" y="4722163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14ECDD-0CAE-FF03-E74C-6614143AC4B4}"/>
              </a:ext>
            </a:extLst>
          </p:cNvPr>
          <p:cNvCxnSpPr>
            <a:cxnSpLocks/>
          </p:cNvCxnSpPr>
          <p:nvPr/>
        </p:nvCxnSpPr>
        <p:spPr>
          <a:xfrm flipV="1">
            <a:off x="5213731" y="4704999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70FEBC4-E7F7-4104-95E6-EED092D0008E}"/>
              </a:ext>
            </a:extLst>
          </p:cNvPr>
          <p:cNvCxnSpPr>
            <a:cxnSpLocks/>
          </p:cNvCxnSpPr>
          <p:nvPr/>
        </p:nvCxnSpPr>
        <p:spPr>
          <a:xfrm flipV="1">
            <a:off x="4376178" y="4704999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A9CB7FB-7FF8-6F92-A26B-616949030CFA}"/>
              </a:ext>
            </a:extLst>
          </p:cNvPr>
          <p:cNvCxnSpPr>
            <a:cxnSpLocks/>
          </p:cNvCxnSpPr>
          <p:nvPr/>
        </p:nvCxnSpPr>
        <p:spPr>
          <a:xfrm flipV="1">
            <a:off x="2769110" y="4722163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BE8BB1-D359-0C31-685A-B01C89EA52D1}"/>
              </a:ext>
            </a:extLst>
          </p:cNvPr>
          <p:cNvCxnSpPr>
            <a:cxnSpLocks/>
          </p:cNvCxnSpPr>
          <p:nvPr/>
        </p:nvCxnSpPr>
        <p:spPr>
          <a:xfrm flipV="1">
            <a:off x="1658533" y="4704999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1E5566-2748-B427-4B2C-CF16212723B4}"/>
              </a:ext>
            </a:extLst>
          </p:cNvPr>
          <p:cNvCxnSpPr>
            <a:cxnSpLocks/>
          </p:cNvCxnSpPr>
          <p:nvPr/>
        </p:nvCxnSpPr>
        <p:spPr>
          <a:xfrm>
            <a:off x="7071946" y="2726910"/>
            <a:ext cx="79877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9F0F9A9-5733-BF07-2E01-10BB12608327}"/>
              </a:ext>
            </a:extLst>
          </p:cNvPr>
          <p:cNvCxnSpPr>
            <a:cxnSpLocks/>
          </p:cNvCxnSpPr>
          <p:nvPr/>
        </p:nvCxnSpPr>
        <p:spPr>
          <a:xfrm>
            <a:off x="7053658" y="2986182"/>
            <a:ext cx="798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194B407-2762-1137-35D0-1817E1CEB7F3}"/>
              </a:ext>
            </a:extLst>
          </p:cNvPr>
          <p:cNvCxnSpPr>
            <a:cxnSpLocks/>
          </p:cNvCxnSpPr>
          <p:nvPr/>
        </p:nvCxnSpPr>
        <p:spPr>
          <a:xfrm>
            <a:off x="9769450" y="2684776"/>
            <a:ext cx="79877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BC23A03-5E1C-C4E0-71F4-9BC7B0168CD3}"/>
              </a:ext>
            </a:extLst>
          </p:cNvPr>
          <p:cNvCxnSpPr>
            <a:cxnSpLocks/>
          </p:cNvCxnSpPr>
          <p:nvPr/>
        </p:nvCxnSpPr>
        <p:spPr>
          <a:xfrm>
            <a:off x="9790419" y="3026820"/>
            <a:ext cx="79877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2BD57CA-2534-C39E-06DC-B902B16B9DE1}"/>
              </a:ext>
            </a:extLst>
          </p:cNvPr>
          <p:cNvCxnSpPr>
            <a:cxnSpLocks/>
          </p:cNvCxnSpPr>
          <p:nvPr/>
        </p:nvCxnSpPr>
        <p:spPr>
          <a:xfrm>
            <a:off x="11368679" y="3514401"/>
            <a:ext cx="7987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0607D3A-94A7-FB79-7F03-80BFF591D7A3}"/>
              </a:ext>
            </a:extLst>
          </p:cNvPr>
          <p:cNvSpPr txBox="1"/>
          <p:nvPr/>
        </p:nvSpPr>
        <p:spPr>
          <a:xfrm>
            <a:off x="11177620" y="2481332"/>
            <a:ext cx="165829" cy="22467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457D9EF-EA04-9768-B346-33787FF93FEA}"/>
              </a:ext>
            </a:extLst>
          </p:cNvPr>
          <p:cNvCxnSpPr>
            <a:cxnSpLocks/>
          </p:cNvCxnSpPr>
          <p:nvPr/>
        </p:nvCxnSpPr>
        <p:spPr>
          <a:xfrm flipV="1">
            <a:off x="11256600" y="4810154"/>
            <a:ext cx="0" cy="3396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7EA0107-2162-39EF-8E47-F85DB7D36D02}"/>
              </a:ext>
            </a:extLst>
          </p:cNvPr>
          <p:cNvCxnSpPr>
            <a:cxnSpLocks/>
          </p:cNvCxnSpPr>
          <p:nvPr/>
        </p:nvCxnSpPr>
        <p:spPr>
          <a:xfrm flipV="1">
            <a:off x="11343449" y="4722163"/>
            <a:ext cx="0" cy="78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7CC3EC5-B6E3-C09D-F608-2654130BEF88}"/>
              </a:ext>
            </a:extLst>
          </p:cNvPr>
          <p:cNvSpPr txBox="1"/>
          <p:nvPr/>
        </p:nvSpPr>
        <p:spPr>
          <a:xfrm rot="16200000">
            <a:off x="6470894" y="4132261"/>
            <a:ext cx="889444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up_proj_out</a:t>
            </a:r>
            <a:endParaRPr lang="en-IN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29EB44-7AF4-2FE2-843C-8B94BE723136}"/>
              </a:ext>
            </a:extLst>
          </p:cNvPr>
          <p:cNvSpPr txBox="1"/>
          <p:nvPr/>
        </p:nvSpPr>
        <p:spPr>
          <a:xfrm rot="16200000">
            <a:off x="9222746" y="4164838"/>
            <a:ext cx="828567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relu_out</a:t>
            </a:r>
            <a:endParaRPr lang="en-IN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0BB317-C7F1-8BFF-BDEF-E3E1CE6F006C}"/>
              </a:ext>
            </a:extLst>
          </p:cNvPr>
          <p:cNvSpPr txBox="1"/>
          <p:nvPr/>
        </p:nvSpPr>
        <p:spPr>
          <a:xfrm rot="16200000">
            <a:off x="10418481" y="3135675"/>
            <a:ext cx="166590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accumulator_bank</a:t>
            </a:r>
            <a:endParaRPr lang="en-IN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E3A05B-1900-4E28-2E36-49128172E93A}"/>
              </a:ext>
            </a:extLst>
          </p:cNvPr>
          <p:cNvSpPr txBox="1"/>
          <p:nvPr/>
        </p:nvSpPr>
        <p:spPr>
          <a:xfrm>
            <a:off x="128683" y="1906540"/>
            <a:ext cx="531109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start</a:t>
            </a:r>
            <a:endParaRPr lang="en-IN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8845753-3FD7-6D25-21DF-819A5F8E83FC}"/>
              </a:ext>
            </a:extLst>
          </p:cNvPr>
          <p:cNvCxnSpPr>
            <a:cxnSpLocks/>
            <a:endCxn id="69" idx="3"/>
          </p:cNvCxnSpPr>
          <p:nvPr/>
        </p:nvCxnSpPr>
        <p:spPr>
          <a:xfrm flipH="1">
            <a:off x="659792" y="2029651"/>
            <a:ext cx="10600742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B3B1DAC-4CC2-5361-D53A-2DF0CBD46146}"/>
              </a:ext>
            </a:extLst>
          </p:cNvPr>
          <p:cNvCxnSpPr>
            <a:cxnSpLocks/>
            <a:endCxn id="68" idx="3"/>
          </p:cNvCxnSpPr>
          <p:nvPr/>
        </p:nvCxnSpPr>
        <p:spPr>
          <a:xfrm flipH="1">
            <a:off x="11251433" y="2029651"/>
            <a:ext cx="9101" cy="39618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0ABD000-B254-3E53-CB69-D060577A14BD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9392731" y="3161879"/>
            <a:ext cx="14729" cy="23312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AC5E797-AC7C-E3C4-A29E-D3AD5E2182C1}"/>
              </a:ext>
            </a:extLst>
          </p:cNvPr>
          <p:cNvCxnSpPr>
            <a:cxnSpLocks/>
          </p:cNvCxnSpPr>
          <p:nvPr/>
        </p:nvCxnSpPr>
        <p:spPr>
          <a:xfrm flipV="1">
            <a:off x="9020597" y="2873597"/>
            <a:ext cx="15658" cy="26195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8E45A25-E0F2-DBCF-9620-8B798E2292AE}"/>
              </a:ext>
            </a:extLst>
          </p:cNvPr>
          <p:cNvCxnSpPr>
            <a:cxnSpLocks/>
          </p:cNvCxnSpPr>
          <p:nvPr/>
        </p:nvCxnSpPr>
        <p:spPr>
          <a:xfrm flipV="1">
            <a:off x="9199915" y="3171725"/>
            <a:ext cx="12749" cy="1966816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72D5679-DB81-1C76-A538-D66DDD9EE622}"/>
              </a:ext>
            </a:extLst>
          </p:cNvPr>
          <p:cNvCxnSpPr>
            <a:cxnSpLocks/>
          </p:cNvCxnSpPr>
          <p:nvPr/>
        </p:nvCxnSpPr>
        <p:spPr>
          <a:xfrm flipV="1">
            <a:off x="8930318" y="2867673"/>
            <a:ext cx="7539" cy="224855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9967098-D47A-16D3-08E1-6661A2BB52BB}"/>
              </a:ext>
            </a:extLst>
          </p:cNvPr>
          <p:cNvCxnSpPr>
            <a:cxnSpLocks/>
          </p:cNvCxnSpPr>
          <p:nvPr/>
        </p:nvCxnSpPr>
        <p:spPr>
          <a:xfrm flipV="1">
            <a:off x="6619798" y="3170290"/>
            <a:ext cx="14729" cy="23312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9AF797A-12AE-C35D-3F49-7C2409709C02}"/>
              </a:ext>
            </a:extLst>
          </p:cNvPr>
          <p:cNvCxnSpPr>
            <a:cxnSpLocks/>
          </p:cNvCxnSpPr>
          <p:nvPr/>
        </p:nvCxnSpPr>
        <p:spPr>
          <a:xfrm flipV="1">
            <a:off x="6247664" y="2882008"/>
            <a:ext cx="15658" cy="26195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D85450F-4ABA-9361-7DE6-616709E07A74}"/>
              </a:ext>
            </a:extLst>
          </p:cNvPr>
          <p:cNvCxnSpPr>
            <a:cxnSpLocks/>
          </p:cNvCxnSpPr>
          <p:nvPr/>
        </p:nvCxnSpPr>
        <p:spPr>
          <a:xfrm flipV="1">
            <a:off x="6426982" y="3180136"/>
            <a:ext cx="12749" cy="1966816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074E9EB-78BF-AB87-C39D-E727BDD18128}"/>
              </a:ext>
            </a:extLst>
          </p:cNvPr>
          <p:cNvCxnSpPr>
            <a:cxnSpLocks/>
          </p:cNvCxnSpPr>
          <p:nvPr/>
        </p:nvCxnSpPr>
        <p:spPr>
          <a:xfrm flipV="1">
            <a:off x="6157385" y="2876084"/>
            <a:ext cx="7539" cy="224855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98EF9BF-DF6F-B376-F1A8-367B7D0DA2E4}"/>
              </a:ext>
            </a:extLst>
          </p:cNvPr>
          <p:cNvCxnSpPr>
            <a:cxnSpLocks/>
          </p:cNvCxnSpPr>
          <p:nvPr/>
        </p:nvCxnSpPr>
        <p:spPr>
          <a:xfrm flipV="1">
            <a:off x="4034940" y="3161879"/>
            <a:ext cx="14729" cy="23312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A3ABAAC-84FD-9592-229B-95C37775D589}"/>
              </a:ext>
            </a:extLst>
          </p:cNvPr>
          <p:cNvCxnSpPr>
            <a:cxnSpLocks/>
          </p:cNvCxnSpPr>
          <p:nvPr/>
        </p:nvCxnSpPr>
        <p:spPr>
          <a:xfrm flipV="1">
            <a:off x="3662806" y="2873597"/>
            <a:ext cx="15658" cy="26195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E93A37C-B1F7-EDB3-1175-6CAA36AF699C}"/>
              </a:ext>
            </a:extLst>
          </p:cNvPr>
          <p:cNvCxnSpPr>
            <a:cxnSpLocks/>
          </p:cNvCxnSpPr>
          <p:nvPr/>
        </p:nvCxnSpPr>
        <p:spPr>
          <a:xfrm flipV="1">
            <a:off x="3842124" y="3171725"/>
            <a:ext cx="12749" cy="1966816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7189506-A480-21F9-2070-5F83421559C4}"/>
              </a:ext>
            </a:extLst>
          </p:cNvPr>
          <p:cNvCxnSpPr>
            <a:cxnSpLocks/>
          </p:cNvCxnSpPr>
          <p:nvPr/>
        </p:nvCxnSpPr>
        <p:spPr>
          <a:xfrm flipV="1">
            <a:off x="3572527" y="2867673"/>
            <a:ext cx="7539" cy="224855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FCAB8FD-9723-85BD-D648-9DD7C9CF614C}"/>
              </a:ext>
            </a:extLst>
          </p:cNvPr>
          <p:cNvCxnSpPr>
            <a:cxnSpLocks/>
          </p:cNvCxnSpPr>
          <p:nvPr/>
        </p:nvCxnSpPr>
        <p:spPr>
          <a:xfrm flipV="1">
            <a:off x="11645182" y="3646842"/>
            <a:ext cx="12806" cy="1855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81A888F-4FEA-AEB3-D084-26C773378DE3}"/>
              </a:ext>
            </a:extLst>
          </p:cNvPr>
          <p:cNvCxnSpPr>
            <a:cxnSpLocks/>
          </p:cNvCxnSpPr>
          <p:nvPr/>
        </p:nvCxnSpPr>
        <p:spPr>
          <a:xfrm>
            <a:off x="11103092" y="3506954"/>
            <a:ext cx="7987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C9A823-C313-0EDE-EE92-E17278CE0698}"/>
              </a:ext>
            </a:extLst>
          </p:cNvPr>
          <p:cNvCxnSpPr>
            <a:cxnSpLocks/>
          </p:cNvCxnSpPr>
          <p:nvPr/>
        </p:nvCxnSpPr>
        <p:spPr>
          <a:xfrm>
            <a:off x="9778989" y="4291641"/>
            <a:ext cx="7987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0042454-005B-C3F0-7291-5022DB6D21B2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8424770" y="4281608"/>
            <a:ext cx="1089149" cy="634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55A3460-47BE-BE6E-3D71-2201676201F5}"/>
              </a:ext>
            </a:extLst>
          </p:cNvPr>
          <p:cNvCxnSpPr>
            <a:cxnSpLocks/>
          </p:cNvCxnSpPr>
          <p:nvPr/>
        </p:nvCxnSpPr>
        <p:spPr>
          <a:xfrm>
            <a:off x="8514852" y="2680913"/>
            <a:ext cx="445125" cy="63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ECC9969-F1DF-A366-736F-C01142B587C8}"/>
              </a:ext>
            </a:extLst>
          </p:cNvPr>
          <p:cNvCxnSpPr>
            <a:cxnSpLocks/>
          </p:cNvCxnSpPr>
          <p:nvPr/>
        </p:nvCxnSpPr>
        <p:spPr>
          <a:xfrm flipH="1">
            <a:off x="6773579" y="2244305"/>
            <a:ext cx="1741273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B076F70-957D-309C-2466-B5E9D1A0E494}"/>
              </a:ext>
            </a:extLst>
          </p:cNvPr>
          <p:cNvCxnSpPr>
            <a:cxnSpLocks/>
          </p:cNvCxnSpPr>
          <p:nvPr/>
        </p:nvCxnSpPr>
        <p:spPr>
          <a:xfrm>
            <a:off x="8514852" y="2227742"/>
            <a:ext cx="0" cy="463096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49A30FC-F172-AAEC-1219-02BBA0F975C6}"/>
              </a:ext>
            </a:extLst>
          </p:cNvPr>
          <p:cNvCxnSpPr>
            <a:cxnSpLocks/>
          </p:cNvCxnSpPr>
          <p:nvPr/>
        </p:nvCxnSpPr>
        <p:spPr>
          <a:xfrm>
            <a:off x="8641764" y="3030864"/>
            <a:ext cx="445125" cy="634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F31E0AB-89B6-AB95-5373-F2054776348F}"/>
              </a:ext>
            </a:extLst>
          </p:cNvPr>
          <p:cNvCxnSpPr>
            <a:cxnSpLocks/>
          </p:cNvCxnSpPr>
          <p:nvPr/>
        </p:nvCxnSpPr>
        <p:spPr>
          <a:xfrm flipH="1">
            <a:off x="6900491" y="2375324"/>
            <a:ext cx="174127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395AD0A-3570-E414-2AAB-8529A15CCE31}"/>
              </a:ext>
            </a:extLst>
          </p:cNvPr>
          <p:cNvCxnSpPr>
            <a:cxnSpLocks/>
          </p:cNvCxnSpPr>
          <p:nvPr/>
        </p:nvCxnSpPr>
        <p:spPr>
          <a:xfrm>
            <a:off x="8641764" y="2358036"/>
            <a:ext cx="0" cy="6827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D879084-43DF-B041-E63F-2163DE802097}"/>
              </a:ext>
            </a:extLst>
          </p:cNvPr>
          <p:cNvCxnSpPr>
            <a:cxnSpLocks/>
          </p:cNvCxnSpPr>
          <p:nvPr/>
        </p:nvCxnSpPr>
        <p:spPr>
          <a:xfrm>
            <a:off x="6773579" y="2227742"/>
            <a:ext cx="0" cy="339986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0224F66-F894-8224-B13E-072A52E75623}"/>
              </a:ext>
            </a:extLst>
          </p:cNvPr>
          <p:cNvCxnSpPr>
            <a:cxnSpLocks/>
          </p:cNvCxnSpPr>
          <p:nvPr/>
        </p:nvCxnSpPr>
        <p:spPr>
          <a:xfrm>
            <a:off x="6900048" y="2358036"/>
            <a:ext cx="0" cy="5216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629F353-8AC8-51BA-EC76-3D39581D58F2}"/>
              </a:ext>
            </a:extLst>
          </p:cNvPr>
          <p:cNvCxnSpPr>
            <a:cxnSpLocks/>
          </p:cNvCxnSpPr>
          <p:nvPr/>
        </p:nvCxnSpPr>
        <p:spPr>
          <a:xfrm>
            <a:off x="7066074" y="4308313"/>
            <a:ext cx="7987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6AB3E27-4358-A056-BB96-7CD9040744EA}"/>
              </a:ext>
            </a:extLst>
          </p:cNvPr>
          <p:cNvCxnSpPr>
            <a:cxnSpLocks/>
          </p:cNvCxnSpPr>
          <p:nvPr/>
        </p:nvCxnSpPr>
        <p:spPr>
          <a:xfrm>
            <a:off x="5819003" y="4281608"/>
            <a:ext cx="950642" cy="420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9D0555C-2A09-3ED8-5DCC-7EE1B98B14F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4335012" y="2726910"/>
            <a:ext cx="203341" cy="1007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BC5123B-80E2-E5CC-6A5D-E4A3F4F54843}"/>
              </a:ext>
            </a:extLst>
          </p:cNvPr>
          <p:cNvCxnSpPr>
            <a:cxnSpLocks/>
          </p:cNvCxnSpPr>
          <p:nvPr/>
        </p:nvCxnSpPr>
        <p:spPr>
          <a:xfrm>
            <a:off x="4454059" y="3035000"/>
            <a:ext cx="798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DB22D7EF-C8F9-C3A6-523A-047C9C14B728}"/>
              </a:ext>
            </a:extLst>
          </p:cNvPr>
          <p:cNvCxnSpPr>
            <a:cxnSpLocks/>
          </p:cNvCxnSpPr>
          <p:nvPr/>
        </p:nvCxnSpPr>
        <p:spPr>
          <a:xfrm>
            <a:off x="6044786" y="3023641"/>
            <a:ext cx="312571" cy="8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AEAF3D7-1717-C6F3-E971-6CA074266BC2}"/>
              </a:ext>
            </a:extLst>
          </p:cNvPr>
          <p:cNvCxnSpPr>
            <a:cxnSpLocks/>
          </p:cNvCxnSpPr>
          <p:nvPr/>
        </p:nvCxnSpPr>
        <p:spPr>
          <a:xfrm flipH="1">
            <a:off x="4173980" y="2293123"/>
            <a:ext cx="1741273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B865A61-28FE-A85C-6230-9ABBCCFC7DF7}"/>
              </a:ext>
            </a:extLst>
          </p:cNvPr>
          <p:cNvCxnSpPr>
            <a:cxnSpLocks/>
          </p:cNvCxnSpPr>
          <p:nvPr/>
        </p:nvCxnSpPr>
        <p:spPr>
          <a:xfrm>
            <a:off x="5919063" y="2291247"/>
            <a:ext cx="0" cy="367636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B7F56B8-FB1D-64DD-3A2F-93DDCDFC8300}"/>
              </a:ext>
            </a:extLst>
          </p:cNvPr>
          <p:cNvCxnSpPr>
            <a:cxnSpLocks/>
          </p:cNvCxnSpPr>
          <p:nvPr/>
        </p:nvCxnSpPr>
        <p:spPr>
          <a:xfrm flipH="1">
            <a:off x="4300892" y="2424142"/>
            <a:ext cx="174127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5273C52F-2DF5-EC2D-23A7-9310255439B1}"/>
              </a:ext>
            </a:extLst>
          </p:cNvPr>
          <p:cNvCxnSpPr>
            <a:cxnSpLocks/>
          </p:cNvCxnSpPr>
          <p:nvPr/>
        </p:nvCxnSpPr>
        <p:spPr>
          <a:xfrm>
            <a:off x="4173980" y="2276560"/>
            <a:ext cx="0" cy="339986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FBCB719-2544-F852-54CD-EF27A4D79E01}"/>
              </a:ext>
            </a:extLst>
          </p:cNvPr>
          <p:cNvCxnSpPr>
            <a:cxnSpLocks/>
          </p:cNvCxnSpPr>
          <p:nvPr/>
        </p:nvCxnSpPr>
        <p:spPr>
          <a:xfrm>
            <a:off x="4300449" y="2406854"/>
            <a:ext cx="0" cy="5216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79B5EB3-FBA2-B3F2-6B2C-8C8C5C8836E7}"/>
              </a:ext>
            </a:extLst>
          </p:cNvPr>
          <p:cNvCxnSpPr>
            <a:cxnSpLocks/>
          </p:cNvCxnSpPr>
          <p:nvPr/>
        </p:nvCxnSpPr>
        <p:spPr>
          <a:xfrm>
            <a:off x="5910091" y="2659182"/>
            <a:ext cx="231504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0D528C9-A569-31B4-6C48-B724B0BE677B}"/>
              </a:ext>
            </a:extLst>
          </p:cNvPr>
          <p:cNvCxnSpPr>
            <a:cxnSpLocks/>
          </p:cNvCxnSpPr>
          <p:nvPr/>
        </p:nvCxnSpPr>
        <p:spPr>
          <a:xfrm>
            <a:off x="6042888" y="2425834"/>
            <a:ext cx="0" cy="60098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6522DF0F-596D-0A98-F3F2-E53E1D7E79A0}"/>
              </a:ext>
            </a:extLst>
          </p:cNvPr>
          <p:cNvSpPr txBox="1"/>
          <p:nvPr/>
        </p:nvSpPr>
        <p:spPr>
          <a:xfrm>
            <a:off x="7066074" y="5700566"/>
            <a:ext cx="1339961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down_bram_addr 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BE63194-0C15-A376-AA09-E50F882FB3A9}"/>
              </a:ext>
            </a:extLst>
          </p:cNvPr>
          <p:cNvSpPr txBox="1"/>
          <p:nvPr/>
        </p:nvSpPr>
        <p:spPr>
          <a:xfrm>
            <a:off x="9760140" y="5708774"/>
            <a:ext cx="1339961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down_bram_rdata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A5D1011-F426-6CA5-1AFF-EBCDA8A7FFA7}"/>
              </a:ext>
            </a:extLst>
          </p:cNvPr>
          <p:cNvCxnSpPr>
            <a:cxnSpLocks/>
          </p:cNvCxnSpPr>
          <p:nvPr/>
        </p:nvCxnSpPr>
        <p:spPr>
          <a:xfrm>
            <a:off x="8123638" y="4700094"/>
            <a:ext cx="0" cy="1008694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85E157F-E80C-C6A8-C496-3F09454FB667}"/>
              </a:ext>
            </a:extLst>
          </p:cNvPr>
          <p:cNvCxnSpPr>
            <a:cxnSpLocks/>
          </p:cNvCxnSpPr>
          <p:nvPr/>
        </p:nvCxnSpPr>
        <p:spPr>
          <a:xfrm flipV="1">
            <a:off x="10774776" y="4722163"/>
            <a:ext cx="0" cy="995191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71F23C4A-53B3-50E1-F65B-781042D173D1}"/>
              </a:ext>
            </a:extLst>
          </p:cNvPr>
          <p:cNvSpPr txBox="1"/>
          <p:nvPr/>
        </p:nvSpPr>
        <p:spPr>
          <a:xfrm>
            <a:off x="1946678" y="5733807"/>
            <a:ext cx="1339961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up_bram_addr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0584887-FE30-E226-4FC6-0047F3D98F59}"/>
              </a:ext>
            </a:extLst>
          </p:cNvPr>
          <p:cNvSpPr txBox="1"/>
          <p:nvPr/>
        </p:nvSpPr>
        <p:spPr>
          <a:xfrm>
            <a:off x="4640744" y="5742015"/>
            <a:ext cx="1339961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up_bram_rdata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11706194-C021-3C26-1485-7633C7220ACC}"/>
              </a:ext>
            </a:extLst>
          </p:cNvPr>
          <p:cNvCxnSpPr>
            <a:cxnSpLocks/>
          </p:cNvCxnSpPr>
          <p:nvPr/>
        </p:nvCxnSpPr>
        <p:spPr>
          <a:xfrm>
            <a:off x="3004242" y="4733335"/>
            <a:ext cx="0" cy="1008694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E07B8F81-8306-12FA-D5C5-EBAA03F3D554}"/>
              </a:ext>
            </a:extLst>
          </p:cNvPr>
          <p:cNvCxnSpPr>
            <a:cxnSpLocks/>
          </p:cNvCxnSpPr>
          <p:nvPr/>
        </p:nvCxnSpPr>
        <p:spPr>
          <a:xfrm flipV="1">
            <a:off x="5655380" y="4700094"/>
            <a:ext cx="0" cy="1050501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E71FEFDA-DD4F-FB2F-0EFA-E52B54226A05}"/>
              </a:ext>
            </a:extLst>
          </p:cNvPr>
          <p:cNvCxnSpPr>
            <a:cxnSpLocks/>
          </p:cNvCxnSpPr>
          <p:nvPr/>
        </p:nvCxnSpPr>
        <p:spPr>
          <a:xfrm>
            <a:off x="3435272" y="3012395"/>
            <a:ext cx="312571" cy="892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FD25BFC9-64C2-78DB-5855-0E5A1EE408AD}"/>
              </a:ext>
            </a:extLst>
          </p:cNvPr>
          <p:cNvCxnSpPr>
            <a:cxnSpLocks/>
          </p:cNvCxnSpPr>
          <p:nvPr/>
        </p:nvCxnSpPr>
        <p:spPr>
          <a:xfrm flipH="1">
            <a:off x="1262206" y="2271717"/>
            <a:ext cx="2046748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911D0C8-C18C-564C-D002-70CD8DF9B0E9}"/>
              </a:ext>
            </a:extLst>
          </p:cNvPr>
          <p:cNvCxnSpPr>
            <a:cxnSpLocks/>
          </p:cNvCxnSpPr>
          <p:nvPr/>
        </p:nvCxnSpPr>
        <p:spPr>
          <a:xfrm>
            <a:off x="3309549" y="2280001"/>
            <a:ext cx="0" cy="400912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08F49AF-C7F9-E22A-1062-6E3E5D70ED3A}"/>
              </a:ext>
            </a:extLst>
          </p:cNvPr>
          <p:cNvCxnSpPr>
            <a:cxnSpLocks/>
          </p:cNvCxnSpPr>
          <p:nvPr/>
        </p:nvCxnSpPr>
        <p:spPr>
          <a:xfrm flipH="1">
            <a:off x="1599690" y="2412896"/>
            <a:ext cx="185283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D3FA329B-EAE7-B1F1-E63A-DC5F71326572}"/>
              </a:ext>
            </a:extLst>
          </p:cNvPr>
          <p:cNvCxnSpPr>
            <a:cxnSpLocks/>
          </p:cNvCxnSpPr>
          <p:nvPr/>
        </p:nvCxnSpPr>
        <p:spPr>
          <a:xfrm>
            <a:off x="1263162" y="2269628"/>
            <a:ext cx="0" cy="2981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13F83CF1-4BEB-BA99-6AFA-31DD91A4A9B2}"/>
              </a:ext>
            </a:extLst>
          </p:cNvPr>
          <p:cNvCxnSpPr>
            <a:cxnSpLocks/>
          </p:cNvCxnSpPr>
          <p:nvPr/>
        </p:nvCxnSpPr>
        <p:spPr>
          <a:xfrm>
            <a:off x="3433374" y="2414588"/>
            <a:ext cx="0" cy="60098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450DDE9-FE03-1288-0FE4-C35ECF5412BB}"/>
              </a:ext>
            </a:extLst>
          </p:cNvPr>
          <p:cNvCxnSpPr>
            <a:cxnSpLocks/>
          </p:cNvCxnSpPr>
          <p:nvPr/>
        </p:nvCxnSpPr>
        <p:spPr>
          <a:xfrm>
            <a:off x="3321431" y="2687253"/>
            <a:ext cx="254649" cy="1961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7F935BD4-9FA0-19AD-33DE-687CC9D47CD7}"/>
              </a:ext>
            </a:extLst>
          </p:cNvPr>
          <p:cNvCxnSpPr>
            <a:cxnSpLocks/>
          </p:cNvCxnSpPr>
          <p:nvPr/>
        </p:nvCxnSpPr>
        <p:spPr>
          <a:xfrm flipH="1">
            <a:off x="1598022" y="2421983"/>
            <a:ext cx="7378" cy="47512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04B1F280-78A9-9621-99E9-E61E7908A041}"/>
              </a:ext>
            </a:extLst>
          </p:cNvPr>
          <p:cNvCxnSpPr>
            <a:cxnSpLocks/>
          </p:cNvCxnSpPr>
          <p:nvPr/>
        </p:nvCxnSpPr>
        <p:spPr>
          <a:xfrm flipV="1">
            <a:off x="1449527" y="3206708"/>
            <a:ext cx="14729" cy="23312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C543D7F-0744-F3B9-8DDD-3FDE487E2AE2}"/>
              </a:ext>
            </a:extLst>
          </p:cNvPr>
          <p:cNvCxnSpPr>
            <a:cxnSpLocks/>
          </p:cNvCxnSpPr>
          <p:nvPr/>
        </p:nvCxnSpPr>
        <p:spPr>
          <a:xfrm flipV="1">
            <a:off x="1019745" y="2810843"/>
            <a:ext cx="16699" cy="27021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37882F5A-A312-83D0-4418-92081E60D3FB}"/>
              </a:ext>
            </a:extLst>
          </p:cNvPr>
          <p:cNvCxnSpPr>
            <a:cxnSpLocks/>
          </p:cNvCxnSpPr>
          <p:nvPr/>
        </p:nvCxnSpPr>
        <p:spPr>
          <a:xfrm flipV="1">
            <a:off x="1344995" y="3152867"/>
            <a:ext cx="12749" cy="1966816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CF0CE96A-7141-5EBD-6E0B-6496BC73BF26}"/>
              </a:ext>
            </a:extLst>
          </p:cNvPr>
          <p:cNvCxnSpPr>
            <a:cxnSpLocks/>
          </p:cNvCxnSpPr>
          <p:nvPr/>
        </p:nvCxnSpPr>
        <p:spPr>
          <a:xfrm flipV="1">
            <a:off x="954289" y="2806159"/>
            <a:ext cx="14296" cy="2327805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FFDE70-4177-C33C-4184-3B9C7DECA989}"/>
              </a:ext>
            </a:extLst>
          </p:cNvPr>
          <p:cNvSpPr txBox="1"/>
          <p:nvPr/>
        </p:nvSpPr>
        <p:spPr>
          <a:xfrm rot="16200000">
            <a:off x="1079433" y="4008338"/>
            <a:ext cx="1110577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row_input_latch</a:t>
            </a:r>
            <a:endParaRPr lang="en-IN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B37B73-1281-F069-C9F3-113521B54D73}"/>
              </a:ext>
            </a:extLst>
          </p:cNvPr>
          <p:cNvSpPr txBox="1"/>
          <p:nvPr/>
        </p:nvSpPr>
        <p:spPr>
          <a:xfrm rot="16200000">
            <a:off x="-168897" y="3744946"/>
            <a:ext cx="816377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row_input</a:t>
            </a:r>
            <a:endParaRPr lang="en-IN" sz="10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22006C9-6840-DFBF-708D-85B765AAD7AB}"/>
              </a:ext>
            </a:extLst>
          </p:cNvPr>
          <p:cNvCxnSpPr>
            <a:cxnSpLocks/>
          </p:cNvCxnSpPr>
          <p:nvPr/>
        </p:nvCxnSpPr>
        <p:spPr>
          <a:xfrm>
            <a:off x="3258908" y="4255371"/>
            <a:ext cx="943688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25BBA01-8867-8298-65F9-E40FD6A10136}"/>
              </a:ext>
            </a:extLst>
          </p:cNvPr>
          <p:cNvCxnSpPr>
            <a:cxnSpLocks/>
          </p:cNvCxnSpPr>
          <p:nvPr/>
        </p:nvCxnSpPr>
        <p:spPr>
          <a:xfrm>
            <a:off x="394237" y="3766504"/>
            <a:ext cx="1091809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A734A47-558D-89CE-A0A2-488F76DA4D5A}"/>
              </a:ext>
            </a:extLst>
          </p:cNvPr>
          <p:cNvCxnSpPr>
            <a:cxnSpLocks/>
          </p:cNvCxnSpPr>
          <p:nvPr/>
        </p:nvCxnSpPr>
        <p:spPr>
          <a:xfrm>
            <a:off x="1178755" y="2025340"/>
            <a:ext cx="0" cy="54238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5506C40-A445-BBC1-D537-26BB82D28B6E}"/>
              </a:ext>
            </a:extLst>
          </p:cNvPr>
          <p:cNvCxnSpPr>
            <a:cxnSpLocks/>
          </p:cNvCxnSpPr>
          <p:nvPr/>
        </p:nvCxnSpPr>
        <p:spPr>
          <a:xfrm>
            <a:off x="735039" y="3040789"/>
            <a:ext cx="370353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81457E7-9C48-DF21-9BC7-A2DB76384AC9}"/>
              </a:ext>
            </a:extLst>
          </p:cNvPr>
          <p:cNvCxnSpPr>
            <a:cxnSpLocks/>
          </p:cNvCxnSpPr>
          <p:nvPr/>
        </p:nvCxnSpPr>
        <p:spPr>
          <a:xfrm>
            <a:off x="2500433" y="2029651"/>
            <a:ext cx="0" cy="46928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631654A-C210-4414-62DA-122E28ECD4C3}"/>
              </a:ext>
            </a:extLst>
          </p:cNvPr>
          <p:cNvSpPr txBox="1"/>
          <p:nvPr/>
        </p:nvSpPr>
        <p:spPr>
          <a:xfrm rot="16200000">
            <a:off x="3663788" y="3918186"/>
            <a:ext cx="1300015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row_in_elements</a:t>
            </a:r>
            <a:endParaRPr lang="en-IN" sz="1000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CEA1B57-0499-7BA3-37EB-6AC0307F051B}"/>
              </a:ext>
            </a:extLst>
          </p:cNvPr>
          <p:cNvCxnSpPr>
            <a:cxnSpLocks/>
          </p:cNvCxnSpPr>
          <p:nvPr/>
        </p:nvCxnSpPr>
        <p:spPr>
          <a:xfrm>
            <a:off x="3265006" y="4271669"/>
            <a:ext cx="0" cy="72924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1E502F3-8BCA-83F2-2D03-B835C9A55313}"/>
              </a:ext>
            </a:extLst>
          </p:cNvPr>
          <p:cNvCxnSpPr>
            <a:cxnSpLocks/>
          </p:cNvCxnSpPr>
          <p:nvPr/>
        </p:nvCxnSpPr>
        <p:spPr>
          <a:xfrm>
            <a:off x="1756849" y="5000914"/>
            <a:ext cx="151584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191238C-A7B9-964D-7B25-10CF914B9A49}"/>
              </a:ext>
            </a:extLst>
          </p:cNvPr>
          <p:cNvCxnSpPr>
            <a:cxnSpLocks/>
          </p:cNvCxnSpPr>
          <p:nvPr/>
        </p:nvCxnSpPr>
        <p:spPr>
          <a:xfrm>
            <a:off x="1761705" y="4691216"/>
            <a:ext cx="0" cy="31963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CF31539-5758-C589-FFF3-D1D8C50CADEB}"/>
              </a:ext>
            </a:extLst>
          </p:cNvPr>
          <p:cNvCxnSpPr>
            <a:cxnSpLocks/>
          </p:cNvCxnSpPr>
          <p:nvPr/>
        </p:nvCxnSpPr>
        <p:spPr>
          <a:xfrm>
            <a:off x="4458476" y="4146045"/>
            <a:ext cx="7987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DD3EB05F-ABA7-382D-C246-0BE56B25158F}"/>
              </a:ext>
            </a:extLst>
          </p:cNvPr>
          <p:cNvSpPr txBox="1"/>
          <p:nvPr/>
        </p:nvSpPr>
        <p:spPr>
          <a:xfrm>
            <a:off x="1996506" y="3260733"/>
            <a:ext cx="98282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Cycle_count</a:t>
            </a:r>
            <a:endParaRPr lang="en-IN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693476C-C1A5-1C3E-0DC9-806A0FD70315}"/>
              </a:ext>
            </a:extLst>
          </p:cNvPr>
          <p:cNvSpPr txBox="1"/>
          <p:nvPr/>
        </p:nvSpPr>
        <p:spPr>
          <a:xfrm>
            <a:off x="2122679" y="3830342"/>
            <a:ext cx="655317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running</a:t>
            </a:r>
            <a:endParaRPr lang="en-IN" sz="10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56F9727-74FE-1EDF-E475-BF8A05A43F47}"/>
              </a:ext>
            </a:extLst>
          </p:cNvPr>
          <p:cNvCxnSpPr>
            <a:cxnSpLocks/>
          </p:cNvCxnSpPr>
          <p:nvPr/>
        </p:nvCxnSpPr>
        <p:spPr>
          <a:xfrm flipV="1">
            <a:off x="2887332" y="3514400"/>
            <a:ext cx="10544" cy="2013064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500BA5E-66B7-2F0F-68E3-004399931478}"/>
              </a:ext>
            </a:extLst>
          </p:cNvPr>
          <p:cNvCxnSpPr>
            <a:cxnSpLocks/>
          </p:cNvCxnSpPr>
          <p:nvPr/>
        </p:nvCxnSpPr>
        <p:spPr>
          <a:xfrm flipH="1" flipV="1">
            <a:off x="2314011" y="4091737"/>
            <a:ext cx="9319" cy="1409809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8B3A71A-4740-C48F-5620-645151D765BC}"/>
              </a:ext>
            </a:extLst>
          </p:cNvPr>
          <p:cNvCxnSpPr>
            <a:cxnSpLocks/>
          </p:cNvCxnSpPr>
          <p:nvPr/>
        </p:nvCxnSpPr>
        <p:spPr>
          <a:xfrm>
            <a:off x="2441276" y="5510299"/>
            <a:ext cx="0" cy="2339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45DD348-54DA-FA5E-8575-D6B24618659F}"/>
              </a:ext>
            </a:extLst>
          </p:cNvPr>
          <p:cNvCxnSpPr>
            <a:cxnSpLocks/>
          </p:cNvCxnSpPr>
          <p:nvPr/>
        </p:nvCxnSpPr>
        <p:spPr>
          <a:xfrm>
            <a:off x="707756" y="3391290"/>
            <a:ext cx="1264204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06F389A-EC6E-41D6-B1D4-A8DD8E285B84}"/>
              </a:ext>
            </a:extLst>
          </p:cNvPr>
          <p:cNvCxnSpPr>
            <a:cxnSpLocks/>
          </p:cNvCxnSpPr>
          <p:nvPr/>
        </p:nvCxnSpPr>
        <p:spPr>
          <a:xfrm>
            <a:off x="707756" y="4010035"/>
            <a:ext cx="1405349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596EA6D-4230-0870-E130-2E8DBD183979}"/>
              </a:ext>
            </a:extLst>
          </p:cNvPr>
          <p:cNvCxnSpPr>
            <a:cxnSpLocks/>
          </p:cNvCxnSpPr>
          <p:nvPr/>
        </p:nvCxnSpPr>
        <p:spPr>
          <a:xfrm flipH="1">
            <a:off x="698542" y="2045499"/>
            <a:ext cx="33619" cy="199195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7A8D2DD7-7701-7A60-EC9E-2E20D77106FF}"/>
              </a:ext>
            </a:extLst>
          </p:cNvPr>
          <p:cNvCxnSpPr>
            <a:cxnSpLocks/>
          </p:cNvCxnSpPr>
          <p:nvPr/>
        </p:nvCxnSpPr>
        <p:spPr>
          <a:xfrm flipH="1">
            <a:off x="1760930" y="3037606"/>
            <a:ext cx="67567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70A68B07-D4F7-FE97-8752-356F7D9CB25B}"/>
              </a:ext>
            </a:extLst>
          </p:cNvPr>
          <p:cNvCxnSpPr>
            <a:cxnSpLocks/>
          </p:cNvCxnSpPr>
          <p:nvPr/>
        </p:nvCxnSpPr>
        <p:spPr>
          <a:xfrm flipH="1">
            <a:off x="1758191" y="2706852"/>
            <a:ext cx="67567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DF9E8C6-E9AF-4454-C020-5243162201A9}"/>
              </a:ext>
            </a:extLst>
          </p:cNvPr>
          <p:cNvSpPr txBox="1"/>
          <p:nvPr/>
        </p:nvSpPr>
        <p:spPr>
          <a:xfrm>
            <a:off x="4664536" y="3174798"/>
            <a:ext cx="98282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up_mult</a:t>
            </a:r>
            <a:endParaRPr lang="en-IN" sz="10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7D6F274-3677-5674-8657-402F08AD22BD}"/>
              </a:ext>
            </a:extLst>
          </p:cNvPr>
          <p:cNvSpPr txBox="1"/>
          <p:nvPr/>
        </p:nvSpPr>
        <p:spPr>
          <a:xfrm>
            <a:off x="4664536" y="3663149"/>
            <a:ext cx="98282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up_acc</a:t>
            </a:r>
            <a:endParaRPr lang="en-IN" sz="1000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3E3DA74-B308-BDBD-F1B2-CF0FB3F55B51}"/>
              </a:ext>
            </a:extLst>
          </p:cNvPr>
          <p:cNvSpPr txBox="1"/>
          <p:nvPr/>
        </p:nvSpPr>
        <p:spPr>
          <a:xfrm>
            <a:off x="10000596" y="3109173"/>
            <a:ext cx="98282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down_mult</a:t>
            </a:r>
            <a:endParaRPr lang="en-IN" sz="1000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F18352D-A26C-ADB7-9800-9AE0C256CD27}"/>
              </a:ext>
            </a:extLst>
          </p:cNvPr>
          <p:cNvSpPr txBox="1"/>
          <p:nvPr/>
        </p:nvSpPr>
        <p:spPr>
          <a:xfrm>
            <a:off x="10000596" y="3597524"/>
            <a:ext cx="982829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down_acc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51877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B5A6-5295-3781-6F6A-CCB6DB729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33" y="38805"/>
            <a:ext cx="10797058" cy="65689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Stage 1 : FSM controller and Address Generation</a:t>
            </a: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1C351-5D25-1E92-9C58-9D1984AACACA}"/>
              </a:ext>
            </a:extLst>
          </p:cNvPr>
          <p:cNvSpPr txBox="1"/>
          <p:nvPr/>
        </p:nvSpPr>
        <p:spPr>
          <a:xfrm>
            <a:off x="3213108" y="939110"/>
            <a:ext cx="980661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rst = 1</a:t>
            </a:r>
            <a:endParaRPr lang="en-IN" sz="105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105892-9266-863F-D5BD-A72734A45881}"/>
              </a:ext>
            </a:extLst>
          </p:cNvPr>
          <p:cNvCxnSpPr>
            <a:cxnSpLocks/>
          </p:cNvCxnSpPr>
          <p:nvPr/>
        </p:nvCxnSpPr>
        <p:spPr>
          <a:xfrm>
            <a:off x="4224687" y="1028944"/>
            <a:ext cx="1656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99E84A-D21E-0196-0A90-16DB04DCCA9A}"/>
              </a:ext>
            </a:extLst>
          </p:cNvPr>
          <p:cNvSpPr txBox="1"/>
          <p:nvPr/>
        </p:nvSpPr>
        <p:spPr>
          <a:xfrm>
            <a:off x="4390338" y="696328"/>
            <a:ext cx="1556855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cycle_count     &lt;= 0;</a:t>
            </a:r>
          </a:p>
          <a:p>
            <a:r>
              <a:rPr lang="en-US" sz="1050" dirty="0"/>
              <a:t>running         &lt;= 1'b0;</a:t>
            </a:r>
          </a:p>
          <a:p>
            <a:r>
              <a:rPr lang="en-US" sz="1050" dirty="0"/>
              <a:t> valid_s1        &lt;= 1'b0;</a:t>
            </a:r>
          </a:p>
          <a:p>
            <a:r>
              <a:rPr lang="en-US" sz="1050" dirty="0"/>
              <a:t> tile_idx_s1     &lt;= 0;</a:t>
            </a:r>
          </a:p>
          <a:p>
            <a:r>
              <a:rPr lang="en-US" sz="1050" dirty="0"/>
              <a:t> up_bram_addr    &lt;= 0;</a:t>
            </a:r>
          </a:p>
          <a:p>
            <a:r>
              <a:rPr lang="en-US" sz="1050" dirty="0"/>
              <a:t>  row_input_latch &lt;= 0;</a:t>
            </a:r>
            <a:endParaRPr lang="en-IN" sz="105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8F74732-040B-31FC-F7A6-031434DD8DEF}"/>
              </a:ext>
            </a:extLst>
          </p:cNvPr>
          <p:cNvCxnSpPr>
            <a:cxnSpLocks/>
          </p:cNvCxnSpPr>
          <p:nvPr/>
        </p:nvCxnSpPr>
        <p:spPr>
          <a:xfrm>
            <a:off x="5105260" y="1766876"/>
            <a:ext cx="0" cy="2632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19C3646-44A7-022D-DC64-5EFD3399B768}"/>
              </a:ext>
            </a:extLst>
          </p:cNvPr>
          <p:cNvSpPr txBox="1"/>
          <p:nvPr/>
        </p:nvSpPr>
        <p:spPr>
          <a:xfrm>
            <a:off x="5137061" y="5267192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YES</a:t>
            </a:r>
            <a:endParaRPr lang="en-IN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FCBD0E-10CC-1A1B-D948-43DBD82FE30C}"/>
              </a:ext>
            </a:extLst>
          </p:cNvPr>
          <p:cNvSpPr txBox="1"/>
          <p:nvPr/>
        </p:nvSpPr>
        <p:spPr>
          <a:xfrm>
            <a:off x="4370824" y="4765766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NO</a:t>
            </a:r>
            <a:endParaRPr lang="en-IN" sz="1050" dirty="0"/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A8B699D9-6132-3BB7-5F9C-96443DD239B9}"/>
              </a:ext>
            </a:extLst>
          </p:cNvPr>
          <p:cNvSpPr/>
          <p:nvPr/>
        </p:nvSpPr>
        <p:spPr>
          <a:xfrm>
            <a:off x="4468730" y="2057395"/>
            <a:ext cx="1277507" cy="736485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ABAF10-2619-E43F-E6E4-C5E35FCA4B0A}"/>
              </a:ext>
            </a:extLst>
          </p:cNvPr>
          <p:cNvSpPr txBox="1"/>
          <p:nvPr/>
        </p:nvSpPr>
        <p:spPr>
          <a:xfrm>
            <a:off x="4753811" y="2158291"/>
            <a:ext cx="14205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start ==1</a:t>
            </a:r>
            <a:endParaRPr lang="en-IN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2B1572-50C4-A844-0675-04AD912B458B}"/>
              </a:ext>
            </a:extLst>
          </p:cNvPr>
          <p:cNvSpPr txBox="1"/>
          <p:nvPr/>
        </p:nvSpPr>
        <p:spPr>
          <a:xfrm>
            <a:off x="5244024" y="2783985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YES</a:t>
            </a:r>
            <a:endParaRPr lang="en-IN" sz="105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EFBC23-271C-D48F-A6E2-12387A8A881B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5986682" y="1676883"/>
            <a:ext cx="2435482" cy="1405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6C7F0AF-2E67-F5FA-6993-7142256B331A}"/>
              </a:ext>
            </a:extLst>
          </p:cNvPr>
          <p:cNvSpPr txBox="1"/>
          <p:nvPr/>
        </p:nvSpPr>
        <p:spPr>
          <a:xfrm>
            <a:off x="4276024" y="3134279"/>
            <a:ext cx="1811406" cy="1223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running         &lt;= 1’b1;</a:t>
            </a:r>
          </a:p>
          <a:p>
            <a:r>
              <a:rPr lang="en-US" sz="1050" dirty="0"/>
              <a:t> cycle_count     &lt;= 0;</a:t>
            </a:r>
          </a:p>
          <a:p>
            <a:r>
              <a:rPr lang="en-US" sz="1050" dirty="0"/>
              <a:t> valid_s1        &lt;= 1'b1;</a:t>
            </a:r>
          </a:p>
          <a:p>
            <a:r>
              <a:rPr lang="en-US" sz="1050" dirty="0"/>
              <a:t> tile_idx_s1     &lt;= 0;</a:t>
            </a:r>
          </a:p>
          <a:p>
            <a:r>
              <a:rPr lang="en-US" sz="1050" dirty="0"/>
              <a:t> up_bram_addr    &lt;= 0;</a:t>
            </a:r>
          </a:p>
          <a:p>
            <a:r>
              <a:rPr lang="en-US" sz="1050" dirty="0"/>
              <a:t>row_input_latch &lt;= row_input; </a:t>
            </a:r>
            <a:endParaRPr lang="en-IN" sz="1050" dirty="0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7C89BCCB-D756-2CA5-D041-CFC843D3D82A}"/>
              </a:ext>
            </a:extLst>
          </p:cNvPr>
          <p:cNvSpPr/>
          <p:nvPr/>
        </p:nvSpPr>
        <p:spPr>
          <a:xfrm>
            <a:off x="4645261" y="4665557"/>
            <a:ext cx="840506" cy="666909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711F5C-621C-C8B9-17BA-DFE997DE5F73}"/>
              </a:ext>
            </a:extLst>
          </p:cNvPr>
          <p:cNvCxnSpPr>
            <a:cxnSpLocks/>
          </p:cNvCxnSpPr>
          <p:nvPr/>
        </p:nvCxnSpPr>
        <p:spPr>
          <a:xfrm>
            <a:off x="5105260" y="2741695"/>
            <a:ext cx="0" cy="369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AEAA30-C2BE-4FA5-E9E8-F276945DDBD9}"/>
              </a:ext>
            </a:extLst>
          </p:cNvPr>
          <p:cNvSpPr txBox="1"/>
          <p:nvPr/>
        </p:nvSpPr>
        <p:spPr>
          <a:xfrm>
            <a:off x="4645375" y="4892725"/>
            <a:ext cx="15240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running==1</a:t>
            </a:r>
            <a:endParaRPr lang="en-IN" sz="105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D6606F-3B37-B1FE-7472-2FD916E4FE55}"/>
              </a:ext>
            </a:extLst>
          </p:cNvPr>
          <p:cNvCxnSpPr>
            <a:cxnSpLocks/>
          </p:cNvCxnSpPr>
          <p:nvPr/>
        </p:nvCxnSpPr>
        <p:spPr>
          <a:xfrm>
            <a:off x="5065514" y="6592894"/>
            <a:ext cx="55670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C947D4-52BD-9B72-10A8-F98E9C3FE1B3}"/>
              </a:ext>
            </a:extLst>
          </p:cNvPr>
          <p:cNvCxnSpPr>
            <a:cxnSpLocks/>
          </p:cNvCxnSpPr>
          <p:nvPr/>
        </p:nvCxnSpPr>
        <p:spPr>
          <a:xfrm flipV="1">
            <a:off x="5078333" y="6330463"/>
            <a:ext cx="11352" cy="2624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E53193-7F9B-A024-CC99-7AD1684244C8}"/>
              </a:ext>
            </a:extLst>
          </p:cNvPr>
          <p:cNvCxnSpPr>
            <a:cxnSpLocks/>
          </p:cNvCxnSpPr>
          <p:nvPr/>
        </p:nvCxnSpPr>
        <p:spPr>
          <a:xfrm flipH="1" flipV="1">
            <a:off x="5977102" y="1391358"/>
            <a:ext cx="1916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62C1B94A-18BE-14B4-9393-EE1E4CC0018D}"/>
              </a:ext>
            </a:extLst>
          </p:cNvPr>
          <p:cNvSpPr/>
          <p:nvPr/>
        </p:nvSpPr>
        <p:spPr>
          <a:xfrm>
            <a:off x="4561087" y="5588135"/>
            <a:ext cx="1057196" cy="75782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B1AD17-0CC3-54A7-B20A-F1B8257041C4}"/>
              </a:ext>
            </a:extLst>
          </p:cNvPr>
          <p:cNvSpPr txBox="1"/>
          <p:nvPr/>
        </p:nvSpPr>
        <p:spPr>
          <a:xfrm>
            <a:off x="4561086" y="5809426"/>
            <a:ext cx="19712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cycle_count &lt; 3</a:t>
            </a:r>
            <a:endParaRPr lang="en-IN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1D5E6D-B989-A737-EF4D-FB733AFEAA37}"/>
              </a:ext>
            </a:extLst>
          </p:cNvPr>
          <p:cNvSpPr txBox="1"/>
          <p:nvPr/>
        </p:nvSpPr>
        <p:spPr>
          <a:xfrm>
            <a:off x="6234875" y="5648887"/>
            <a:ext cx="233238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cycle_count  &lt;= cycle_count + 1;</a:t>
            </a:r>
          </a:p>
          <a:p>
            <a:r>
              <a:rPr lang="en-US" sz="1050" dirty="0"/>
              <a:t>tile_idx_s1  &lt;= tile_idx_s1 + 1;</a:t>
            </a:r>
          </a:p>
          <a:p>
            <a:r>
              <a:rPr lang="en-US" sz="1050" dirty="0"/>
              <a:t>up_bram_addr &lt;= tile_idx_s1 + 1;</a:t>
            </a:r>
          </a:p>
          <a:p>
            <a:r>
              <a:rPr lang="en-US" sz="1050" dirty="0"/>
              <a:t> valid_s1     &lt;= 1'b1;</a:t>
            </a:r>
            <a:endParaRPr lang="en-IN" sz="105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EF2C54-B7AC-6C87-1413-F41655329B67}"/>
              </a:ext>
            </a:extLst>
          </p:cNvPr>
          <p:cNvCxnSpPr>
            <a:cxnSpLocks/>
          </p:cNvCxnSpPr>
          <p:nvPr/>
        </p:nvCxnSpPr>
        <p:spPr>
          <a:xfrm flipH="1">
            <a:off x="9586428" y="2355987"/>
            <a:ext cx="10461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1CF70E7-6856-7483-0C50-22ED46EA9B0E}"/>
              </a:ext>
            </a:extLst>
          </p:cNvPr>
          <p:cNvCxnSpPr>
            <a:cxnSpLocks/>
          </p:cNvCxnSpPr>
          <p:nvPr/>
        </p:nvCxnSpPr>
        <p:spPr>
          <a:xfrm>
            <a:off x="8966922" y="2482945"/>
            <a:ext cx="0" cy="2963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2279C8F-026D-CC98-D873-66714FB5E30D}"/>
              </a:ext>
            </a:extLst>
          </p:cNvPr>
          <p:cNvSpPr txBox="1"/>
          <p:nvPr/>
        </p:nvSpPr>
        <p:spPr>
          <a:xfrm>
            <a:off x="5649422" y="2028763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NO</a:t>
            </a:r>
            <a:endParaRPr lang="en-IN" sz="105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96AADF-A8E8-3E8F-012C-6C134C41C04F}"/>
              </a:ext>
            </a:extLst>
          </p:cNvPr>
          <p:cNvSpPr txBox="1"/>
          <p:nvPr/>
        </p:nvSpPr>
        <p:spPr>
          <a:xfrm>
            <a:off x="3155689" y="4892725"/>
            <a:ext cx="121662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valid_s1     &lt;= 1'b0;</a:t>
            </a:r>
            <a:endParaRPr lang="en-IN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1ACE37-E5F6-9C7B-5779-1835D82779DB}"/>
              </a:ext>
            </a:extLst>
          </p:cNvPr>
          <p:cNvSpPr txBox="1"/>
          <p:nvPr/>
        </p:nvSpPr>
        <p:spPr>
          <a:xfrm>
            <a:off x="5658757" y="5703640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YES</a:t>
            </a:r>
            <a:endParaRPr lang="en-IN" sz="10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C2A0A1-C2C5-26E4-9825-062970ABB84A}"/>
              </a:ext>
            </a:extLst>
          </p:cNvPr>
          <p:cNvSpPr txBox="1"/>
          <p:nvPr/>
        </p:nvSpPr>
        <p:spPr>
          <a:xfrm>
            <a:off x="4591402" y="6284633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NO</a:t>
            </a:r>
            <a:endParaRPr lang="en-IN" sz="105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9A89F3-F4C1-9FA8-E9FA-5A5A48A4A063}"/>
              </a:ext>
            </a:extLst>
          </p:cNvPr>
          <p:cNvCxnSpPr>
            <a:cxnSpLocks/>
          </p:cNvCxnSpPr>
          <p:nvPr/>
        </p:nvCxnSpPr>
        <p:spPr>
          <a:xfrm>
            <a:off x="5667148" y="5955602"/>
            <a:ext cx="504484" cy="11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Diamond 45">
            <a:extLst>
              <a:ext uri="{FF2B5EF4-FFF2-40B4-BE49-F238E27FC236}">
                <a16:creationId xmlns:a16="http://schemas.microsoft.com/office/drawing/2014/main" id="{AA2D4C9F-CCD4-003E-4E5D-C9EA77AC8152}"/>
              </a:ext>
            </a:extLst>
          </p:cNvPr>
          <p:cNvSpPr/>
          <p:nvPr/>
        </p:nvSpPr>
        <p:spPr>
          <a:xfrm>
            <a:off x="8422164" y="2799975"/>
            <a:ext cx="1119246" cy="56444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A38CAE-4854-5C9E-F184-58829C833E98}"/>
              </a:ext>
            </a:extLst>
          </p:cNvPr>
          <p:cNvSpPr txBox="1"/>
          <p:nvPr/>
        </p:nvSpPr>
        <p:spPr>
          <a:xfrm>
            <a:off x="8459488" y="2928367"/>
            <a:ext cx="12037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cycle_count=6</a:t>
            </a:r>
            <a:endParaRPr lang="en-IN" sz="10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E37273-55BB-6D2A-55AC-854EECD23E60}"/>
              </a:ext>
            </a:extLst>
          </p:cNvPr>
          <p:cNvSpPr txBox="1"/>
          <p:nvPr/>
        </p:nvSpPr>
        <p:spPr>
          <a:xfrm>
            <a:off x="6964506" y="1914201"/>
            <a:ext cx="1155974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running  &lt;= 1'b0;</a:t>
            </a:r>
            <a:endParaRPr lang="en-IN" sz="105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E3985E-9195-A425-4AB1-6A259FE5333A}"/>
              </a:ext>
            </a:extLst>
          </p:cNvPr>
          <p:cNvCxnSpPr>
            <a:cxnSpLocks/>
          </p:cNvCxnSpPr>
          <p:nvPr/>
        </p:nvCxnSpPr>
        <p:spPr>
          <a:xfrm flipH="1">
            <a:off x="9523905" y="2977214"/>
            <a:ext cx="120398" cy="68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DAB4F23-82F0-1418-3200-F48AB61571CE}"/>
              </a:ext>
            </a:extLst>
          </p:cNvPr>
          <p:cNvCxnSpPr>
            <a:cxnSpLocks/>
          </p:cNvCxnSpPr>
          <p:nvPr/>
        </p:nvCxnSpPr>
        <p:spPr>
          <a:xfrm>
            <a:off x="8966922" y="3303236"/>
            <a:ext cx="0" cy="314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D7CA26C-DC1F-C880-7853-DF62D9E2F69C}"/>
              </a:ext>
            </a:extLst>
          </p:cNvPr>
          <p:cNvSpPr txBox="1"/>
          <p:nvPr/>
        </p:nvSpPr>
        <p:spPr>
          <a:xfrm>
            <a:off x="8048534" y="3641443"/>
            <a:ext cx="2069501" cy="2587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cycle_count &lt;= cycle_count + 1;</a:t>
            </a:r>
            <a:endParaRPr lang="en-IN" sz="10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5DF440-F6D8-E7DA-F8B6-E4E28AF3815D}"/>
              </a:ext>
            </a:extLst>
          </p:cNvPr>
          <p:cNvSpPr txBox="1"/>
          <p:nvPr/>
        </p:nvSpPr>
        <p:spPr>
          <a:xfrm>
            <a:off x="6090175" y="968984"/>
            <a:ext cx="839028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IDLE STATE</a:t>
            </a:r>
            <a:endParaRPr lang="en-IN" sz="1050" dirty="0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2E8A13EA-1674-C69A-F727-6EF0FF791F21}"/>
              </a:ext>
            </a:extLst>
          </p:cNvPr>
          <p:cNvSpPr/>
          <p:nvPr/>
        </p:nvSpPr>
        <p:spPr>
          <a:xfrm rot="4362525">
            <a:off x="4521363" y="1012875"/>
            <a:ext cx="1761773" cy="121349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B55322-8CC9-9EFD-3BDF-29F3C1F5362C}"/>
              </a:ext>
            </a:extLst>
          </p:cNvPr>
          <p:cNvSpPr txBox="1"/>
          <p:nvPr/>
        </p:nvSpPr>
        <p:spPr>
          <a:xfrm>
            <a:off x="4735101" y="2387934"/>
            <a:ext cx="15240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&amp;&amp;rst = 0</a:t>
            </a:r>
            <a:endParaRPr lang="en-IN" sz="105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09DBAD-7C8C-23CD-D179-8B3111486F7E}"/>
              </a:ext>
            </a:extLst>
          </p:cNvPr>
          <p:cNvSpPr txBox="1"/>
          <p:nvPr/>
        </p:nvSpPr>
        <p:spPr>
          <a:xfrm>
            <a:off x="3084406" y="3455490"/>
            <a:ext cx="892685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ACTIVE STATE</a:t>
            </a:r>
            <a:endParaRPr lang="en-IN" sz="105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C6525C-1EF3-7B9E-755B-1D9D62A39CEF}"/>
              </a:ext>
            </a:extLst>
          </p:cNvPr>
          <p:cNvCxnSpPr>
            <a:cxnSpLocks/>
          </p:cNvCxnSpPr>
          <p:nvPr/>
        </p:nvCxnSpPr>
        <p:spPr>
          <a:xfrm>
            <a:off x="5065514" y="4357691"/>
            <a:ext cx="0" cy="301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8E589F6-460C-8E89-9EBA-FE7EE480CD3C}"/>
              </a:ext>
            </a:extLst>
          </p:cNvPr>
          <p:cNvCxnSpPr>
            <a:cxnSpLocks/>
          </p:cNvCxnSpPr>
          <p:nvPr/>
        </p:nvCxnSpPr>
        <p:spPr>
          <a:xfrm flipH="1">
            <a:off x="4378891" y="5013562"/>
            <a:ext cx="304040" cy="122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4D9ACB7-1E51-E8CC-0BD6-FE1DEEB5E9D3}"/>
              </a:ext>
            </a:extLst>
          </p:cNvPr>
          <p:cNvCxnSpPr>
            <a:cxnSpLocks/>
          </p:cNvCxnSpPr>
          <p:nvPr/>
        </p:nvCxnSpPr>
        <p:spPr>
          <a:xfrm>
            <a:off x="5068394" y="5265957"/>
            <a:ext cx="0" cy="3019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E0E51F8-A156-5022-2333-09E9E9D39ECA}"/>
              </a:ext>
            </a:extLst>
          </p:cNvPr>
          <p:cNvCxnSpPr>
            <a:cxnSpLocks/>
          </p:cNvCxnSpPr>
          <p:nvPr/>
        </p:nvCxnSpPr>
        <p:spPr>
          <a:xfrm flipV="1">
            <a:off x="10632552" y="2355987"/>
            <a:ext cx="0" cy="4247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82D722F-A69B-2F0A-D35F-7859127682BF}"/>
              </a:ext>
            </a:extLst>
          </p:cNvPr>
          <p:cNvSpPr txBox="1"/>
          <p:nvPr/>
        </p:nvSpPr>
        <p:spPr>
          <a:xfrm>
            <a:off x="8358611" y="2229029"/>
            <a:ext cx="1216622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valid_s1     &lt;= 1'b0;</a:t>
            </a:r>
            <a:endParaRPr lang="en-IN" sz="105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D39765-444A-1B8B-8D11-277F468B0D97}"/>
              </a:ext>
            </a:extLst>
          </p:cNvPr>
          <p:cNvSpPr txBox="1"/>
          <p:nvPr/>
        </p:nvSpPr>
        <p:spPr>
          <a:xfrm>
            <a:off x="7997144" y="2623636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YES</a:t>
            </a:r>
            <a:endParaRPr lang="en-IN" sz="105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7CC9E2D-00CD-1282-0672-99782160643B}"/>
              </a:ext>
            </a:extLst>
          </p:cNvPr>
          <p:cNvSpPr txBox="1"/>
          <p:nvPr/>
        </p:nvSpPr>
        <p:spPr>
          <a:xfrm>
            <a:off x="9160789" y="3328532"/>
            <a:ext cx="530087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NO</a:t>
            </a:r>
            <a:endParaRPr lang="en-IN" sz="1050" dirty="0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8C8345DA-B44E-40CF-6E28-D76EBDD6657E}"/>
              </a:ext>
            </a:extLst>
          </p:cNvPr>
          <p:cNvSpPr/>
          <p:nvPr/>
        </p:nvSpPr>
        <p:spPr>
          <a:xfrm rot="4362525">
            <a:off x="9579167" y="2803190"/>
            <a:ext cx="1016336" cy="1053830"/>
          </a:xfrm>
          <a:prstGeom prst="arc">
            <a:avLst>
              <a:gd name="adj1" fmla="val 8449265"/>
              <a:gd name="adj2" fmla="val 83268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729831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99EC-E487-F32B-E296-9D44195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CONTROL PATH PROPAGATION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ADD9AE7B-0E8E-336D-FA09-5422CD61B526}"/>
              </a:ext>
            </a:extLst>
          </p:cNvPr>
          <p:cNvSpPr/>
          <p:nvPr/>
        </p:nvSpPr>
        <p:spPr>
          <a:xfrm>
            <a:off x="4468730" y="2057395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3020EA-C9CD-3A23-7E61-E709B10981CB}"/>
              </a:ext>
            </a:extLst>
          </p:cNvPr>
          <p:cNvSpPr txBox="1"/>
          <p:nvPr/>
        </p:nvSpPr>
        <p:spPr>
          <a:xfrm>
            <a:off x="4819126" y="2237014"/>
            <a:ext cx="650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rst = 0</a:t>
            </a:r>
            <a:endParaRPr lang="en-IN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DC2D78-D539-C2F7-1304-C15B43064E28}"/>
              </a:ext>
            </a:extLst>
          </p:cNvPr>
          <p:cNvSpPr txBox="1"/>
          <p:nvPr/>
        </p:nvSpPr>
        <p:spPr>
          <a:xfrm>
            <a:off x="5601965" y="2734661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IN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89F9FB-597E-32F1-6B31-FEEF3D5CCA43}"/>
              </a:ext>
            </a:extLst>
          </p:cNvPr>
          <p:cNvSpPr txBox="1"/>
          <p:nvPr/>
        </p:nvSpPr>
        <p:spPr>
          <a:xfrm>
            <a:off x="4363145" y="3208995"/>
            <a:ext cx="1515139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valid_s2    &lt;= 0;</a:t>
            </a:r>
          </a:p>
          <a:p>
            <a:r>
              <a:rPr lang="en-US" sz="1400" dirty="0"/>
              <a:t>tile_idx_s2 &lt;= 0;</a:t>
            </a:r>
          </a:p>
          <a:p>
            <a:r>
              <a:rPr lang="en-US" sz="1400" dirty="0"/>
              <a:t>valid_s3    &lt;= 0; </a:t>
            </a:r>
          </a:p>
          <a:p>
            <a:r>
              <a:rPr lang="en-US" sz="1400" dirty="0"/>
              <a:t>tile_idx_s3 &lt;= 0;</a:t>
            </a:r>
          </a:p>
          <a:p>
            <a:r>
              <a:rPr lang="en-US" sz="1400" dirty="0"/>
              <a:t> valid_s4    &lt;= 0;</a:t>
            </a:r>
          </a:p>
          <a:p>
            <a:r>
              <a:rPr lang="en-US" sz="1400" dirty="0"/>
              <a:t> tile_idx_s4 &lt;= 0;</a:t>
            </a:r>
          </a:p>
          <a:p>
            <a:r>
              <a:rPr lang="en-US" sz="1400" dirty="0"/>
              <a:t>  done   &lt;= 0;</a:t>
            </a:r>
            <a:endParaRPr lang="en-IN" sz="14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F552F75-AFF8-BE6C-3210-A51C73CA2ACB}"/>
              </a:ext>
            </a:extLst>
          </p:cNvPr>
          <p:cNvCxnSpPr>
            <a:cxnSpLocks/>
          </p:cNvCxnSpPr>
          <p:nvPr/>
        </p:nvCxnSpPr>
        <p:spPr>
          <a:xfrm>
            <a:off x="5105260" y="2758023"/>
            <a:ext cx="0" cy="369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4B0E37-6B30-148B-E4AF-151206493ED4}"/>
              </a:ext>
            </a:extLst>
          </p:cNvPr>
          <p:cNvSpPr txBox="1"/>
          <p:nvPr/>
        </p:nvSpPr>
        <p:spPr>
          <a:xfrm>
            <a:off x="5701732" y="1930437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  <a:endParaRPr lang="en-IN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1287CD-C204-73F1-F1F3-CCAA9644CDE4}"/>
              </a:ext>
            </a:extLst>
          </p:cNvPr>
          <p:cNvSpPr txBox="1"/>
          <p:nvPr/>
        </p:nvSpPr>
        <p:spPr>
          <a:xfrm>
            <a:off x="6382766" y="2073723"/>
            <a:ext cx="381143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valid_s2    &lt;= valid_s1;</a:t>
            </a:r>
          </a:p>
          <a:p>
            <a:r>
              <a:rPr lang="en-US" sz="1400" dirty="0"/>
              <a:t> tile_idx_s2 &lt;= tile_idx_s1;</a:t>
            </a:r>
          </a:p>
          <a:p>
            <a:r>
              <a:rPr lang="en-US" sz="1400" dirty="0"/>
              <a:t>            </a:t>
            </a:r>
          </a:p>
          <a:p>
            <a:r>
              <a:rPr lang="en-US" sz="1400" dirty="0"/>
              <a:t>  valid_s3    &lt;= valid_s2;</a:t>
            </a:r>
          </a:p>
          <a:p>
            <a:r>
              <a:rPr lang="en-US" sz="1400" dirty="0"/>
              <a:t>  tile_idx_s3 &lt;= tile_idx_s2;</a:t>
            </a:r>
          </a:p>
          <a:p>
            <a:r>
              <a:rPr lang="en-US" sz="1400" dirty="0"/>
              <a:t>            </a:t>
            </a:r>
          </a:p>
          <a:p>
            <a:r>
              <a:rPr lang="en-US" sz="1400" dirty="0"/>
              <a:t> valid_s4    &lt;= valid_s3;</a:t>
            </a:r>
          </a:p>
          <a:p>
            <a:r>
              <a:rPr lang="en-US" sz="1400" dirty="0"/>
              <a:t> tile_idx_s4 &lt;= tile_idx_s3;</a:t>
            </a:r>
          </a:p>
          <a:p>
            <a:r>
              <a:rPr lang="en-US" sz="1400" dirty="0"/>
              <a:t>            </a:t>
            </a:r>
          </a:p>
          <a:p>
            <a:r>
              <a:rPr lang="en-US" sz="1400" dirty="0"/>
              <a:t> done  &lt;= valid_s4 &amp;&amp; (tile_idx_s4 == 2'b11);</a:t>
            </a:r>
            <a:endParaRPr lang="en-IN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29244C-DC27-4236-40DD-608BB3FD6ED0}"/>
              </a:ext>
            </a:extLst>
          </p:cNvPr>
          <p:cNvCxnSpPr>
            <a:cxnSpLocks/>
          </p:cNvCxnSpPr>
          <p:nvPr/>
        </p:nvCxnSpPr>
        <p:spPr>
          <a:xfrm>
            <a:off x="5820468" y="2432593"/>
            <a:ext cx="504484" cy="11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ACB4BC87-35FA-540D-B8FE-CE6D1DEC3DF0}"/>
              </a:ext>
            </a:extLst>
          </p:cNvPr>
          <p:cNvSpPr/>
          <p:nvPr/>
        </p:nvSpPr>
        <p:spPr>
          <a:xfrm>
            <a:off x="3173212" y="2237014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75D91-4DAC-3D0C-9E9D-BD39E6A2C75A}"/>
              </a:ext>
            </a:extLst>
          </p:cNvPr>
          <p:cNvSpPr txBox="1"/>
          <p:nvPr/>
        </p:nvSpPr>
        <p:spPr>
          <a:xfrm>
            <a:off x="3316387" y="2306705"/>
            <a:ext cx="537966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Start</a:t>
            </a:r>
            <a:endParaRPr lang="en-IN" sz="1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8C925E-12D8-83BD-701A-0FAA76B733AE}"/>
              </a:ext>
            </a:extLst>
          </p:cNvPr>
          <p:cNvCxnSpPr>
            <a:cxnSpLocks/>
          </p:cNvCxnSpPr>
          <p:nvPr/>
        </p:nvCxnSpPr>
        <p:spPr>
          <a:xfrm>
            <a:off x="4118257" y="2425858"/>
            <a:ext cx="292658" cy="10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D29F9B-65B2-DB15-BC12-0DD6F52618B4}"/>
              </a:ext>
            </a:extLst>
          </p:cNvPr>
          <p:cNvCxnSpPr>
            <a:cxnSpLocks/>
          </p:cNvCxnSpPr>
          <p:nvPr/>
        </p:nvCxnSpPr>
        <p:spPr>
          <a:xfrm>
            <a:off x="5193639" y="4809433"/>
            <a:ext cx="0" cy="345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131C50B-7281-EB56-BDCF-341BF66C582E}"/>
              </a:ext>
            </a:extLst>
          </p:cNvPr>
          <p:cNvSpPr/>
          <p:nvPr/>
        </p:nvSpPr>
        <p:spPr>
          <a:xfrm>
            <a:off x="4788931" y="5154857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A7E0C-26A1-03BC-9C27-A7183900869E}"/>
              </a:ext>
            </a:extLst>
          </p:cNvPr>
          <p:cNvSpPr txBox="1"/>
          <p:nvPr/>
        </p:nvSpPr>
        <p:spPr>
          <a:xfrm>
            <a:off x="4932106" y="5224548"/>
            <a:ext cx="537966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Stop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667221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C4ED-2DAF-9325-6339-8C21264A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0895" y="25779"/>
            <a:ext cx="11544905" cy="1325563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STAGE 2: Up-Projection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6B301639-BC70-D59F-6D36-D8CA53386F24}"/>
              </a:ext>
            </a:extLst>
          </p:cNvPr>
          <p:cNvSpPr/>
          <p:nvPr/>
        </p:nvSpPr>
        <p:spPr>
          <a:xfrm>
            <a:off x="3171765" y="1322445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E810C-9C6B-1F62-3978-AB694A2EF730}"/>
              </a:ext>
            </a:extLst>
          </p:cNvPr>
          <p:cNvSpPr txBox="1"/>
          <p:nvPr/>
        </p:nvSpPr>
        <p:spPr>
          <a:xfrm>
            <a:off x="3522161" y="1502064"/>
            <a:ext cx="650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rst = 0</a:t>
            </a:r>
            <a:endParaRPr lang="en-IN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7A26A2-537F-0FB0-7270-C1A94C464883}"/>
              </a:ext>
            </a:extLst>
          </p:cNvPr>
          <p:cNvCxnSpPr>
            <a:cxnSpLocks/>
          </p:cNvCxnSpPr>
          <p:nvPr/>
        </p:nvCxnSpPr>
        <p:spPr>
          <a:xfrm>
            <a:off x="4449272" y="1690687"/>
            <a:ext cx="286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5641B5-E5D4-E52F-5C7E-998374DA0C2E}"/>
              </a:ext>
            </a:extLst>
          </p:cNvPr>
          <p:cNvSpPr txBox="1"/>
          <p:nvPr/>
        </p:nvSpPr>
        <p:spPr>
          <a:xfrm>
            <a:off x="4799668" y="1502063"/>
            <a:ext cx="16148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up_proj_out &lt;= 0;</a:t>
            </a:r>
            <a:endParaRPr lang="en-IN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31DEE7-F108-E85E-2E3F-25D47924B06D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810518" y="2058930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3CE1CEA6-8564-1557-5CEF-6DB616964EA3}"/>
              </a:ext>
            </a:extLst>
          </p:cNvPr>
          <p:cNvSpPr/>
          <p:nvPr/>
        </p:nvSpPr>
        <p:spPr>
          <a:xfrm>
            <a:off x="3171764" y="2345176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31215-006D-0CB9-BA26-732A64C92FA4}"/>
              </a:ext>
            </a:extLst>
          </p:cNvPr>
          <p:cNvSpPr txBox="1"/>
          <p:nvPr/>
        </p:nvSpPr>
        <p:spPr>
          <a:xfrm>
            <a:off x="3329746" y="2552737"/>
            <a:ext cx="1119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valid_s2 = 1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12C9F-8AE1-92BA-A6BD-BBF213937769}"/>
              </a:ext>
            </a:extLst>
          </p:cNvPr>
          <p:cNvSpPr txBox="1"/>
          <p:nvPr/>
        </p:nvSpPr>
        <p:spPr>
          <a:xfrm>
            <a:off x="3973518" y="2012219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59287-BCF9-D545-DC47-89EBCA57A46C}"/>
              </a:ext>
            </a:extLst>
          </p:cNvPr>
          <p:cNvSpPr txBox="1"/>
          <p:nvPr/>
        </p:nvSpPr>
        <p:spPr>
          <a:xfrm>
            <a:off x="4311189" y="1160470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  <a:endParaRPr lang="en-IN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2792BE-4F6A-A861-278A-058F954D4CAE}"/>
              </a:ext>
            </a:extLst>
          </p:cNvPr>
          <p:cNvCxnSpPr>
            <a:cxnSpLocks/>
          </p:cNvCxnSpPr>
          <p:nvPr/>
        </p:nvCxnSpPr>
        <p:spPr>
          <a:xfrm flipH="1">
            <a:off x="3810516" y="3051977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B4608C-7EDB-CA53-A379-41A8F0868510}"/>
              </a:ext>
            </a:extLst>
          </p:cNvPr>
          <p:cNvSpPr txBox="1"/>
          <p:nvPr/>
        </p:nvSpPr>
        <p:spPr>
          <a:xfrm>
            <a:off x="3215210" y="3325700"/>
            <a:ext cx="119061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initialize i=0;</a:t>
            </a:r>
            <a:endParaRPr lang="en-I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B1B0EA-174B-9CA6-1BD9-8EF0BC095A4F}"/>
              </a:ext>
            </a:extLst>
          </p:cNvPr>
          <p:cNvCxnSpPr>
            <a:cxnSpLocks/>
          </p:cNvCxnSpPr>
          <p:nvPr/>
        </p:nvCxnSpPr>
        <p:spPr>
          <a:xfrm flipH="1">
            <a:off x="3810516" y="3623416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19C7C51-CE7C-15D7-68AC-E58EFD45C6FE}"/>
              </a:ext>
            </a:extLst>
          </p:cNvPr>
          <p:cNvSpPr txBox="1"/>
          <p:nvPr/>
        </p:nvSpPr>
        <p:spPr>
          <a:xfrm>
            <a:off x="3215210" y="3897139"/>
            <a:ext cx="119061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up_acc = 0;</a:t>
            </a:r>
            <a:endParaRPr lang="en-IN" sz="1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F682BB-81D3-D7BC-415C-8392C2147E43}"/>
              </a:ext>
            </a:extLst>
          </p:cNvPr>
          <p:cNvCxnSpPr>
            <a:cxnSpLocks/>
          </p:cNvCxnSpPr>
          <p:nvPr/>
        </p:nvCxnSpPr>
        <p:spPr>
          <a:xfrm flipH="1">
            <a:off x="3853966" y="4194855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7AC5B22-FED4-E56F-9438-430A6BCBC203}"/>
              </a:ext>
            </a:extLst>
          </p:cNvPr>
          <p:cNvSpPr txBox="1"/>
          <p:nvPr/>
        </p:nvSpPr>
        <p:spPr>
          <a:xfrm>
            <a:off x="3258660" y="4468578"/>
            <a:ext cx="119061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initialize j=0;</a:t>
            </a:r>
            <a:endParaRPr lang="en-IN" sz="1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6073AC-3BD3-9DCC-284B-5FF6D2F28409}"/>
              </a:ext>
            </a:extLst>
          </p:cNvPr>
          <p:cNvCxnSpPr>
            <a:cxnSpLocks/>
          </p:cNvCxnSpPr>
          <p:nvPr/>
        </p:nvCxnSpPr>
        <p:spPr>
          <a:xfrm flipH="1">
            <a:off x="3843323" y="4776355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A829413-1CC5-4DA4-8CBA-A3DD5FD6AC2D}"/>
              </a:ext>
            </a:extLst>
          </p:cNvPr>
          <p:cNvSpPr txBox="1"/>
          <p:nvPr/>
        </p:nvSpPr>
        <p:spPr>
          <a:xfrm>
            <a:off x="1813235" y="5053085"/>
            <a:ext cx="405599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up_mult = row_in_elements[j] * up_w_matrix[i][j];</a:t>
            </a:r>
          </a:p>
          <a:p>
            <a:r>
              <a:rPr lang="en-US" sz="1400" dirty="0"/>
              <a:t>up_acc  = up_acc + (up_mult &gt;&gt;&gt; FRAC_BIT);</a:t>
            </a:r>
            <a:endParaRPr lang="en-IN" sz="1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37161C-445A-C8B9-073B-0FC05CF83E5C}"/>
              </a:ext>
            </a:extLst>
          </p:cNvPr>
          <p:cNvCxnSpPr>
            <a:cxnSpLocks/>
          </p:cNvCxnSpPr>
          <p:nvPr/>
        </p:nvCxnSpPr>
        <p:spPr>
          <a:xfrm flipH="1">
            <a:off x="3864852" y="5582317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amond 24">
            <a:extLst>
              <a:ext uri="{FF2B5EF4-FFF2-40B4-BE49-F238E27FC236}">
                <a16:creationId xmlns:a16="http://schemas.microsoft.com/office/drawing/2014/main" id="{43E43C7F-D704-3A38-F3FD-F9DC8DBAD555}"/>
              </a:ext>
            </a:extLst>
          </p:cNvPr>
          <p:cNvSpPr/>
          <p:nvPr/>
        </p:nvSpPr>
        <p:spPr>
          <a:xfrm>
            <a:off x="7579096" y="5576305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4EF2E0-FB88-FCCD-025F-DABF4A99C32A}"/>
              </a:ext>
            </a:extLst>
          </p:cNvPr>
          <p:cNvSpPr txBox="1"/>
          <p:nvPr/>
        </p:nvSpPr>
        <p:spPr>
          <a:xfrm>
            <a:off x="7873848" y="5790658"/>
            <a:ext cx="927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j &lt; N</a:t>
            </a:r>
            <a:endParaRPr lang="en-IN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46A45F-6E84-99B6-48BF-041A4D3DF8F8}"/>
              </a:ext>
            </a:extLst>
          </p:cNvPr>
          <p:cNvSpPr txBox="1"/>
          <p:nvPr/>
        </p:nvSpPr>
        <p:spPr>
          <a:xfrm>
            <a:off x="3485698" y="5868563"/>
            <a:ext cx="75830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j=j+1;</a:t>
            </a:r>
            <a:endParaRPr lang="en-IN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AA2E35-6733-DEC4-951C-58AFE58E9C27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8207206" y="4914241"/>
            <a:ext cx="21121" cy="678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268B56-D682-56E4-EB40-F7668DA1BB8B}"/>
              </a:ext>
            </a:extLst>
          </p:cNvPr>
          <p:cNvSpPr txBox="1"/>
          <p:nvPr/>
        </p:nvSpPr>
        <p:spPr>
          <a:xfrm>
            <a:off x="6203022" y="4606464"/>
            <a:ext cx="405060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up_proj_out[i*BIT_WIDTH +: BIT_WIDTH] &lt;= up_acc;</a:t>
            </a:r>
            <a:endParaRPr lang="en-IN" sz="1400" dirty="0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6ED27FD4-F2B4-4F8E-9DC9-6FE7AF4A750F}"/>
              </a:ext>
            </a:extLst>
          </p:cNvPr>
          <p:cNvSpPr/>
          <p:nvPr/>
        </p:nvSpPr>
        <p:spPr>
          <a:xfrm>
            <a:off x="7551445" y="2885087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5091C5-73EC-095F-E1AD-97D73F4DE539}"/>
              </a:ext>
            </a:extLst>
          </p:cNvPr>
          <p:cNvSpPr txBox="1"/>
          <p:nvPr/>
        </p:nvSpPr>
        <p:spPr>
          <a:xfrm>
            <a:off x="7846197" y="3099440"/>
            <a:ext cx="927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i &lt; N</a:t>
            </a:r>
            <a:endParaRPr lang="en-IN" sz="1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525EBE-52B2-45D0-8AB4-D6665B658632}"/>
              </a:ext>
            </a:extLst>
          </p:cNvPr>
          <p:cNvCxnSpPr>
            <a:cxnSpLocks/>
          </p:cNvCxnSpPr>
          <p:nvPr/>
        </p:nvCxnSpPr>
        <p:spPr>
          <a:xfrm flipV="1">
            <a:off x="8179555" y="2358860"/>
            <a:ext cx="0" cy="5429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6AFA59-7B8B-9588-4126-228F0BB3155E}"/>
              </a:ext>
            </a:extLst>
          </p:cNvPr>
          <p:cNvCxnSpPr>
            <a:cxnSpLocks/>
          </p:cNvCxnSpPr>
          <p:nvPr/>
        </p:nvCxnSpPr>
        <p:spPr>
          <a:xfrm flipV="1">
            <a:off x="8190478" y="3658932"/>
            <a:ext cx="0" cy="2675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7B019A9-1C99-8FAD-B132-0E59934EA5C0}"/>
              </a:ext>
            </a:extLst>
          </p:cNvPr>
          <p:cNvSpPr/>
          <p:nvPr/>
        </p:nvSpPr>
        <p:spPr>
          <a:xfrm>
            <a:off x="1934061" y="1467107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B1209A-0D28-6E56-9112-E6DE0764735E}"/>
              </a:ext>
            </a:extLst>
          </p:cNvPr>
          <p:cNvSpPr txBox="1"/>
          <p:nvPr/>
        </p:nvSpPr>
        <p:spPr>
          <a:xfrm>
            <a:off x="2077236" y="1536798"/>
            <a:ext cx="537966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Start</a:t>
            </a:r>
            <a:endParaRPr lang="en-IN" sz="14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52A60CA-F3BE-A363-2EC5-9460D257A360}"/>
              </a:ext>
            </a:extLst>
          </p:cNvPr>
          <p:cNvSpPr/>
          <p:nvPr/>
        </p:nvSpPr>
        <p:spPr>
          <a:xfrm>
            <a:off x="7792624" y="1897895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3057C8-328E-6FEE-2595-410BCB24B183}"/>
              </a:ext>
            </a:extLst>
          </p:cNvPr>
          <p:cNvSpPr txBox="1"/>
          <p:nvPr/>
        </p:nvSpPr>
        <p:spPr>
          <a:xfrm>
            <a:off x="7928276" y="1943712"/>
            <a:ext cx="692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Stop</a:t>
            </a:r>
            <a:endParaRPr lang="en-IN" sz="14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637DA15-1884-A252-9A94-7C0B89FF6B46}"/>
              </a:ext>
            </a:extLst>
          </p:cNvPr>
          <p:cNvCxnSpPr>
            <a:cxnSpLocks/>
          </p:cNvCxnSpPr>
          <p:nvPr/>
        </p:nvCxnSpPr>
        <p:spPr>
          <a:xfrm>
            <a:off x="2879106" y="1655951"/>
            <a:ext cx="292658" cy="10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9F69A5D-897F-5F21-E84C-D31414F07ABE}"/>
              </a:ext>
            </a:extLst>
          </p:cNvPr>
          <p:cNvSpPr txBox="1"/>
          <p:nvPr/>
        </p:nvSpPr>
        <p:spPr>
          <a:xfrm>
            <a:off x="8355725" y="2528002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I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DDF6AF-0423-ADA3-4351-D249D09A661A}"/>
              </a:ext>
            </a:extLst>
          </p:cNvPr>
          <p:cNvSpPr txBox="1"/>
          <p:nvPr/>
        </p:nvSpPr>
        <p:spPr>
          <a:xfrm>
            <a:off x="6912691" y="2894402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7E0209-5854-A168-E5D8-BD819207C33D}"/>
              </a:ext>
            </a:extLst>
          </p:cNvPr>
          <p:cNvSpPr txBox="1"/>
          <p:nvPr/>
        </p:nvSpPr>
        <p:spPr>
          <a:xfrm>
            <a:off x="8335927" y="5252753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IN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2E9A74-8277-3AAD-4A85-C09B0B477B22}"/>
              </a:ext>
            </a:extLst>
          </p:cNvPr>
          <p:cNvSpPr txBox="1"/>
          <p:nvPr/>
        </p:nvSpPr>
        <p:spPr>
          <a:xfrm>
            <a:off x="7292766" y="5260640"/>
            <a:ext cx="530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  <a:endParaRPr lang="en-IN" sz="14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84BA591-3EB4-9F09-9847-CFF673A50CCC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864852" y="6176340"/>
            <a:ext cx="10643" cy="377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1A37054-5028-D9AB-9CB4-02641433954A}"/>
              </a:ext>
            </a:extLst>
          </p:cNvPr>
          <p:cNvCxnSpPr>
            <a:cxnSpLocks/>
          </p:cNvCxnSpPr>
          <p:nvPr/>
        </p:nvCxnSpPr>
        <p:spPr>
          <a:xfrm flipH="1">
            <a:off x="3875495" y="6553764"/>
            <a:ext cx="43157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859EA68-E66B-BBE8-1F17-794C4B7F9952}"/>
              </a:ext>
            </a:extLst>
          </p:cNvPr>
          <p:cNvCxnSpPr>
            <a:cxnSpLocks/>
          </p:cNvCxnSpPr>
          <p:nvPr/>
        </p:nvCxnSpPr>
        <p:spPr>
          <a:xfrm flipV="1">
            <a:off x="8191241" y="6286171"/>
            <a:ext cx="10644" cy="267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E03C184-0CFE-D061-F71E-48F75BFF71D4}"/>
              </a:ext>
            </a:extLst>
          </p:cNvPr>
          <p:cNvCxnSpPr>
            <a:cxnSpLocks/>
          </p:cNvCxnSpPr>
          <p:nvPr/>
        </p:nvCxnSpPr>
        <p:spPr>
          <a:xfrm flipH="1" flipV="1">
            <a:off x="5869228" y="5414528"/>
            <a:ext cx="1709868" cy="530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2FFE379-125B-D4AB-C3B0-FA318B71ED7A}"/>
              </a:ext>
            </a:extLst>
          </p:cNvPr>
          <p:cNvCxnSpPr>
            <a:cxnSpLocks/>
            <a:stCxn id="35" idx="1"/>
            <a:endCxn id="19" idx="3"/>
          </p:cNvCxnSpPr>
          <p:nvPr/>
        </p:nvCxnSpPr>
        <p:spPr>
          <a:xfrm flipH="1">
            <a:off x="4405821" y="3253330"/>
            <a:ext cx="3145624" cy="7976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76AD45A-5521-FE3A-4223-6E237D08E77E}"/>
              </a:ext>
            </a:extLst>
          </p:cNvPr>
          <p:cNvSpPr txBox="1"/>
          <p:nvPr/>
        </p:nvSpPr>
        <p:spPr>
          <a:xfrm>
            <a:off x="7825040" y="3905361"/>
            <a:ext cx="75830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i=i+1;</a:t>
            </a:r>
            <a:endParaRPr lang="en-IN" sz="14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B7F8F5-D03C-E4A6-5F27-5B2AC6F3E4A0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8179555" y="4213138"/>
            <a:ext cx="24639" cy="377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207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A2FFA-2C77-DF52-1E1B-E846143D9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28" y="86811"/>
            <a:ext cx="10440224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STAGE 3: ReLU Activation Function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764648-857A-9CFD-74F2-C5BB6A3A7EBE}"/>
              </a:ext>
            </a:extLst>
          </p:cNvPr>
          <p:cNvSpPr/>
          <p:nvPr/>
        </p:nvSpPr>
        <p:spPr>
          <a:xfrm>
            <a:off x="691306" y="1690688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3A0F7-157A-6129-21D1-ACCF53DAD00C}"/>
              </a:ext>
            </a:extLst>
          </p:cNvPr>
          <p:cNvSpPr txBox="1"/>
          <p:nvPr/>
        </p:nvSpPr>
        <p:spPr>
          <a:xfrm>
            <a:off x="834481" y="1760379"/>
            <a:ext cx="537966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Start</a:t>
            </a:r>
            <a:endParaRPr lang="en-IN" sz="1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8E73B5-C9D6-985D-6FB2-0354D7BB1956}"/>
              </a:ext>
            </a:extLst>
          </p:cNvPr>
          <p:cNvCxnSpPr>
            <a:cxnSpLocks/>
          </p:cNvCxnSpPr>
          <p:nvPr/>
        </p:nvCxnSpPr>
        <p:spPr>
          <a:xfrm>
            <a:off x="1636351" y="1879532"/>
            <a:ext cx="292658" cy="10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mond 6">
            <a:extLst>
              <a:ext uri="{FF2B5EF4-FFF2-40B4-BE49-F238E27FC236}">
                <a16:creationId xmlns:a16="http://schemas.microsoft.com/office/drawing/2014/main" id="{0A62A50C-6B3C-D1D8-028B-68AF9A1846EE}"/>
              </a:ext>
            </a:extLst>
          </p:cNvPr>
          <p:cNvSpPr/>
          <p:nvPr/>
        </p:nvSpPr>
        <p:spPr>
          <a:xfrm>
            <a:off x="1953667" y="1511069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5CD4D-77BE-DD6A-E15D-72253DBCB37A}"/>
              </a:ext>
            </a:extLst>
          </p:cNvPr>
          <p:cNvSpPr txBox="1"/>
          <p:nvPr/>
        </p:nvSpPr>
        <p:spPr>
          <a:xfrm>
            <a:off x="2304063" y="1690688"/>
            <a:ext cx="650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rst = 0</a:t>
            </a:r>
            <a:endParaRPr lang="en-IN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9EC864-C621-EB5F-15DF-6A5E6FBCCC45}"/>
              </a:ext>
            </a:extLst>
          </p:cNvPr>
          <p:cNvCxnSpPr>
            <a:cxnSpLocks/>
          </p:cNvCxnSpPr>
          <p:nvPr/>
        </p:nvCxnSpPr>
        <p:spPr>
          <a:xfrm>
            <a:off x="3231174" y="1879311"/>
            <a:ext cx="286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095D79-6D40-CF4B-731A-F70121251E91}"/>
              </a:ext>
            </a:extLst>
          </p:cNvPr>
          <p:cNvSpPr txBox="1"/>
          <p:nvPr/>
        </p:nvSpPr>
        <p:spPr>
          <a:xfrm>
            <a:off x="3581571" y="1690687"/>
            <a:ext cx="96243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relu_out &lt;= 0;</a:t>
            </a:r>
            <a:endParaRPr lang="en-IN" sz="10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D17E4E-B2FF-DC41-E827-483E7E941197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592420" y="2247554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B71504-9F0C-571A-9F45-7E3FF55E6DD2}"/>
              </a:ext>
            </a:extLst>
          </p:cNvPr>
          <p:cNvSpPr txBox="1"/>
          <p:nvPr/>
        </p:nvSpPr>
        <p:spPr>
          <a:xfrm>
            <a:off x="2828047" y="3171691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BDFE6-3766-4E41-BBB5-F4EA05641433}"/>
              </a:ext>
            </a:extLst>
          </p:cNvPr>
          <p:cNvSpPr txBox="1"/>
          <p:nvPr/>
        </p:nvSpPr>
        <p:spPr>
          <a:xfrm>
            <a:off x="3093091" y="1327210"/>
            <a:ext cx="35765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A141D3AE-5EA7-3FA1-2E4C-8351CD96440C}"/>
              </a:ext>
            </a:extLst>
          </p:cNvPr>
          <p:cNvSpPr/>
          <p:nvPr/>
        </p:nvSpPr>
        <p:spPr>
          <a:xfrm>
            <a:off x="1953666" y="2521277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801A7-7027-CE8C-DE9D-2ABE6A2FCBC5}"/>
              </a:ext>
            </a:extLst>
          </p:cNvPr>
          <p:cNvSpPr txBox="1"/>
          <p:nvPr/>
        </p:nvSpPr>
        <p:spPr>
          <a:xfrm>
            <a:off x="2111648" y="2728838"/>
            <a:ext cx="11195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valid_s3 = 1</a:t>
            </a:r>
            <a:endParaRPr lang="en-IN" sz="1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A5BAA9-6CFB-772F-912F-2268805F762D}"/>
              </a:ext>
            </a:extLst>
          </p:cNvPr>
          <p:cNvCxnSpPr>
            <a:cxnSpLocks/>
          </p:cNvCxnSpPr>
          <p:nvPr/>
        </p:nvCxnSpPr>
        <p:spPr>
          <a:xfrm flipH="1">
            <a:off x="2603374" y="3242817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5EB70A-F0E9-0835-543A-53BAC00298D1}"/>
              </a:ext>
            </a:extLst>
          </p:cNvPr>
          <p:cNvSpPr txBox="1"/>
          <p:nvPr/>
        </p:nvSpPr>
        <p:spPr>
          <a:xfrm>
            <a:off x="1828755" y="2185192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38DF9-C893-E888-563B-AD8A7DF0D2D0}"/>
              </a:ext>
            </a:extLst>
          </p:cNvPr>
          <p:cNvSpPr txBox="1"/>
          <p:nvPr/>
        </p:nvSpPr>
        <p:spPr>
          <a:xfrm>
            <a:off x="1997114" y="3547286"/>
            <a:ext cx="11906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 initialize k=0;</a:t>
            </a:r>
            <a:endParaRPr lang="en-IN" sz="1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150063-84D0-998B-6D49-6AB66AD35C62}"/>
              </a:ext>
            </a:extLst>
          </p:cNvPr>
          <p:cNvCxnSpPr>
            <a:cxnSpLocks/>
          </p:cNvCxnSpPr>
          <p:nvPr/>
        </p:nvCxnSpPr>
        <p:spPr>
          <a:xfrm flipH="1">
            <a:off x="2592420" y="3845002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030E03D-8FF4-8D52-91EC-3A221208BEF3}"/>
              </a:ext>
            </a:extLst>
          </p:cNvPr>
          <p:cNvSpPr txBox="1"/>
          <p:nvPr/>
        </p:nvSpPr>
        <p:spPr>
          <a:xfrm>
            <a:off x="1067470" y="5708347"/>
            <a:ext cx="336456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relu_out[k*BIT_WIDTH +: BIT_WIDTH] &lt;= {BIT_WIDTH{1'b0}};</a:t>
            </a:r>
          </a:p>
          <a:p>
            <a:r>
              <a:rPr lang="en-IN" sz="1000" dirty="0"/>
              <a:t>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136B31-FE11-A08A-E47E-CF8A10C4B789}"/>
              </a:ext>
            </a:extLst>
          </p:cNvPr>
          <p:cNvSpPr txBox="1"/>
          <p:nvPr/>
        </p:nvSpPr>
        <p:spPr>
          <a:xfrm>
            <a:off x="6722248" y="2465573"/>
            <a:ext cx="75830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k=k+1;</a:t>
            </a:r>
            <a:endParaRPr lang="en-IN" sz="1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1533F0-5289-BF2E-A699-2B3ECC56505D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2603374" y="5313410"/>
            <a:ext cx="615" cy="3728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39F6FC-C068-4D15-2ED2-9F191C995B3E}"/>
              </a:ext>
            </a:extLst>
          </p:cNvPr>
          <p:cNvSpPr txBox="1"/>
          <p:nvPr/>
        </p:nvSpPr>
        <p:spPr>
          <a:xfrm>
            <a:off x="1782680" y="5335543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B79C099A-D905-91E6-9451-0B7AAF95EDC9}"/>
              </a:ext>
            </a:extLst>
          </p:cNvPr>
          <p:cNvSpPr/>
          <p:nvPr/>
        </p:nvSpPr>
        <p:spPr>
          <a:xfrm>
            <a:off x="1475742" y="4143505"/>
            <a:ext cx="2256494" cy="116990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BD0EA-D616-158C-F4FC-CE85F0785505}"/>
              </a:ext>
            </a:extLst>
          </p:cNvPr>
          <p:cNvSpPr txBox="1"/>
          <p:nvPr/>
        </p:nvSpPr>
        <p:spPr>
          <a:xfrm>
            <a:off x="1633724" y="4525021"/>
            <a:ext cx="191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up_proj_elements[k][BIT_WIDTH - 1] == 1'b1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6365CC-7644-991A-6F53-FD3266559D58}"/>
              </a:ext>
            </a:extLst>
          </p:cNvPr>
          <p:cNvCxnSpPr>
            <a:cxnSpLocks/>
          </p:cNvCxnSpPr>
          <p:nvPr/>
        </p:nvCxnSpPr>
        <p:spPr>
          <a:xfrm>
            <a:off x="3732236" y="4735146"/>
            <a:ext cx="2968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E0878E-C71A-FDA5-EF4F-4B001ED7E61F}"/>
              </a:ext>
            </a:extLst>
          </p:cNvPr>
          <p:cNvSpPr txBox="1"/>
          <p:nvPr/>
        </p:nvSpPr>
        <p:spPr>
          <a:xfrm>
            <a:off x="4029098" y="4548765"/>
            <a:ext cx="235304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relu_out[k*BIT_WIDTH +: BIT_WIDTH] &lt;= up_proj_elements[k];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6214F7-FFFD-3F83-064A-A928C28DB157}"/>
              </a:ext>
            </a:extLst>
          </p:cNvPr>
          <p:cNvCxnSpPr>
            <a:cxnSpLocks/>
          </p:cNvCxnSpPr>
          <p:nvPr/>
        </p:nvCxnSpPr>
        <p:spPr>
          <a:xfrm flipH="1">
            <a:off x="7041047" y="3452550"/>
            <a:ext cx="615" cy="30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57347F-AF8A-EF00-CB92-D24650159107}"/>
              </a:ext>
            </a:extLst>
          </p:cNvPr>
          <p:cNvCxnSpPr>
            <a:cxnSpLocks/>
          </p:cNvCxnSpPr>
          <p:nvPr/>
        </p:nvCxnSpPr>
        <p:spPr>
          <a:xfrm>
            <a:off x="3220446" y="2882761"/>
            <a:ext cx="2968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534D65-E482-D90B-EE9C-FE4CAB95AF0C}"/>
              </a:ext>
            </a:extLst>
          </p:cNvPr>
          <p:cNvSpPr txBox="1"/>
          <p:nvPr/>
        </p:nvSpPr>
        <p:spPr>
          <a:xfrm>
            <a:off x="3517308" y="2728838"/>
            <a:ext cx="111951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remain in stage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3CC428-29B3-A870-E36B-9C111045AED3}"/>
              </a:ext>
            </a:extLst>
          </p:cNvPr>
          <p:cNvSpPr txBox="1"/>
          <p:nvPr/>
        </p:nvSpPr>
        <p:spPr>
          <a:xfrm>
            <a:off x="3093090" y="2317002"/>
            <a:ext cx="42421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BDDEB8-1965-6DFA-C76E-0F7125A654A1}"/>
              </a:ext>
            </a:extLst>
          </p:cNvPr>
          <p:cNvSpPr txBox="1"/>
          <p:nvPr/>
        </p:nvSpPr>
        <p:spPr>
          <a:xfrm>
            <a:off x="3606852" y="4291456"/>
            <a:ext cx="37702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CB935B1-BB6E-75BE-45D8-78526F465DDF}"/>
              </a:ext>
            </a:extLst>
          </p:cNvPr>
          <p:cNvCxnSpPr>
            <a:cxnSpLocks/>
            <a:stCxn id="45" idx="1"/>
            <a:endCxn id="24" idx="0"/>
          </p:cNvCxnSpPr>
          <p:nvPr/>
        </p:nvCxnSpPr>
        <p:spPr>
          <a:xfrm flipH="1">
            <a:off x="2603989" y="3254015"/>
            <a:ext cx="4070895" cy="889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878A379-3AC1-4297-2493-BA86503097E5}"/>
              </a:ext>
            </a:extLst>
          </p:cNvPr>
          <p:cNvCxnSpPr>
            <a:cxnSpLocks/>
          </p:cNvCxnSpPr>
          <p:nvPr/>
        </p:nvCxnSpPr>
        <p:spPr>
          <a:xfrm>
            <a:off x="2579031" y="6119362"/>
            <a:ext cx="10643" cy="3774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73457E-7A58-404F-6D7E-97FDDC738E55}"/>
              </a:ext>
            </a:extLst>
          </p:cNvPr>
          <p:cNvCxnSpPr>
            <a:cxnSpLocks/>
          </p:cNvCxnSpPr>
          <p:nvPr/>
        </p:nvCxnSpPr>
        <p:spPr>
          <a:xfrm flipH="1" flipV="1">
            <a:off x="2571757" y="6496786"/>
            <a:ext cx="5386701" cy="4023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3F4D1BD-A511-7EE3-D9D1-347B08CE1828}"/>
              </a:ext>
            </a:extLst>
          </p:cNvPr>
          <p:cNvCxnSpPr>
            <a:cxnSpLocks/>
          </p:cNvCxnSpPr>
          <p:nvPr/>
        </p:nvCxnSpPr>
        <p:spPr>
          <a:xfrm>
            <a:off x="7958458" y="2243965"/>
            <a:ext cx="0" cy="429305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iamond 44">
            <a:extLst>
              <a:ext uri="{FF2B5EF4-FFF2-40B4-BE49-F238E27FC236}">
                <a16:creationId xmlns:a16="http://schemas.microsoft.com/office/drawing/2014/main" id="{A9C81498-0AF1-2272-19B5-3571A00DE958}"/>
              </a:ext>
            </a:extLst>
          </p:cNvPr>
          <p:cNvSpPr/>
          <p:nvPr/>
        </p:nvSpPr>
        <p:spPr>
          <a:xfrm>
            <a:off x="6674884" y="3053959"/>
            <a:ext cx="732941" cy="40011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BC58EC-30F9-B5FB-CC12-FF3F3103BF8B}"/>
              </a:ext>
            </a:extLst>
          </p:cNvPr>
          <p:cNvSpPr txBox="1"/>
          <p:nvPr/>
        </p:nvSpPr>
        <p:spPr>
          <a:xfrm>
            <a:off x="6863698" y="3092282"/>
            <a:ext cx="424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k&lt;n</a:t>
            </a:r>
            <a:endParaRPr lang="en-IN" sz="10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090C95-27DD-879F-9144-58763A58D9A9}"/>
              </a:ext>
            </a:extLst>
          </p:cNvPr>
          <p:cNvCxnSpPr>
            <a:cxnSpLocks/>
          </p:cNvCxnSpPr>
          <p:nvPr/>
        </p:nvCxnSpPr>
        <p:spPr>
          <a:xfrm>
            <a:off x="7045470" y="2739026"/>
            <a:ext cx="0" cy="3056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1253E3D-4880-C22C-292A-C7B01C87119B}"/>
              </a:ext>
            </a:extLst>
          </p:cNvPr>
          <p:cNvCxnSpPr>
            <a:cxnSpLocks/>
          </p:cNvCxnSpPr>
          <p:nvPr/>
        </p:nvCxnSpPr>
        <p:spPr>
          <a:xfrm flipH="1">
            <a:off x="7119257" y="2243965"/>
            <a:ext cx="839201" cy="87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7A6D636-FD57-5858-601D-1A64B3066661}"/>
              </a:ext>
            </a:extLst>
          </p:cNvPr>
          <p:cNvCxnSpPr>
            <a:cxnSpLocks/>
          </p:cNvCxnSpPr>
          <p:nvPr/>
        </p:nvCxnSpPr>
        <p:spPr>
          <a:xfrm>
            <a:off x="7119257" y="2247554"/>
            <a:ext cx="0" cy="221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7834416-8931-0CD9-C4C3-70A17353D4BA}"/>
              </a:ext>
            </a:extLst>
          </p:cNvPr>
          <p:cNvSpPr txBox="1"/>
          <p:nvPr/>
        </p:nvSpPr>
        <p:spPr>
          <a:xfrm>
            <a:off x="6022815" y="3757085"/>
            <a:ext cx="187020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down_bram_addr = tile_idx_s3; 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2D6ACD4-7351-C3DA-4595-E5A1F2EE536A}"/>
              </a:ext>
            </a:extLst>
          </p:cNvPr>
          <p:cNvSpPr/>
          <p:nvPr/>
        </p:nvSpPr>
        <p:spPr>
          <a:xfrm>
            <a:off x="6637315" y="4291456"/>
            <a:ext cx="770509" cy="3419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97C3F7-7DA9-AEB7-3EBB-3DD52A596D03}"/>
              </a:ext>
            </a:extLst>
          </p:cNvPr>
          <p:cNvSpPr txBox="1"/>
          <p:nvPr/>
        </p:nvSpPr>
        <p:spPr>
          <a:xfrm>
            <a:off x="6780490" y="4332934"/>
            <a:ext cx="478165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stop</a:t>
            </a:r>
            <a:endParaRPr lang="en-IN" sz="10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320135F-82B5-9D11-33B0-55B9FAB4D363}"/>
              </a:ext>
            </a:extLst>
          </p:cNvPr>
          <p:cNvCxnSpPr>
            <a:cxnSpLocks/>
          </p:cNvCxnSpPr>
          <p:nvPr/>
        </p:nvCxnSpPr>
        <p:spPr>
          <a:xfrm flipH="1">
            <a:off x="7019281" y="3961610"/>
            <a:ext cx="615" cy="30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B19DCFF-E2A3-43F4-AFF6-C548C5FC2F5C}"/>
              </a:ext>
            </a:extLst>
          </p:cNvPr>
          <p:cNvSpPr txBox="1"/>
          <p:nvPr/>
        </p:nvSpPr>
        <p:spPr>
          <a:xfrm>
            <a:off x="7155804" y="3454031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7B630E-F341-C4CF-56F0-68C78DB2EE31}"/>
              </a:ext>
            </a:extLst>
          </p:cNvPr>
          <p:cNvSpPr txBox="1"/>
          <p:nvPr/>
        </p:nvSpPr>
        <p:spPr>
          <a:xfrm>
            <a:off x="6183207" y="2965865"/>
            <a:ext cx="37702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953601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F96F-0937-8AA5-AAC8-C711ABCA9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95" y="146174"/>
            <a:ext cx="11650163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STAGE 4: Down Projection &amp; Accumulation Bank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C1CA3B-45DF-9BBC-9339-D5C422322ADA}"/>
              </a:ext>
            </a:extLst>
          </p:cNvPr>
          <p:cNvSpPr/>
          <p:nvPr/>
        </p:nvSpPr>
        <p:spPr>
          <a:xfrm>
            <a:off x="130836" y="2067723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E24C7-E07C-49E6-8E90-2433734A9161}"/>
              </a:ext>
            </a:extLst>
          </p:cNvPr>
          <p:cNvSpPr txBox="1"/>
          <p:nvPr/>
        </p:nvSpPr>
        <p:spPr>
          <a:xfrm>
            <a:off x="274011" y="2137414"/>
            <a:ext cx="537966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Start</a:t>
            </a:r>
            <a:endParaRPr lang="en-IN" sz="1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AA24B4-8FD1-72D1-F379-C0B1E403E161}"/>
              </a:ext>
            </a:extLst>
          </p:cNvPr>
          <p:cNvCxnSpPr>
            <a:cxnSpLocks/>
          </p:cNvCxnSpPr>
          <p:nvPr/>
        </p:nvCxnSpPr>
        <p:spPr>
          <a:xfrm>
            <a:off x="1075881" y="2256567"/>
            <a:ext cx="292658" cy="10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mond 6">
            <a:extLst>
              <a:ext uri="{FF2B5EF4-FFF2-40B4-BE49-F238E27FC236}">
                <a16:creationId xmlns:a16="http://schemas.microsoft.com/office/drawing/2014/main" id="{6A666779-8418-BC05-E3A0-275883172653}"/>
              </a:ext>
            </a:extLst>
          </p:cNvPr>
          <p:cNvSpPr/>
          <p:nvPr/>
        </p:nvSpPr>
        <p:spPr>
          <a:xfrm>
            <a:off x="1393197" y="1888104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1F5F6-1F78-1082-345F-2ED11F5A83E4}"/>
              </a:ext>
            </a:extLst>
          </p:cNvPr>
          <p:cNvSpPr txBox="1"/>
          <p:nvPr/>
        </p:nvSpPr>
        <p:spPr>
          <a:xfrm>
            <a:off x="1743593" y="2067723"/>
            <a:ext cx="650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rst = 0</a:t>
            </a:r>
            <a:endParaRPr lang="en-IN" sz="1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31634B-35EE-C9E1-1180-B60E43FA1AB6}"/>
              </a:ext>
            </a:extLst>
          </p:cNvPr>
          <p:cNvCxnSpPr>
            <a:cxnSpLocks/>
          </p:cNvCxnSpPr>
          <p:nvPr/>
        </p:nvCxnSpPr>
        <p:spPr>
          <a:xfrm>
            <a:off x="2670704" y="2256346"/>
            <a:ext cx="286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490DC8-E81E-8C71-B4AE-DB6FF4D52900}"/>
              </a:ext>
            </a:extLst>
          </p:cNvPr>
          <p:cNvSpPr txBox="1"/>
          <p:nvPr/>
        </p:nvSpPr>
        <p:spPr>
          <a:xfrm>
            <a:off x="2965040" y="2058908"/>
            <a:ext cx="153223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accumulator_bank &lt;= 0;</a:t>
            </a:r>
            <a:endParaRPr lang="en-IN" sz="10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0F41D9-9827-613C-7FED-203E571CF56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031950" y="2624589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78108D-1A2A-5931-82FC-1C64F25B048F}"/>
              </a:ext>
            </a:extLst>
          </p:cNvPr>
          <p:cNvSpPr txBox="1"/>
          <p:nvPr/>
        </p:nvSpPr>
        <p:spPr>
          <a:xfrm>
            <a:off x="2575288" y="1956788"/>
            <a:ext cx="44581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BD294-00A1-69EE-D4A0-80ECA2E7C994}"/>
              </a:ext>
            </a:extLst>
          </p:cNvPr>
          <p:cNvSpPr txBox="1"/>
          <p:nvPr/>
        </p:nvSpPr>
        <p:spPr>
          <a:xfrm>
            <a:off x="1556615" y="2562281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BD3F48-2999-2ABC-7AE4-93B6A88F2B44}"/>
              </a:ext>
            </a:extLst>
          </p:cNvPr>
          <p:cNvSpPr txBox="1"/>
          <p:nvPr/>
        </p:nvSpPr>
        <p:spPr>
          <a:xfrm>
            <a:off x="1533328" y="3568195"/>
            <a:ext cx="42421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5E72DC-5CF2-EBC3-2054-7938DAAB19F2}"/>
              </a:ext>
            </a:extLst>
          </p:cNvPr>
          <p:cNvCxnSpPr>
            <a:cxnSpLocks/>
          </p:cNvCxnSpPr>
          <p:nvPr/>
        </p:nvCxnSpPr>
        <p:spPr>
          <a:xfrm>
            <a:off x="2620528" y="3261250"/>
            <a:ext cx="292658" cy="10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mond 15">
            <a:extLst>
              <a:ext uri="{FF2B5EF4-FFF2-40B4-BE49-F238E27FC236}">
                <a16:creationId xmlns:a16="http://schemas.microsoft.com/office/drawing/2014/main" id="{9ED3CDBE-E1A9-FE10-E7FE-4672E8FC7934}"/>
              </a:ext>
            </a:extLst>
          </p:cNvPr>
          <p:cNvSpPr/>
          <p:nvPr/>
        </p:nvSpPr>
        <p:spPr>
          <a:xfrm>
            <a:off x="1393197" y="2898312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AD3AD-D682-7DB8-03C3-6738152A390C}"/>
              </a:ext>
            </a:extLst>
          </p:cNvPr>
          <p:cNvSpPr txBox="1"/>
          <p:nvPr/>
        </p:nvSpPr>
        <p:spPr>
          <a:xfrm>
            <a:off x="1743593" y="3077931"/>
            <a:ext cx="650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start=0</a:t>
            </a:r>
            <a:endParaRPr lang="en-IN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015732-54E4-670C-E87A-7A7F579410A8}"/>
              </a:ext>
            </a:extLst>
          </p:cNvPr>
          <p:cNvSpPr txBox="1"/>
          <p:nvPr/>
        </p:nvSpPr>
        <p:spPr>
          <a:xfrm>
            <a:off x="2952676" y="3124291"/>
            <a:ext cx="163776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accumulator_bank &lt;= 0;</a:t>
            </a:r>
            <a:endParaRPr lang="en-IN" sz="1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3206A-09C1-413C-88D0-0758DFF37723}"/>
              </a:ext>
            </a:extLst>
          </p:cNvPr>
          <p:cNvSpPr txBox="1"/>
          <p:nvPr/>
        </p:nvSpPr>
        <p:spPr>
          <a:xfrm>
            <a:off x="2533181" y="2954820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30F58B-46D9-E53A-34FC-8210E4999E43}"/>
              </a:ext>
            </a:extLst>
          </p:cNvPr>
          <p:cNvCxnSpPr>
            <a:cxnSpLocks/>
          </p:cNvCxnSpPr>
          <p:nvPr/>
        </p:nvCxnSpPr>
        <p:spPr>
          <a:xfrm flipH="1">
            <a:off x="2031950" y="3634797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3F4A0E98-C2FF-A8E7-153E-9D7411457B3C}"/>
              </a:ext>
            </a:extLst>
          </p:cNvPr>
          <p:cNvSpPr/>
          <p:nvPr/>
        </p:nvSpPr>
        <p:spPr>
          <a:xfrm>
            <a:off x="1368539" y="3899514"/>
            <a:ext cx="1277507" cy="736485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6DDF43-CEFC-F47B-36E2-ABA0743A2043}"/>
              </a:ext>
            </a:extLst>
          </p:cNvPr>
          <p:cNvSpPr txBox="1"/>
          <p:nvPr/>
        </p:nvSpPr>
        <p:spPr>
          <a:xfrm>
            <a:off x="1572888" y="4128509"/>
            <a:ext cx="868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valid_s4=1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1D5621-E2BB-8EF9-CEC9-1BC64E345DDC}"/>
              </a:ext>
            </a:extLst>
          </p:cNvPr>
          <p:cNvCxnSpPr>
            <a:cxnSpLocks/>
          </p:cNvCxnSpPr>
          <p:nvPr/>
        </p:nvCxnSpPr>
        <p:spPr>
          <a:xfrm flipH="1">
            <a:off x="2022004" y="4620703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8F2C27-DEAD-A371-281C-8134FE7E3884}"/>
              </a:ext>
            </a:extLst>
          </p:cNvPr>
          <p:cNvSpPr txBox="1"/>
          <p:nvPr/>
        </p:nvSpPr>
        <p:spPr>
          <a:xfrm>
            <a:off x="1425075" y="4915841"/>
            <a:ext cx="11906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 initialize x=0;</a:t>
            </a:r>
            <a:endParaRPr lang="en-IN" sz="1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41E7EC-168C-8FBB-C484-996ECF2EE25A}"/>
              </a:ext>
            </a:extLst>
          </p:cNvPr>
          <p:cNvCxnSpPr>
            <a:cxnSpLocks/>
          </p:cNvCxnSpPr>
          <p:nvPr/>
        </p:nvCxnSpPr>
        <p:spPr>
          <a:xfrm flipH="1">
            <a:off x="2020381" y="5194895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8A6C62-4DFB-EE0D-9CE7-E682B487BAC6}"/>
              </a:ext>
            </a:extLst>
          </p:cNvPr>
          <p:cNvSpPr txBox="1"/>
          <p:nvPr/>
        </p:nvSpPr>
        <p:spPr>
          <a:xfrm>
            <a:off x="1362239" y="5461620"/>
            <a:ext cx="11906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down_acc = 0;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9C0BFC-D414-96D5-2E94-C8F7E4801871}"/>
              </a:ext>
            </a:extLst>
          </p:cNvPr>
          <p:cNvCxnSpPr>
            <a:cxnSpLocks/>
          </p:cNvCxnSpPr>
          <p:nvPr/>
        </p:nvCxnSpPr>
        <p:spPr>
          <a:xfrm flipH="1">
            <a:off x="6874140" y="1924817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083CEF-218B-814E-B440-5B10F70CC0F6}"/>
              </a:ext>
            </a:extLst>
          </p:cNvPr>
          <p:cNvSpPr txBox="1"/>
          <p:nvPr/>
        </p:nvSpPr>
        <p:spPr>
          <a:xfrm>
            <a:off x="6278836" y="2237522"/>
            <a:ext cx="1190611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 initialize y=0;</a:t>
            </a:r>
            <a:endParaRPr lang="en-IN" sz="1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44111F-E256-0313-0BBD-AFBCEF5BBDF8}"/>
              </a:ext>
            </a:extLst>
          </p:cNvPr>
          <p:cNvCxnSpPr>
            <a:cxnSpLocks/>
          </p:cNvCxnSpPr>
          <p:nvPr/>
        </p:nvCxnSpPr>
        <p:spPr>
          <a:xfrm flipH="1">
            <a:off x="6875765" y="2501310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C0DA6E4-EAB7-695E-961D-3837FD5925FB}"/>
              </a:ext>
            </a:extLst>
          </p:cNvPr>
          <p:cNvSpPr txBox="1"/>
          <p:nvPr/>
        </p:nvSpPr>
        <p:spPr>
          <a:xfrm>
            <a:off x="5640914" y="2792600"/>
            <a:ext cx="340977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down_mult = relu_elements[y] * down_w_matrix[x][y];</a:t>
            </a:r>
          </a:p>
          <a:p>
            <a:r>
              <a:rPr lang="en-IN" sz="1000" dirty="0"/>
              <a:t> down_acc  = down_acc + (down_mult &gt;&gt;&gt; FRAC_BIT);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D8956C-2BD8-F9DC-E085-A803B7ADA4E5}"/>
              </a:ext>
            </a:extLst>
          </p:cNvPr>
          <p:cNvCxnSpPr>
            <a:cxnSpLocks/>
          </p:cNvCxnSpPr>
          <p:nvPr/>
        </p:nvCxnSpPr>
        <p:spPr>
          <a:xfrm flipH="1">
            <a:off x="6875765" y="3206429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622A1E-6222-A020-2A92-4AF4892712DA}"/>
              </a:ext>
            </a:extLst>
          </p:cNvPr>
          <p:cNvSpPr txBox="1"/>
          <p:nvPr/>
        </p:nvSpPr>
        <p:spPr>
          <a:xfrm>
            <a:off x="6510914" y="3475976"/>
            <a:ext cx="72645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 y = y+1;</a:t>
            </a:r>
            <a:endParaRPr lang="en-IN" sz="10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ABDDFD-5334-4C12-01B4-DF806FBC3ED8}"/>
              </a:ext>
            </a:extLst>
          </p:cNvPr>
          <p:cNvCxnSpPr>
            <a:cxnSpLocks/>
          </p:cNvCxnSpPr>
          <p:nvPr/>
        </p:nvCxnSpPr>
        <p:spPr>
          <a:xfrm flipH="1">
            <a:off x="6874142" y="3780621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iamond 35">
            <a:extLst>
              <a:ext uri="{FF2B5EF4-FFF2-40B4-BE49-F238E27FC236}">
                <a16:creationId xmlns:a16="http://schemas.microsoft.com/office/drawing/2014/main" id="{D5E40595-F94B-7643-DD85-684149477B92}"/>
              </a:ext>
            </a:extLst>
          </p:cNvPr>
          <p:cNvSpPr/>
          <p:nvPr/>
        </p:nvSpPr>
        <p:spPr>
          <a:xfrm>
            <a:off x="6516374" y="4065390"/>
            <a:ext cx="732941" cy="40011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89F94E-C5C8-9850-D620-07D37CD108F9}"/>
              </a:ext>
            </a:extLst>
          </p:cNvPr>
          <p:cNvSpPr txBox="1"/>
          <p:nvPr/>
        </p:nvSpPr>
        <p:spPr>
          <a:xfrm>
            <a:off x="6705188" y="4103713"/>
            <a:ext cx="424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y&lt;n</a:t>
            </a:r>
            <a:endParaRPr lang="en-IN" sz="10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A2B54E-00D4-7358-397D-2632AD0AC4C0}"/>
              </a:ext>
            </a:extLst>
          </p:cNvPr>
          <p:cNvCxnSpPr>
            <a:cxnSpLocks/>
          </p:cNvCxnSpPr>
          <p:nvPr/>
        </p:nvCxnSpPr>
        <p:spPr>
          <a:xfrm flipH="1">
            <a:off x="6875765" y="4453169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07A3A9C-A614-DFCB-F39E-6CCFFF278025}"/>
              </a:ext>
            </a:extLst>
          </p:cNvPr>
          <p:cNvSpPr txBox="1"/>
          <p:nvPr/>
        </p:nvSpPr>
        <p:spPr>
          <a:xfrm>
            <a:off x="5640914" y="4744459"/>
            <a:ext cx="35483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 accumulator_bank[x*BIT_WIDTH +: BIT_WIDTH] &lt;= </a:t>
            </a:r>
          </a:p>
          <a:p>
            <a:r>
              <a:rPr lang="en-IN" sz="1000" dirty="0"/>
              <a:t> accumulator_bank[x*BIT_WIDTH +: BIT_WIDTH] + down_acc;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AE1A0BF-1220-818C-894D-0A8664DE694B}"/>
              </a:ext>
            </a:extLst>
          </p:cNvPr>
          <p:cNvCxnSpPr>
            <a:cxnSpLocks/>
          </p:cNvCxnSpPr>
          <p:nvPr/>
        </p:nvCxnSpPr>
        <p:spPr>
          <a:xfrm flipH="1">
            <a:off x="6875765" y="5153980"/>
            <a:ext cx="1" cy="273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2DC9DD6-41EC-1F63-4A84-642D5979A4CE}"/>
              </a:ext>
            </a:extLst>
          </p:cNvPr>
          <p:cNvSpPr txBox="1"/>
          <p:nvPr/>
        </p:nvSpPr>
        <p:spPr>
          <a:xfrm>
            <a:off x="6510914" y="5423527"/>
            <a:ext cx="72645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x = x+1;</a:t>
            </a:r>
            <a:endParaRPr lang="en-IN" sz="10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69C836-15CF-C0F8-3747-C7BE163F120A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6874140" y="5669748"/>
            <a:ext cx="2" cy="3321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Diamond 43">
            <a:extLst>
              <a:ext uri="{FF2B5EF4-FFF2-40B4-BE49-F238E27FC236}">
                <a16:creationId xmlns:a16="http://schemas.microsoft.com/office/drawing/2014/main" id="{CA0EEBCC-60BB-9D94-E830-46A896D7D907}"/>
              </a:ext>
            </a:extLst>
          </p:cNvPr>
          <p:cNvSpPr/>
          <p:nvPr/>
        </p:nvSpPr>
        <p:spPr>
          <a:xfrm>
            <a:off x="6516374" y="6012941"/>
            <a:ext cx="732941" cy="400111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7B8F24-B9BA-3A4D-8A50-286D21C1864D}"/>
              </a:ext>
            </a:extLst>
          </p:cNvPr>
          <p:cNvSpPr txBox="1"/>
          <p:nvPr/>
        </p:nvSpPr>
        <p:spPr>
          <a:xfrm>
            <a:off x="6705188" y="6051264"/>
            <a:ext cx="424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x&lt;n</a:t>
            </a:r>
            <a:endParaRPr lang="en-IN" sz="1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45181EB-1E84-B34A-6310-8823056EDBAB}"/>
              </a:ext>
            </a:extLst>
          </p:cNvPr>
          <p:cNvCxnSpPr>
            <a:cxnSpLocks/>
          </p:cNvCxnSpPr>
          <p:nvPr/>
        </p:nvCxnSpPr>
        <p:spPr>
          <a:xfrm>
            <a:off x="782920" y="5258063"/>
            <a:ext cx="1234332" cy="72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5B2171-107E-6C4C-5C1E-F32C6240885E}"/>
              </a:ext>
            </a:extLst>
          </p:cNvPr>
          <p:cNvCxnSpPr>
            <a:cxnSpLocks/>
          </p:cNvCxnSpPr>
          <p:nvPr/>
        </p:nvCxnSpPr>
        <p:spPr>
          <a:xfrm>
            <a:off x="7237366" y="6212996"/>
            <a:ext cx="2940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C8D0403E-F519-C887-A931-4F666B7DF855}"/>
              </a:ext>
            </a:extLst>
          </p:cNvPr>
          <p:cNvSpPr/>
          <p:nvPr/>
        </p:nvSpPr>
        <p:spPr>
          <a:xfrm>
            <a:off x="7546820" y="6003928"/>
            <a:ext cx="806963" cy="4516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D079E6-AD78-3724-D937-3BD3B9C5B921}"/>
              </a:ext>
            </a:extLst>
          </p:cNvPr>
          <p:cNvSpPr txBox="1"/>
          <p:nvPr/>
        </p:nvSpPr>
        <p:spPr>
          <a:xfrm>
            <a:off x="7689995" y="6073619"/>
            <a:ext cx="537966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Stop</a:t>
            </a:r>
            <a:endParaRPr lang="en-IN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924813-D560-23E5-9CFF-C88BC063FF1A}"/>
              </a:ext>
            </a:extLst>
          </p:cNvPr>
          <p:cNvSpPr txBox="1"/>
          <p:nvPr/>
        </p:nvSpPr>
        <p:spPr>
          <a:xfrm>
            <a:off x="2670704" y="3980602"/>
            <a:ext cx="42421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  <a:endParaRPr lang="en-IN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AC01C2-75BD-519F-1145-F9C76A560535}"/>
              </a:ext>
            </a:extLst>
          </p:cNvPr>
          <p:cNvSpPr txBox="1"/>
          <p:nvPr/>
        </p:nvSpPr>
        <p:spPr>
          <a:xfrm>
            <a:off x="1483392" y="4551177"/>
            <a:ext cx="53008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  <a:endParaRPr lang="en-IN" sz="10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6B7D3DA-B9F3-DED4-F3D3-A74A3E6335D1}"/>
              </a:ext>
            </a:extLst>
          </p:cNvPr>
          <p:cNvCxnSpPr>
            <a:cxnSpLocks/>
          </p:cNvCxnSpPr>
          <p:nvPr/>
        </p:nvCxnSpPr>
        <p:spPr>
          <a:xfrm>
            <a:off x="2670704" y="4262640"/>
            <a:ext cx="292658" cy="10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3F48B0D-C51E-1F31-F123-82D764E648D4}"/>
              </a:ext>
            </a:extLst>
          </p:cNvPr>
          <p:cNvSpPr txBox="1"/>
          <p:nvPr/>
        </p:nvSpPr>
        <p:spPr>
          <a:xfrm>
            <a:off x="3002853" y="4079257"/>
            <a:ext cx="119653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remain in stage 3</a:t>
            </a:r>
            <a:endParaRPr lang="en-IN" sz="1000" b="1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56BB250-D74E-A6DA-A649-A69103D4F2B9}"/>
              </a:ext>
            </a:extLst>
          </p:cNvPr>
          <p:cNvCxnSpPr>
            <a:cxnSpLocks/>
          </p:cNvCxnSpPr>
          <p:nvPr/>
        </p:nvCxnSpPr>
        <p:spPr>
          <a:xfrm>
            <a:off x="2018640" y="5684526"/>
            <a:ext cx="10643" cy="37742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563A38A-D40B-019E-7123-2A026177B1FD}"/>
              </a:ext>
            </a:extLst>
          </p:cNvPr>
          <p:cNvCxnSpPr>
            <a:cxnSpLocks/>
          </p:cNvCxnSpPr>
          <p:nvPr/>
        </p:nvCxnSpPr>
        <p:spPr>
          <a:xfrm flipH="1" flipV="1">
            <a:off x="2011366" y="6061950"/>
            <a:ext cx="2913691" cy="1104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EE4ED22-AB56-FB65-27BA-5642C39D1D10}"/>
              </a:ext>
            </a:extLst>
          </p:cNvPr>
          <p:cNvCxnSpPr>
            <a:cxnSpLocks/>
          </p:cNvCxnSpPr>
          <p:nvPr/>
        </p:nvCxnSpPr>
        <p:spPr>
          <a:xfrm flipV="1">
            <a:off x="4908175" y="1924817"/>
            <a:ext cx="37263" cy="414500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034EFA7-BD00-C4EC-5666-E909156363DA}"/>
              </a:ext>
            </a:extLst>
          </p:cNvPr>
          <p:cNvCxnSpPr>
            <a:cxnSpLocks/>
          </p:cNvCxnSpPr>
          <p:nvPr/>
        </p:nvCxnSpPr>
        <p:spPr>
          <a:xfrm flipH="1" flipV="1">
            <a:off x="4932833" y="1921681"/>
            <a:ext cx="1937406" cy="1396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9E11522-D841-AC07-EA65-D4C0CD786B31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774268" y="6187748"/>
            <a:ext cx="5742106" cy="2524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A240B2D-4BC6-2BA9-CF6D-8655D8F53CEB}"/>
              </a:ext>
            </a:extLst>
          </p:cNvPr>
          <p:cNvCxnSpPr>
            <a:cxnSpLocks/>
          </p:cNvCxnSpPr>
          <p:nvPr/>
        </p:nvCxnSpPr>
        <p:spPr>
          <a:xfrm flipV="1">
            <a:off x="774268" y="5248521"/>
            <a:ext cx="0" cy="96447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0C0A412-4E1B-167E-16B1-3659ABD74517}"/>
              </a:ext>
            </a:extLst>
          </p:cNvPr>
          <p:cNvCxnSpPr>
            <a:cxnSpLocks/>
          </p:cNvCxnSpPr>
          <p:nvPr/>
        </p:nvCxnSpPr>
        <p:spPr>
          <a:xfrm flipH="1" flipV="1">
            <a:off x="5263168" y="4235889"/>
            <a:ext cx="1250835" cy="3135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4F0BFDC-A83B-1B5B-0A7E-3CA6A849D589}"/>
              </a:ext>
            </a:extLst>
          </p:cNvPr>
          <p:cNvCxnSpPr>
            <a:cxnSpLocks/>
          </p:cNvCxnSpPr>
          <p:nvPr/>
        </p:nvCxnSpPr>
        <p:spPr>
          <a:xfrm flipV="1">
            <a:off x="5260797" y="2562281"/>
            <a:ext cx="0" cy="166454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B29BC0D-AF1C-4783-1430-E52DED2FC325}"/>
              </a:ext>
            </a:extLst>
          </p:cNvPr>
          <p:cNvCxnSpPr>
            <a:cxnSpLocks/>
          </p:cNvCxnSpPr>
          <p:nvPr/>
        </p:nvCxnSpPr>
        <p:spPr>
          <a:xfrm>
            <a:off x="5260797" y="2562281"/>
            <a:ext cx="1624960" cy="207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659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9B84-AF5F-8CB2-472D-50ED2782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Hardware Performance Parameters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294BD-74FA-D83F-44D4-36719AF86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00B050"/>
                </a:solidFill>
              </a:rPr>
              <a:t>Execution Time  </a:t>
            </a:r>
            <a:r>
              <a:rPr lang="en-US" dirty="0"/>
              <a:t>= t</a:t>
            </a:r>
            <a:r>
              <a:rPr lang="en-US" baseline="-25000" dirty="0"/>
              <a:t>done</a:t>
            </a:r>
            <a:r>
              <a:rPr lang="en-US" dirty="0"/>
              <a:t> – t</a:t>
            </a:r>
            <a:r>
              <a:rPr lang="en-US" baseline="-25000" dirty="0"/>
              <a:t>start</a:t>
            </a:r>
          </a:p>
          <a:p>
            <a:r>
              <a:rPr lang="en-US" dirty="0"/>
              <a:t>t</a:t>
            </a:r>
            <a:r>
              <a:rPr lang="en-US" baseline="-25000" dirty="0"/>
              <a:t>done </a:t>
            </a:r>
            <a:r>
              <a:rPr lang="en-US" dirty="0"/>
              <a:t>= 60000 ps, t</a:t>
            </a:r>
            <a:r>
              <a:rPr lang="en-US" baseline="-25000" dirty="0"/>
              <a:t>start</a:t>
            </a:r>
            <a:r>
              <a:rPr lang="en-US" dirty="0"/>
              <a:t> = 211000 ps</a:t>
            </a:r>
          </a:p>
          <a:p>
            <a:r>
              <a:rPr lang="en-US" dirty="0">
                <a:solidFill>
                  <a:srgbClr val="00B050"/>
                </a:solidFill>
              </a:rPr>
              <a:t>Execution Time  </a:t>
            </a:r>
            <a:r>
              <a:rPr lang="en-US" dirty="0"/>
              <a:t>= (211000 – 60000) ps = 151000 ps = 151 ns.</a:t>
            </a:r>
          </a:p>
          <a:p>
            <a:r>
              <a:rPr lang="en-US" dirty="0">
                <a:solidFill>
                  <a:srgbClr val="00B050"/>
                </a:solidFill>
              </a:rPr>
              <a:t>Clock Cycle Latency </a:t>
            </a:r>
            <a:r>
              <a:rPr lang="en-US" dirty="0"/>
              <a:t>= Number of Clock edges pass between the time data enters a circuit and the time the corresponding result exits.</a:t>
            </a:r>
          </a:p>
          <a:p>
            <a:r>
              <a:rPr lang="en-US" dirty="0"/>
              <a:t>Absolute latency = Clock cycles x T</a:t>
            </a:r>
            <a:r>
              <a:rPr lang="en-US" baseline="-25000" dirty="0"/>
              <a:t>clk</a:t>
            </a:r>
          </a:p>
          <a:p>
            <a:r>
              <a:rPr lang="en-US" dirty="0"/>
              <a:t>Tclk = 20 ns</a:t>
            </a:r>
          </a:p>
          <a:p>
            <a:r>
              <a:rPr lang="en-US" dirty="0"/>
              <a:t>Clock cycles = 4</a:t>
            </a:r>
          </a:p>
          <a:p>
            <a:r>
              <a:rPr lang="en-US" dirty="0">
                <a:solidFill>
                  <a:srgbClr val="00B050"/>
                </a:solidFill>
              </a:rPr>
              <a:t>Absolute latency </a:t>
            </a:r>
            <a:r>
              <a:rPr lang="en-US" dirty="0"/>
              <a:t>= 20 x 4 = 80 ns</a:t>
            </a:r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033304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EA3E-C279-747C-E8EF-5720ED749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Hardware Performance Parameters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A765-434E-DD86-8F89-01A83199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Clock frequency, f</a:t>
            </a:r>
            <a:r>
              <a:rPr lang="en-US" baseline="-25000" dirty="0"/>
              <a:t>clk</a:t>
            </a:r>
            <a:r>
              <a:rPr lang="en-US" dirty="0"/>
              <a:t> = (1/20) MHz = 50 MHz</a:t>
            </a:r>
          </a:p>
          <a:p>
            <a:r>
              <a:rPr lang="en-US" dirty="0"/>
              <a:t>Throughput :</a:t>
            </a:r>
          </a:p>
          <a:p>
            <a:r>
              <a:rPr lang="en-US" dirty="0"/>
              <a:t>1. Data throughput  = (2x8x8x16)bits/cycle x f</a:t>
            </a:r>
            <a:r>
              <a:rPr lang="en-US" baseline="-25000" dirty="0"/>
              <a:t>clk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                               = 102.4 Gbps</a:t>
            </a:r>
          </a:p>
          <a:p>
            <a:r>
              <a:rPr lang="en-IN" dirty="0"/>
              <a:t>Operations throughput = 128 MACs/cycle </a:t>
            </a:r>
            <a:r>
              <a:rPr lang="en-US" dirty="0"/>
              <a:t>x f</a:t>
            </a:r>
            <a:r>
              <a:rPr lang="en-US" baseline="-25000" dirty="0"/>
              <a:t>clk</a:t>
            </a:r>
            <a:r>
              <a:rPr lang="en-US" dirty="0"/>
              <a:t>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		= 6.4 GMACs/s</a:t>
            </a:r>
          </a:p>
          <a:p>
            <a:pPr marL="0" indent="0">
              <a:buNone/>
            </a:pPr>
            <a:r>
              <a:rPr lang="en-IN" dirty="0"/>
              <a:t>				= 256 operations/cycle </a:t>
            </a:r>
            <a:r>
              <a:rPr lang="en-US" dirty="0"/>
              <a:t>x f</a:t>
            </a:r>
            <a:r>
              <a:rPr lang="en-US" baseline="-25000" dirty="0"/>
              <a:t>clk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		= 12.8 GOPS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363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03E6-ABD9-AC71-47B0-FFE4068A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Hardware Performance Parameters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65F3A2-224E-2BCA-4789-FBBE33F18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3117"/>
            <a:ext cx="5944430" cy="2324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CE750-C398-C649-EBFD-4BBE628F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95" y="4407541"/>
            <a:ext cx="5163271" cy="111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96097-9451-B96D-128D-3626F9C80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006" y="2083117"/>
            <a:ext cx="3162741" cy="28102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C43F0A-116D-46D3-8F2D-827CF2C460CA}"/>
              </a:ext>
            </a:extLst>
          </p:cNvPr>
          <p:cNvSpPr txBox="1"/>
          <p:nvPr/>
        </p:nvSpPr>
        <p:spPr>
          <a:xfrm>
            <a:off x="1739348" y="1690688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Resource Utilization 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10524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A664-D9E7-6DC3-351E-DB630B4B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Limitation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653DAD-4AC1-DFA7-2F95-AA4396731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335009" cy="7335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1AE7C5-85DD-49F6-A3F4-B79554BE1B4C}"/>
              </a:ext>
            </a:extLst>
          </p:cNvPr>
          <p:cNvSpPr txBox="1">
            <a:spLocks/>
          </p:cNvSpPr>
          <p:nvPr/>
        </p:nvSpPr>
        <p:spPr>
          <a:xfrm>
            <a:off x="838200" y="28402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Further Advancement Needed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5485B-CEF3-D9B4-BF0B-169A072A1661}"/>
              </a:ext>
            </a:extLst>
          </p:cNvPr>
          <p:cNvSpPr txBox="1"/>
          <p:nvPr/>
        </p:nvSpPr>
        <p:spPr>
          <a:xfrm>
            <a:off x="914400" y="4120273"/>
            <a:ext cx="655982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Modelling BRAM to store up and down projection matrix tiles</a:t>
            </a:r>
          </a:p>
          <a:p>
            <a:pPr marL="342900" indent="-342900">
              <a:buAutoNum type="arabicPeriod"/>
            </a:pPr>
            <a:r>
              <a:rPr lang="en-US" dirty="0"/>
              <a:t> Modelling the AXI interface from external memory and internal BRAM for dynamic tile fetching.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4DED4-C9B4-E3C7-601A-A6A9ECCF16A6}"/>
              </a:ext>
            </a:extLst>
          </p:cNvPr>
          <p:cNvSpPr txBox="1"/>
          <p:nvPr/>
        </p:nvSpPr>
        <p:spPr>
          <a:xfrm>
            <a:off x="7173209" y="2106768"/>
            <a:ext cx="36045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Bonded IOB utilization overflowed.</a:t>
            </a:r>
          </a:p>
        </p:txBody>
      </p:sp>
    </p:spTree>
    <p:extLst>
      <p:ext uri="{BB962C8B-B14F-4D97-AF65-F5344CB8AC3E}">
        <p14:creationId xmlns:p14="http://schemas.microsoft.com/office/powerpoint/2010/main" val="1983988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B9EB-ECCB-4DCD-676A-47A3ED6F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347" y="2560637"/>
            <a:ext cx="5870713" cy="1325563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rgbClr val="00B05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052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2007</Words>
  <Application>Microsoft Office PowerPoint</Application>
  <PresentationFormat>Widescreen</PresentationFormat>
  <Paragraphs>376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Google Sans Text</vt:lpstr>
      <vt:lpstr>Office Theme</vt:lpstr>
      <vt:lpstr>Faster Matrix Multiplication In Feed Forward Network Using Tiling and Tensor Core and Design of Pipelined Feed Forward Network </vt:lpstr>
      <vt:lpstr>Introduction</vt:lpstr>
      <vt:lpstr>PowerPoint Presentation</vt:lpstr>
      <vt:lpstr>PowerPoint Presentation</vt:lpstr>
      <vt:lpstr>Design Choices Used</vt:lpstr>
      <vt:lpstr>Algorithmic Representation of Pipelined Feed Forward Network</vt:lpstr>
      <vt:lpstr>Basic Representation of Pipelined Feed Forward Network</vt:lpstr>
      <vt:lpstr>FSM Control Path Diagram</vt:lpstr>
      <vt:lpstr>The Requirement of 6 cycles</vt:lpstr>
      <vt:lpstr>The Pipelined Architecture Timeline</vt:lpstr>
      <vt:lpstr>Block Diagram Representation of  Feed Forward Network</vt:lpstr>
      <vt:lpstr>Stage 1 : FSM controller and Address Generation</vt:lpstr>
      <vt:lpstr>CONTROL PATH PROPAGATION</vt:lpstr>
      <vt:lpstr>STAGE 2: Up-Projection</vt:lpstr>
      <vt:lpstr>STAGE 3: ReLU Activation Function</vt:lpstr>
      <vt:lpstr>STAGE 4: Down Projection &amp; Accumulation Bank</vt:lpstr>
      <vt:lpstr>Hardware Performance Parameters</vt:lpstr>
      <vt:lpstr>Hardware Performance Parameters</vt:lpstr>
      <vt:lpstr>Hardware Performance Parameters</vt:lpstr>
      <vt:lpstr>Limitation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Aruddha Basu</dc:creator>
  <cp:lastModifiedBy>Rahul Tripathy</cp:lastModifiedBy>
  <cp:revision>5</cp:revision>
  <dcterms:created xsi:type="dcterms:W3CDTF">2026-06-22T10:54:18Z</dcterms:created>
  <dcterms:modified xsi:type="dcterms:W3CDTF">2026-06-25T11:07:43Z</dcterms:modified>
</cp:coreProperties>
</file>