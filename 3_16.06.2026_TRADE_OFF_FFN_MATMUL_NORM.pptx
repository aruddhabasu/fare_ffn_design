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9" r:id="rId2"/>
    <p:sldId id="257" r:id="rId3"/>
    <p:sldId id="256" r:id="rId4"/>
    <p:sldId id="268" r:id="rId5"/>
    <p:sldId id="258" r:id="rId6"/>
    <p:sldId id="260" r:id="rId7"/>
    <p:sldId id="261" r:id="rId8"/>
    <p:sldId id="265" r:id="rId9"/>
    <p:sldId id="266" r:id="rId10"/>
    <p:sldId id="262" r:id="rId11"/>
    <p:sldId id="263" r:id="rId12"/>
    <p:sldId id="264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5EE76"/>
    <a:srgbClr val="9174FC"/>
    <a:srgbClr val="FC8774"/>
    <a:srgbClr val="FAF4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140801-7EA4-43BD-933F-B038676D2369}" type="datetimeFigureOut">
              <a:rPr lang="en-US" smtClean="0"/>
              <a:t>18-Jun-26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DE4EB5-3387-46B8-9A81-636FDDAABDF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030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DE4EB5-3387-46B8-9A81-636FDDAABDF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152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2A487-AD85-3504-1D9F-E16FD8EA26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018FCC-C596-5A99-79AF-BDD8F7B90C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B6D60-1B9D-D98E-3D0F-0EB3FE033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21353-E5B1-4C09-A6AB-249B14B70DF3}" type="datetimeFigureOut">
              <a:rPr lang="en-US" smtClean="0"/>
              <a:t>18-Jun-26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F4C2E-9EA3-B628-EE12-ACA1DDD0A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D2D20-0AD2-7100-8906-131497498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BB6CF-F0CA-4966-81A8-D7DDF57641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006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CCE57-40B9-75C6-F80B-5AA54E38A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9295A-4619-404F-5991-32B796293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695B3-F497-5DC7-5BC6-D72DA902D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21353-E5B1-4C09-A6AB-249B14B70DF3}" type="datetimeFigureOut">
              <a:rPr lang="en-US" smtClean="0"/>
              <a:t>18-Jun-26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0F262-042C-CD5D-1875-966ECD2CB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02AE9-492E-749E-F373-4D919B587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BB6CF-F0CA-4966-81A8-D7DDF57641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99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A1786-EA58-CB16-EF8A-5E1A29176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E02174-A7A6-2974-073E-93DE86D4A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4305A-AA6A-4AF1-384E-442B184E5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21353-E5B1-4C09-A6AB-249B14B70DF3}" type="datetimeFigureOut">
              <a:rPr lang="en-US" smtClean="0"/>
              <a:t>18-Jun-26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C56D4-619E-C749-3167-A20305C1A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4AD6C-E600-FC75-C120-5B3A07F94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BB6CF-F0CA-4966-81A8-D7DDF57641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049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B05F0-7DCD-B77D-1A67-39C32458A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687C3-C9AC-50F0-10B9-0EAB71590D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2802F2-33FE-B2CA-1B34-D799F40F16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E4340A-D09C-C658-3F77-AF2B3D5E4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21353-E5B1-4C09-A6AB-249B14B70DF3}" type="datetimeFigureOut">
              <a:rPr lang="en-US" smtClean="0"/>
              <a:t>18-Jun-26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7F8EEE-6AC4-3CFD-3AFC-360CB30A6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CAF410-869D-A7CF-6EB0-8FA30AE94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BB6CF-F0CA-4966-81A8-D7DDF57641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864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0AD98-E572-337C-5A0B-C346B68E4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D59C2F-CA44-44C9-7393-15D43408E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D9002-4087-116C-85A5-4A6431E2E6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46A3-7261-7224-6A1D-B36CAAFEC1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9C17A-FF60-306C-6E8A-C1C6A7220A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4D412B-DC8A-14A0-3E6E-4931FDAD0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21353-E5B1-4C09-A6AB-249B14B70DF3}" type="datetimeFigureOut">
              <a:rPr lang="en-US" smtClean="0"/>
              <a:t>18-Jun-26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C89577-0A5E-74EE-F7E2-1CB4C0AF1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643180-E0F7-B39A-C20D-8450D586C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BB6CF-F0CA-4966-81A8-D7DDF57641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728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369A9-C006-2203-E1D0-B880D28A4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5707E9-E767-A039-845D-D43E714BF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21353-E5B1-4C09-A6AB-249B14B70DF3}" type="datetimeFigureOut">
              <a:rPr lang="en-US" smtClean="0"/>
              <a:t>18-Jun-26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20D1D8-0D6D-834D-EF08-DC32F8E75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10A57C-97DA-AA99-7675-10B7F212D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BB6CF-F0CA-4966-81A8-D7DDF57641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431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C631BF-315E-E248-0770-DFC5334F0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21353-E5B1-4C09-A6AB-249B14B70DF3}" type="datetimeFigureOut">
              <a:rPr lang="en-US" smtClean="0"/>
              <a:t>18-Jun-26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18BED8-FC7F-CF79-564A-AF4850E8F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0DAFF-7A4A-CA12-E764-B8A8BA99A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BB6CF-F0CA-4966-81A8-D7DDF57641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27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87506-566D-6973-8098-BEA020277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AC174-D13E-D434-B395-4078ABC60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E5DF96-90E2-3F30-D260-6F03DC584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FC3747-CA79-0DCF-94DE-EFA77822D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21353-E5B1-4C09-A6AB-249B14B70DF3}" type="datetimeFigureOut">
              <a:rPr lang="en-US" smtClean="0"/>
              <a:t>18-Jun-26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8EB8B-6830-722C-180E-71B7D60E4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1C5309-EA33-BF92-D28D-5CE75526E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BB6CF-F0CA-4966-81A8-D7DDF57641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106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EE3FB-25CC-7041-B105-9B1FCFC39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396BAA-DF71-1DE0-25B1-03778B5C94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3A1BEC-F069-E2A6-C9B7-184EC68FB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EA890D-41AD-5570-B5D9-8CFE33226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21353-E5B1-4C09-A6AB-249B14B70DF3}" type="datetimeFigureOut">
              <a:rPr lang="en-US" smtClean="0"/>
              <a:t>18-Jun-26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481CAE-1A58-9ACA-9BAA-A05F38A6E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B61FF-A4BC-AA65-B4CF-D45140912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BB6CF-F0CA-4966-81A8-D7DDF57641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554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9FF8A-3B19-F142-92C8-C05F9D6F1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2C8301-BACC-5669-B780-6B652FB3E1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E2A12-73ED-5C0A-49B3-90F3B089F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21353-E5B1-4C09-A6AB-249B14B70DF3}" type="datetimeFigureOut">
              <a:rPr lang="en-US" smtClean="0"/>
              <a:t>18-Jun-26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5D305-AA74-A56D-1E56-473B64DD4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A8BA0-9657-EE37-0E54-3E9567DB2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BB6CF-F0CA-4966-81A8-D7DDF57641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265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4DE6A8-6B93-7E99-EC6F-7F29710F7C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B430C6-BAFF-DEB3-8A5E-BFD0EA54A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A61B87-27B7-6D19-A560-333AE9FE9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21353-E5B1-4C09-A6AB-249B14B70DF3}" type="datetimeFigureOut">
              <a:rPr lang="en-US" smtClean="0"/>
              <a:t>18-Jun-26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98B86-B722-C151-96E9-EB8AF8825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B6359-8DA8-45F2-CF24-EB85838D8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BB6CF-F0CA-4966-81A8-D7DDF57641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63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E40053-2BE8-7774-C6F5-2E36D82CA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6DD53-2D58-6557-5696-0DE76F42B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B7463-1188-5C7E-945E-67CD255FEB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F21353-E5B1-4C09-A6AB-249B14B70DF3}" type="datetimeFigureOut">
              <a:rPr lang="en-US" smtClean="0"/>
              <a:t>18-Jun-26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576B6-82FB-DBC9-6111-B66DAE1618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9CED3-C743-21BD-CCFA-6DFB318E3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EBB6CF-F0CA-4966-81A8-D7DDF57641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665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2334D-7696-25EF-9790-80953C018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470025"/>
            <a:ext cx="10515600" cy="26162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Faster Matrix Multiplication and Element-Wise Add and Normalization Technique</a:t>
            </a:r>
          </a:p>
        </p:txBody>
      </p:sp>
    </p:spTree>
    <p:extLst>
      <p:ext uri="{BB962C8B-B14F-4D97-AF65-F5344CB8AC3E}">
        <p14:creationId xmlns:p14="http://schemas.microsoft.com/office/powerpoint/2010/main" val="199779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F670964D-1FB0-EFC7-EC6D-AC10425F6E68}"/>
              </a:ext>
            </a:extLst>
          </p:cNvPr>
          <p:cNvGrpSpPr/>
          <p:nvPr/>
        </p:nvGrpSpPr>
        <p:grpSpPr>
          <a:xfrm>
            <a:off x="584806" y="1764161"/>
            <a:ext cx="2041554" cy="1038425"/>
            <a:chOff x="4590107" y="152645"/>
            <a:chExt cx="2041554" cy="103842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3CBF845-920B-24AB-AE52-D7E2E7F2A147}"/>
                </a:ext>
              </a:extLst>
            </p:cNvPr>
            <p:cNvSpPr/>
            <p:nvPr/>
          </p:nvSpPr>
          <p:spPr>
            <a:xfrm>
              <a:off x="5595042" y="857768"/>
              <a:ext cx="588470" cy="333302"/>
            </a:xfrm>
            <a:prstGeom prst="rect">
              <a:avLst/>
            </a:prstGeom>
            <a:solidFill>
              <a:srgbClr val="95EE7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1x1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2674ADF8-EDDC-EABC-A880-27B70372883C}"/>
                </a:ext>
              </a:extLst>
            </p:cNvPr>
            <p:cNvCxnSpPr/>
            <p:nvPr/>
          </p:nvCxnSpPr>
          <p:spPr>
            <a:xfrm>
              <a:off x="4590107" y="1097685"/>
              <a:ext cx="86007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129490C-CEF2-086E-AB37-53C1D143F883}"/>
                </a:ext>
              </a:extLst>
            </p:cNvPr>
            <p:cNvSpPr txBox="1"/>
            <p:nvPr/>
          </p:nvSpPr>
          <p:spPr>
            <a:xfrm>
              <a:off x="4655831" y="766902"/>
              <a:ext cx="9045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2 1 2 1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9945B3F-4802-F639-6067-21A2CAD829B2}"/>
                </a:ext>
              </a:extLst>
            </p:cNvPr>
            <p:cNvCxnSpPr>
              <a:cxnSpLocks/>
            </p:cNvCxnSpPr>
            <p:nvPr/>
          </p:nvCxnSpPr>
          <p:spPr>
            <a:xfrm>
              <a:off x="5880026" y="475362"/>
              <a:ext cx="2361" cy="32361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D39997-25CA-3D9A-5BF9-7423D97C5A3E}"/>
                </a:ext>
              </a:extLst>
            </p:cNvPr>
            <p:cNvSpPr txBox="1"/>
            <p:nvPr/>
          </p:nvSpPr>
          <p:spPr>
            <a:xfrm>
              <a:off x="5889277" y="152645"/>
              <a:ext cx="74238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AutoNum type="arabicPlain" startAt="2"/>
              </a:pPr>
              <a:r>
                <a:rPr lang="en-US" dirty="0"/>
                <a:t>4</a:t>
              </a:r>
            </a:p>
            <a:p>
              <a:r>
                <a:rPr lang="en-US" dirty="0"/>
                <a:t>1     3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6D02512-C759-4571-EC5E-2E30EBC9A2E0}"/>
              </a:ext>
            </a:extLst>
          </p:cNvPr>
          <p:cNvGrpSpPr/>
          <p:nvPr/>
        </p:nvGrpSpPr>
        <p:grpSpPr>
          <a:xfrm>
            <a:off x="2962406" y="1763879"/>
            <a:ext cx="1975009" cy="1237884"/>
            <a:chOff x="6623803" y="96013"/>
            <a:chExt cx="2041554" cy="123788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7CEC4EF-43B3-C074-BB81-1F617B37DB01}"/>
                </a:ext>
              </a:extLst>
            </p:cNvPr>
            <p:cNvSpPr/>
            <p:nvPr/>
          </p:nvSpPr>
          <p:spPr>
            <a:xfrm>
              <a:off x="7628738" y="801136"/>
              <a:ext cx="588470" cy="354128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2x2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83E2A72-3ACF-6638-FB85-88C05406918D}"/>
                </a:ext>
              </a:extLst>
            </p:cNvPr>
            <p:cNvCxnSpPr/>
            <p:nvPr/>
          </p:nvCxnSpPr>
          <p:spPr>
            <a:xfrm>
              <a:off x="6623803" y="1041053"/>
              <a:ext cx="86007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38C9837-9BEB-815B-0423-5A0C2D247F60}"/>
                </a:ext>
              </a:extLst>
            </p:cNvPr>
            <p:cNvSpPr txBox="1"/>
            <p:nvPr/>
          </p:nvSpPr>
          <p:spPr>
            <a:xfrm>
              <a:off x="6807233" y="687570"/>
              <a:ext cx="86007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 2 1 2</a:t>
              </a:r>
            </a:p>
            <a:p>
              <a:endParaRPr lang="en-US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0179DCE-DAEC-AD4F-9843-BD1C0DD76802}"/>
                </a:ext>
              </a:extLst>
            </p:cNvPr>
            <p:cNvCxnSpPr>
              <a:cxnSpLocks/>
            </p:cNvCxnSpPr>
            <p:nvPr/>
          </p:nvCxnSpPr>
          <p:spPr>
            <a:xfrm>
              <a:off x="7913722" y="418730"/>
              <a:ext cx="2361" cy="32361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19BCFCD-1C6C-5945-57AB-D76EE847641C}"/>
                </a:ext>
              </a:extLst>
            </p:cNvPr>
            <p:cNvSpPr txBox="1"/>
            <p:nvPr/>
          </p:nvSpPr>
          <p:spPr>
            <a:xfrm>
              <a:off x="7922973" y="96013"/>
              <a:ext cx="74238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        4</a:t>
              </a:r>
            </a:p>
            <a:p>
              <a:r>
                <a:rPr lang="en-US" dirty="0"/>
                <a:t>  2    3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28B77C2-76F8-8562-9005-8719DFB48964}"/>
              </a:ext>
            </a:extLst>
          </p:cNvPr>
          <p:cNvGrpSpPr/>
          <p:nvPr/>
        </p:nvGrpSpPr>
        <p:grpSpPr>
          <a:xfrm>
            <a:off x="4710409" y="1734337"/>
            <a:ext cx="2041554" cy="988149"/>
            <a:chOff x="7585645" y="939958"/>
            <a:chExt cx="2041554" cy="1074454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AD779C4-8EB6-6E90-6FC1-A0951F06DDC7}"/>
                </a:ext>
              </a:extLst>
            </p:cNvPr>
            <p:cNvSpPr/>
            <p:nvPr/>
          </p:nvSpPr>
          <p:spPr>
            <a:xfrm>
              <a:off x="8590580" y="1645081"/>
              <a:ext cx="588470" cy="369331"/>
            </a:xfrm>
            <a:prstGeom prst="rect">
              <a:avLst/>
            </a:prstGeom>
            <a:solidFill>
              <a:srgbClr val="95EE7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1x3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7E3CB72-4362-3DFB-B5C7-D8F682497962}"/>
                </a:ext>
              </a:extLst>
            </p:cNvPr>
            <p:cNvCxnSpPr/>
            <p:nvPr/>
          </p:nvCxnSpPr>
          <p:spPr>
            <a:xfrm>
              <a:off x="7585645" y="1884998"/>
              <a:ext cx="86007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EB5EDE8-454E-05A2-87ED-EAC8C577D22A}"/>
                </a:ext>
              </a:extLst>
            </p:cNvPr>
            <p:cNvSpPr txBox="1"/>
            <p:nvPr/>
          </p:nvSpPr>
          <p:spPr>
            <a:xfrm>
              <a:off x="8015684" y="1574921"/>
              <a:ext cx="9045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2 1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A6C1B2B-0FEF-C200-FA5F-E599BCE7B6F9}"/>
                </a:ext>
              </a:extLst>
            </p:cNvPr>
            <p:cNvCxnSpPr>
              <a:cxnSpLocks/>
            </p:cNvCxnSpPr>
            <p:nvPr/>
          </p:nvCxnSpPr>
          <p:spPr>
            <a:xfrm>
              <a:off x="8875564" y="1262675"/>
              <a:ext cx="2361" cy="32361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AD4378A-C44E-84AB-FDB0-2CD416FFC10E}"/>
                </a:ext>
              </a:extLst>
            </p:cNvPr>
            <p:cNvSpPr txBox="1"/>
            <p:nvPr/>
          </p:nvSpPr>
          <p:spPr>
            <a:xfrm>
              <a:off x="8884815" y="939958"/>
              <a:ext cx="74238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</a:t>
              </a:r>
            </a:p>
            <a:p>
              <a:r>
                <a:rPr lang="en-US" dirty="0"/>
                <a:t>3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2D59E2E-CE5A-52A5-455B-A6A9B0DA91BF}"/>
              </a:ext>
            </a:extLst>
          </p:cNvPr>
          <p:cNvGrpSpPr/>
          <p:nvPr/>
        </p:nvGrpSpPr>
        <p:grpSpPr>
          <a:xfrm>
            <a:off x="6506847" y="2093137"/>
            <a:ext cx="1880821" cy="673235"/>
            <a:chOff x="9619341" y="1181427"/>
            <a:chExt cx="2041554" cy="891818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615BF13-1E68-CF0C-7FF7-BB405CE81809}"/>
                </a:ext>
              </a:extLst>
            </p:cNvPr>
            <p:cNvSpPr/>
            <p:nvPr/>
          </p:nvSpPr>
          <p:spPr>
            <a:xfrm>
              <a:off x="10624276" y="1588449"/>
              <a:ext cx="588470" cy="479834"/>
            </a:xfrm>
            <a:prstGeom prst="rect">
              <a:avLst/>
            </a:prstGeom>
            <a:solidFill>
              <a:srgbClr val="FC877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2x4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49F6E948-0B93-0C91-45A0-A1E435BB7976}"/>
                </a:ext>
              </a:extLst>
            </p:cNvPr>
            <p:cNvCxnSpPr/>
            <p:nvPr/>
          </p:nvCxnSpPr>
          <p:spPr>
            <a:xfrm>
              <a:off x="9619341" y="1828366"/>
              <a:ext cx="86007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64A9C41-1F40-7161-C3F0-F91816416B53}"/>
                </a:ext>
              </a:extLst>
            </p:cNvPr>
            <p:cNvSpPr txBox="1"/>
            <p:nvPr/>
          </p:nvSpPr>
          <p:spPr>
            <a:xfrm>
              <a:off x="9802771" y="1426914"/>
              <a:ext cx="86007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 2</a:t>
              </a:r>
            </a:p>
            <a:p>
              <a:endParaRPr lang="en-US" dirty="0"/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B588EF13-04AB-25B5-F351-4C8644F5BDDB}"/>
                </a:ext>
              </a:extLst>
            </p:cNvPr>
            <p:cNvCxnSpPr>
              <a:cxnSpLocks/>
            </p:cNvCxnSpPr>
            <p:nvPr/>
          </p:nvCxnSpPr>
          <p:spPr>
            <a:xfrm>
              <a:off x="10909260" y="1206043"/>
              <a:ext cx="2361" cy="32361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B90C6EB-8414-1BF0-B7D2-4925C5FC0FD3}"/>
                </a:ext>
              </a:extLst>
            </p:cNvPr>
            <p:cNvSpPr txBox="1"/>
            <p:nvPr/>
          </p:nvSpPr>
          <p:spPr>
            <a:xfrm>
              <a:off x="10918511" y="1181427"/>
              <a:ext cx="742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78AD938F-FA21-9351-04AE-3627617F5C1B}"/>
              </a:ext>
            </a:extLst>
          </p:cNvPr>
          <p:cNvSpPr txBox="1"/>
          <p:nvPr/>
        </p:nvSpPr>
        <p:spPr>
          <a:xfrm>
            <a:off x="435114" y="1394547"/>
            <a:ext cx="4087722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1. </a:t>
            </a:r>
            <a:r>
              <a:rPr lang="en-US" b="1" dirty="0"/>
              <a:t>Conventional Matrix Multiplication</a:t>
            </a:r>
            <a:r>
              <a:rPr lang="en-US" dirty="0"/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6EA7EE-D8EB-C7CE-BC3D-D2AC7AC958BD}"/>
              </a:ext>
            </a:extLst>
          </p:cNvPr>
          <p:cNvSpPr txBox="1"/>
          <p:nvPr/>
        </p:nvSpPr>
        <p:spPr>
          <a:xfrm>
            <a:off x="1414823" y="2819616"/>
            <a:ext cx="919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Cycle 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B5AE93E-5E84-1665-8CA6-23450DA88AEB}"/>
              </a:ext>
            </a:extLst>
          </p:cNvPr>
          <p:cNvSpPr txBox="1"/>
          <p:nvPr/>
        </p:nvSpPr>
        <p:spPr>
          <a:xfrm>
            <a:off x="3750378" y="2845282"/>
            <a:ext cx="919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Cycle 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B9F6AC7-7E72-682A-65E2-02161127196D}"/>
              </a:ext>
            </a:extLst>
          </p:cNvPr>
          <p:cNvSpPr txBox="1"/>
          <p:nvPr/>
        </p:nvSpPr>
        <p:spPr>
          <a:xfrm>
            <a:off x="5570488" y="2845282"/>
            <a:ext cx="919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Cycle 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12C71E7-C343-22B6-4FE7-46623F89D00F}"/>
              </a:ext>
            </a:extLst>
          </p:cNvPr>
          <p:cNvSpPr txBox="1"/>
          <p:nvPr/>
        </p:nvSpPr>
        <p:spPr>
          <a:xfrm>
            <a:off x="7236330" y="2861964"/>
            <a:ext cx="919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Cycle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B5468E7-3954-8F1C-39A8-A930B6013E25}"/>
                  </a:ext>
                </a:extLst>
              </p:cNvPr>
              <p:cNvSpPr txBox="1"/>
              <p:nvPr/>
            </p:nvSpPr>
            <p:spPr>
              <a:xfrm>
                <a:off x="435114" y="461725"/>
                <a:ext cx="2527292" cy="5525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…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B5468E7-3954-8F1C-39A8-A930B6013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114" y="461725"/>
                <a:ext cx="2527292" cy="5525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B848660-4B77-7DCE-706C-489EAD1C4AD9}"/>
              </a:ext>
            </a:extLst>
          </p:cNvPr>
          <p:cNvSpPr txBox="1"/>
          <p:nvPr/>
        </p:nvSpPr>
        <p:spPr>
          <a:xfrm>
            <a:off x="435114" y="3429000"/>
            <a:ext cx="1670457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3. </a:t>
            </a:r>
            <a:r>
              <a:rPr lang="en-US" b="1" dirty="0"/>
              <a:t>Tensor Core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933D7B-1624-788F-E464-67B7C3BFBC44}"/>
              </a:ext>
            </a:extLst>
          </p:cNvPr>
          <p:cNvSpPr/>
          <p:nvPr/>
        </p:nvSpPr>
        <p:spPr>
          <a:xfrm>
            <a:off x="2673008" y="4149084"/>
            <a:ext cx="481990" cy="411755"/>
          </a:xfrm>
          <a:prstGeom prst="rect">
            <a:avLst/>
          </a:prstGeom>
          <a:solidFill>
            <a:srgbClr val="9174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25A418-068F-EDD1-2DB5-C1F90326A5E5}"/>
              </a:ext>
            </a:extLst>
          </p:cNvPr>
          <p:cNvSpPr/>
          <p:nvPr/>
        </p:nvSpPr>
        <p:spPr>
          <a:xfrm>
            <a:off x="2673008" y="5386968"/>
            <a:ext cx="481990" cy="411755"/>
          </a:xfrm>
          <a:prstGeom prst="rect">
            <a:avLst/>
          </a:prstGeom>
          <a:solidFill>
            <a:srgbClr val="9174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X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7AD91E9-DF01-5972-1864-1CA64F8F7E9B}"/>
              </a:ext>
            </a:extLst>
          </p:cNvPr>
          <p:cNvCxnSpPr>
            <a:cxnSpLocks/>
            <a:stCxn id="11" idx="3"/>
            <a:endCxn id="44" idx="1"/>
          </p:cNvCxnSpPr>
          <p:nvPr/>
        </p:nvCxnSpPr>
        <p:spPr>
          <a:xfrm>
            <a:off x="3154998" y="4354962"/>
            <a:ext cx="563591" cy="379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06867BA-CF4B-7A1F-F0DD-8126B88B57E7}"/>
              </a:ext>
            </a:extLst>
          </p:cNvPr>
          <p:cNvCxnSpPr>
            <a:cxnSpLocks/>
            <a:stCxn id="16" idx="3"/>
            <a:endCxn id="44" idx="3"/>
          </p:cNvCxnSpPr>
          <p:nvPr/>
        </p:nvCxnSpPr>
        <p:spPr>
          <a:xfrm flipV="1">
            <a:off x="3154998" y="4995887"/>
            <a:ext cx="563591" cy="5969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B031C74D-C343-8B02-209D-1FA869C8E15B}"/>
              </a:ext>
            </a:extLst>
          </p:cNvPr>
          <p:cNvSpPr/>
          <p:nvPr/>
        </p:nvSpPr>
        <p:spPr>
          <a:xfrm>
            <a:off x="3657600" y="4680642"/>
            <a:ext cx="416459" cy="369332"/>
          </a:xfrm>
          <a:prstGeom prst="ellipse">
            <a:avLst/>
          </a:prstGeom>
          <a:solidFill>
            <a:srgbClr val="95EE7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+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CBB8139-592C-0D90-0CB5-8B59495A6A59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105571" y="4336269"/>
            <a:ext cx="567437" cy="186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9135EB6-D93E-275E-4B7B-BB98061C41B8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2178211" y="5574153"/>
            <a:ext cx="494797" cy="186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2B7F1E35-FB14-A8CC-FE06-2AD14D1FB32F}"/>
              </a:ext>
            </a:extLst>
          </p:cNvPr>
          <p:cNvSpPr txBox="1"/>
          <p:nvPr/>
        </p:nvSpPr>
        <p:spPr>
          <a:xfrm>
            <a:off x="2255168" y="4017596"/>
            <a:ext cx="225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0F25028-F435-A695-0CD3-2F1129254D70}"/>
              </a:ext>
            </a:extLst>
          </p:cNvPr>
          <p:cNvSpPr txBox="1"/>
          <p:nvPr/>
        </p:nvSpPr>
        <p:spPr>
          <a:xfrm>
            <a:off x="2287685" y="5202302"/>
            <a:ext cx="225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2E4FCDA-8898-E30E-39A0-933A485B5E5A}"/>
              </a:ext>
            </a:extLst>
          </p:cNvPr>
          <p:cNvSpPr/>
          <p:nvPr/>
        </p:nvSpPr>
        <p:spPr>
          <a:xfrm>
            <a:off x="5277846" y="4149084"/>
            <a:ext cx="481990" cy="411755"/>
          </a:xfrm>
          <a:prstGeom prst="rect">
            <a:avLst/>
          </a:prstGeom>
          <a:solidFill>
            <a:srgbClr val="9174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9B4ED08-6B63-1CDE-753E-7E85D1F45A88}"/>
              </a:ext>
            </a:extLst>
          </p:cNvPr>
          <p:cNvSpPr/>
          <p:nvPr/>
        </p:nvSpPr>
        <p:spPr>
          <a:xfrm>
            <a:off x="5277846" y="5386968"/>
            <a:ext cx="481990" cy="411755"/>
          </a:xfrm>
          <a:prstGeom prst="rect">
            <a:avLst/>
          </a:prstGeom>
          <a:solidFill>
            <a:srgbClr val="9174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X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251CA43-D7B4-D897-D30D-C87D42B275EC}"/>
              </a:ext>
            </a:extLst>
          </p:cNvPr>
          <p:cNvCxnSpPr>
            <a:cxnSpLocks/>
            <a:stCxn id="71" idx="3"/>
            <a:endCxn id="75" idx="1"/>
          </p:cNvCxnSpPr>
          <p:nvPr/>
        </p:nvCxnSpPr>
        <p:spPr>
          <a:xfrm>
            <a:off x="5759836" y="4354962"/>
            <a:ext cx="563591" cy="379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E1B71B00-E033-CA96-7678-C148FB76736A}"/>
              </a:ext>
            </a:extLst>
          </p:cNvPr>
          <p:cNvCxnSpPr>
            <a:cxnSpLocks/>
            <a:stCxn id="72" idx="3"/>
            <a:endCxn id="75" idx="3"/>
          </p:cNvCxnSpPr>
          <p:nvPr/>
        </p:nvCxnSpPr>
        <p:spPr>
          <a:xfrm flipV="1">
            <a:off x="5759836" y="4995887"/>
            <a:ext cx="563591" cy="5969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D94D0ADE-6683-9548-B763-9FA778EFBBD3}"/>
              </a:ext>
            </a:extLst>
          </p:cNvPr>
          <p:cNvSpPr/>
          <p:nvPr/>
        </p:nvSpPr>
        <p:spPr>
          <a:xfrm>
            <a:off x="6262438" y="4680642"/>
            <a:ext cx="416459" cy="369332"/>
          </a:xfrm>
          <a:prstGeom prst="ellipse">
            <a:avLst/>
          </a:prstGeom>
          <a:solidFill>
            <a:srgbClr val="95EE7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+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720D5CFC-261C-31E2-E06F-A043BF2912E3}"/>
              </a:ext>
            </a:extLst>
          </p:cNvPr>
          <p:cNvCxnSpPr>
            <a:cxnSpLocks/>
            <a:endCxn id="71" idx="1"/>
          </p:cNvCxnSpPr>
          <p:nvPr/>
        </p:nvCxnSpPr>
        <p:spPr>
          <a:xfrm>
            <a:off x="4710409" y="4336269"/>
            <a:ext cx="567437" cy="186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5E9FC09A-0624-49D0-BC94-DA7474260CFD}"/>
              </a:ext>
            </a:extLst>
          </p:cNvPr>
          <p:cNvCxnSpPr>
            <a:cxnSpLocks/>
            <a:endCxn id="72" idx="1"/>
          </p:cNvCxnSpPr>
          <p:nvPr/>
        </p:nvCxnSpPr>
        <p:spPr>
          <a:xfrm>
            <a:off x="4783049" y="5574153"/>
            <a:ext cx="494797" cy="186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4FE0B092-695A-9A6A-AC03-7B20C4A41325}"/>
              </a:ext>
            </a:extLst>
          </p:cNvPr>
          <p:cNvSpPr txBox="1"/>
          <p:nvPr/>
        </p:nvSpPr>
        <p:spPr>
          <a:xfrm>
            <a:off x="4860006" y="4017596"/>
            <a:ext cx="225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C37D86E-6D20-F913-C5DB-96E99D32AD2C}"/>
              </a:ext>
            </a:extLst>
          </p:cNvPr>
          <p:cNvSpPr txBox="1"/>
          <p:nvPr/>
        </p:nvSpPr>
        <p:spPr>
          <a:xfrm>
            <a:off x="4892523" y="5202302"/>
            <a:ext cx="225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F085D59A-9743-51AA-A071-8DE2BE2369BA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2914003" y="3657600"/>
            <a:ext cx="0" cy="4914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3964A50D-83FD-3262-8C4C-2B829EFF1332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2914003" y="5798723"/>
            <a:ext cx="0" cy="3910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4E71F78A-864E-E77E-3E77-2662F4D87E2F}"/>
              </a:ext>
            </a:extLst>
          </p:cNvPr>
          <p:cNvCxnSpPr>
            <a:cxnSpLocks/>
            <a:endCxn id="71" idx="0"/>
          </p:cNvCxnSpPr>
          <p:nvPr/>
        </p:nvCxnSpPr>
        <p:spPr>
          <a:xfrm>
            <a:off x="5518841" y="3798332"/>
            <a:ext cx="0" cy="3507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EC9DC75F-9824-8D68-636B-06F732B58AD7}"/>
              </a:ext>
            </a:extLst>
          </p:cNvPr>
          <p:cNvCxnSpPr>
            <a:cxnSpLocks/>
            <a:endCxn id="72" idx="2"/>
          </p:cNvCxnSpPr>
          <p:nvPr/>
        </p:nvCxnSpPr>
        <p:spPr>
          <a:xfrm flipV="1">
            <a:off x="5518841" y="5798723"/>
            <a:ext cx="0" cy="4934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57213081-CCEA-0D28-958F-6390DA2CA3FD}"/>
              </a:ext>
            </a:extLst>
          </p:cNvPr>
          <p:cNvSpPr txBox="1"/>
          <p:nvPr/>
        </p:nvSpPr>
        <p:spPr>
          <a:xfrm>
            <a:off x="2896863" y="36715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36723AD-FD44-AB3B-1977-1599AB03DF24}"/>
              </a:ext>
            </a:extLst>
          </p:cNvPr>
          <p:cNvSpPr txBox="1"/>
          <p:nvPr/>
        </p:nvSpPr>
        <p:spPr>
          <a:xfrm>
            <a:off x="2919796" y="578032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CBD0194-4447-4FBA-8A58-FDBAC84560DD}"/>
              </a:ext>
            </a:extLst>
          </p:cNvPr>
          <p:cNvSpPr txBox="1"/>
          <p:nvPr/>
        </p:nvSpPr>
        <p:spPr>
          <a:xfrm>
            <a:off x="5518841" y="374866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5374BE6-0AFD-2E42-80F5-742A8F3556F9}"/>
              </a:ext>
            </a:extLst>
          </p:cNvPr>
          <p:cNvSpPr txBox="1"/>
          <p:nvPr/>
        </p:nvSpPr>
        <p:spPr>
          <a:xfrm>
            <a:off x="5518841" y="583589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91B67566-7E47-D21F-F21E-AFBFAD62DB1B}"/>
              </a:ext>
            </a:extLst>
          </p:cNvPr>
          <p:cNvCxnSpPr/>
          <p:nvPr/>
        </p:nvCxnSpPr>
        <p:spPr>
          <a:xfrm>
            <a:off x="834431" y="1014312"/>
            <a:ext cx="530486" cy="0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CF83060A-ACD4-CFD0-A6CC-6EDD5FA09AB4}"/>
              </a:ext>
            </a:extLst>
          </p:cNvPr>
          <p:cNvSpPr txBox="1"/>
          <p:nvPr/>
        </p:nvSpPr>
        <p:spPr>
          <a:xfrm>
            <a:off x="951788" y="99754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022822A6-CECC-6C50-7747-BAC24BC11FDE}"/>
              </a:ext>
            </a:extLst>
          </p:cNvPr>
          <p:cNvCxnSpPr>
            <a:cxnSpLocks/>
          </p:cNvCxnSpPr>
          <p:nvPr/>
        </p:nvCxnSpPr>
        <p:spPr>
          <a:xfrm>
            <a:off x="1698760" y="1046062"/>
            <a:ext cx="974248" cy="0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B7606400-7BF4-88EB-9244-90EB78E8ADAD}"/>
              </a:ext>
            </a:extLst>
          </p:cNvPr>
          <p:cNvSpPr txBox="1"/>
          <p:nvPr/>
        </p:nvSpPr>
        <p:spPr>
          <a:xfrm>
            <a:off x="2048484" y="101431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778F00C7-3669-EC7C-17C3-88F4E5B94E3B}"/>
                  </a:ext>
                </a:extLst>
              </p:cNvPr>
              <p:cNvSpPr txBox="1"/>
              <p:nvPr/>
            </p:nvSpPr>
            <p:spPr>
              <a:xfrm flipH="1">
                <a:off x="435114" y="160318"/>
                <a:ext cx="8019220" cy="36933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Matrix multiplication of 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×(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778F00C7-3669-EC7C-17C3-88F4E5B94E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35114" y="160318"/>
                <a:ext cx="8019220" cy="369332"/>
              </a:xfrm>
              <a:prstGeom prst="rect">
                <a:avLst/>
              </a:prstGeom>
              <a:blipFill>
                <a:blip r:embed="rId3"/>
                <a:stretch>
                  <a:fillRect l="-608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TextBox 115">
            <a:extLst>
              <a:ext uri="{FF2B5EF4-FFF2-40B4-BE49-F238E27FC236}">
                <a16:creationId xmlns:a16="http://schemas.microsoft.com/office/drawing/2014/main" id="{EEDAB2F4-B60B-035F-F88C-3E37E6B23622}"/>
              </a:ext>
            </a:extLst>
          </p:cNvPr>
          <p:cNvSpPr txBox="1"/>
          <p:nvPr/>
        </p:nvSpPr>
        <p:spPr>
          <a:xfrm>
            <a:off x="8803806" y="2845282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5034A23A-BB17-900A-21CF-70201B0FCFDF}"/>
                  </a:ext>
                </a:extLst>
              </p:cNvPr>
              <p:cNvSpPr txBox="1"/>
              <p:nvPr/>
            </p:nvSpPr>
            <p:spPr>
              <a:xfrm>
                <a:off x="9841117" y="2861964"/>
                <a:ext cx="6070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5034A23A-BB17-900A-21CF-70201B0FC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1117" y="2861964"/>
                <a:ext cx="60708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EB24E3AD-C6BF-6551-49A7-E7B1AE496105}"/>
              </a:ext>
            </a:extLst>
          </p:cNvPr>
          <p:cNvCxnSpPr>
            <a:cxnSpLocks/>
          </p:cNvCxnSpPr>
          <p:nvPr/>
        </p:nvCxnSpPr>
        <p:spPr>
          <a:xfrm flipV="1">
            <a:off x="1698760" y="3903342"/>
            <a:ext cx="0" cy="2061653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677F1623-3818-7E2C-C881-D8FB4862FF12}"/>
              </a:ext>
            </a:extLst>
          </p:cNvPr>
          <p:cNvSpPr txBox="1"/>
          <p:nvPr/>
        </p:nvSpPr>
        <p:spPr>
          <a:xfrm>
            <a:off x="1170627" y="456483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937B327-FA07-61E7-38DF-604D198A292D}"/>
              </a:ext>
            </a:extLst>
          </p:cNvPr>
          <p:cNvSpPr txBox="1"/>
          <p:nvPr/>
        </p:nvSpPr>
        <p:spPr>
          <a:xfrm>
            <a:off x="7756570" y="4680642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D401261D-179C-A411-D02A-AF07DFBE74AF}"/>
                  </a:ext>
                </a:extLst>
              </p:cNvPr>
              <p:cNvSpPr txBox="1"/>
              <p:nvPr/>
            </p:nvSpPr>
            <p:spPr>
              <a:xfrm>
                <a:off x="8793881" y="4697324"/>
                <a:ext cx="4997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D401261D-179C-A411-D02A-AF07DFBE7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3881" y="4697324"/>
                <a:ext cx="49975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7844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7C709C-0AB3-B978-6AA9-82D2E44D9BB2}"/>
              </a:ext>
            </a:extLst>
          </p:cNvPr>
          <p:cNvSpPr txBox="1"/>
          <p:nvPr/>
        </p:nvSpPr>
        <p:spPr>
          <a:xfrm>
            <a:off x="2157861" y="719269"/>
            <a:ext cx="506994" cy="276999"/>
          </a:xfrm>
          <a:prstGeom prst="rect">
            <a:avLst/>
          </a:prstGeom>
          <a:noFill/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1 X 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33C461-58EA-6462-5196-28EF4A57029A}"/>
              </a:ext>
            </a:extLst>
          </p:cNvPr>
          <p:cNvSpPr/>
          <p:nvPr/>
        </p:nvSpPr>
        <p:spPr>
          <a:xfrm>
            <a:off x="1326151" y="1440079"/>
            <a:ext cx="2032083" cy="542821"/>
          </a:xfrm>
          <a:prstGeom prst="rect">
            <a:avLst/>
          </a:prstGeom>
          <a:solidFill>
            <a:srgbClr val="FAF482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FlashAttention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1770DC5-DB85-833D-CD16-3BADDC8B5158}"/>
              </a:ext>
            </a:extLst>
          </p:cNvPr>
          <p:cNvCxnSpPr>
            <a:cxnSpLocks/>
          </p:cNvCxnSpPr>
          <p:nvPr/>
        </p:nvCxnSpPr>
        <p:spPr>
          <a:xfrm>
            <a:off x="2372980" y="996268"/>
            <a:ext cx="0" cy="4154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C785642-972A-BE88-00A4-EEF112CD4B7C}"/>
              </a:ext>
            </a:extLst>
          </p:cNvPr>
          <p:cNvSpPr txBox="1"/>
          <p:nvPr/>
        </p:nvSpPr>
        <p:spPr>
          <a:xfrm>
            <a:off x="3969266" y="1554882"/>
            <a:ext cx="801909" cy="276999"/>
          </a:xfrm>
          <a:prstGeom prst="rect">
            <a:avLst/>
          </a:prstGeom>
          <a:noFill/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1 X d</a:t>
            </a:r>
            <a:r>
              <a:rPr lang="en-US" sz="700" dirty="0"/>
              <a:t>h</a:t>
            </a:r>
            <a:r>
              <a:rPr lang="en-US" sz="1200" dirty="0"/>
              <a:t> X h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5DEA552-445F-F426-7B40-28F531AA4264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3381050" y="1693381"/>
            <a:ext cx="58821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8178E31-7A3D-0668-A56B-62D8A6B4AE90}"/>
              </a:ext>
            </a:extLst>
          </p:cNvPr>
          <p:cNvCxnSpPr>
            <a:cxnSpLocks/>
          </p:cNvCxnSpPr>
          <p:nvPr/>
        </p:nvCxnSpPr>
        <p:spPr>
          <a:xfrm>
            <a:off x="2365007" y="2036305"/>
            <a:ext cx="0" cy="4154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A551E4F-AD8B-EBA9-AC46-1EA47BE993C4}"/>
              </a:ext>
            </a:extLst>
          </p:cNvPr>
          <p:cNvSpPr txBox="1"/>
          <p:nvPr/>
        </p:nvSpPr>
        <p:spPr>
          <a:xfrm>
            <a:off x="2443726" y="2113646"/>
            <a:ext cx="506994" cy="276999"/>
          </a:xfrm>
          <a:prstGeom prst="rect">
            <a:avLst/>
          </a:prstGeom>
          <a:noFill/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1 X d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3397886-2176-AEDA-93FE-48FFFC52233A}"/>
              </a:ext>
            </a:extLst>
          </p:cNvPr>
          <p:cNvCxnSpPr/>
          <p:nvPr/>
        </p:nvCxnSpPr>
        <p:spPr>
          <a:xfrm flipH="1">
            <a:off x="892098" y="1155266"/>
            <a:ext cx="1472909" cy="0"/>
          </a:xfrm>
          <a:prstGeom prst="line">
            <a:avLst/>
          </a:prstGeom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56ECC12-A5D5-0B35-C29C-F2EEE866D9AD}"/>
              </a:ext>
            </a:extLst>
          </p:cNvPr>
          <p:cNvCxnSpPr/>
          <p:nvPr/>
        </p:nvCxnSpPr>
        <p:spPr>
          <a:xfrm flipH="1">
            <a:off x="860874" y="1155266"/>
            <a:ext cx="31224" cy="1556711"/>
          </a:xfrm>
          <a:prstGeom prst="line">
            <a:avLst/>
          </a:prstGeom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CD383919-C4B1-4726-4C55-3594F1BC3C1D}"/>
              </a:ext>
            </a:extLst>
          </p:cNvPr>
          <p:cNvSpPr/>
          <p:nvPr/>
        </p:nvSpPr>
        <p:spPr>
          <a:xfrm>
            <a:off x="1503659" y="2505207"/>
            <a:ext cx="1614222" cy="592873"/>
          </a:xfrm>
          <a:prstGeom prst="rect">
            <a:avLst/>
          </a:prstGeom>
          <a:solidFill>
            <a:srgbClr val="FC8774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Add and Normalize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556E370-A717-35CD-B0B5-30010B294F2B}"/>
              </a:ext>
            </a:extLst>
          </p:cNvPr>
          <p:cNvCxnSpPr/>
          <p:nvPr/>
        </p:nvCxnSpPr>
        <p:spPr>
          <a:xfrm>
            <a:off x="851954" y="2711977"/>
            <a:ext cx="60216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86F15A8-5208-12E9-2DD4-8605B61CF2FE}"/>
              </a:ext>
            </a:extLst>
          </p:cNvPr>
          <p:cNvCxnSpPr>
            <a:cxnSpLocks/>
          </p:cNvCxnSpPr>
          <p:nvPr/>
        </p:nvCxnSpPr>
        <p:spPr>
          <a:xfrm>
            <a:off x="2365758" y="3096976"/>
            <a:ext cx="0" cy="4154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AF90814-7C80-4ED4-AE22-DE21BAED6BCE}"/>
              </a:ext>
            </a:extLst>
          </p:cNvPr>
          <p:cNvSpPr txBox="1"/>
          <p:nvPr/>
        </p:nvSpPr>
        <p:spPr>
          <a:xfrm>
            <a:off x="2436385" y="3166225"/>
            <a:ext cx="506994" cy="276999"/>
          </a:xfrm>
          <a:prstGeom prst="rect">
            <a:avLst/>
          </a:prstGeom>
          <a:noFill/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1 X d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3AE5D9C-8B14-B11C-C754-104CD9EC66C8}"/>
              </a:ext>
            </a:extLst>
          </p:cNvPr>
          <p:cNvSpPr/>
          <p:nvPr/>
        </p:nvSpPr>
        <p:spPr>
          <a:xfrm>
            <a:off x="1503658" y="3529053"/>
            <a:ext cx="1614217" cy="669074"/>
          </a:xfrm>
          <a:prstGeom prst="rect">
            <a:avLst/>
          </a:prstGeom>
          <a:solidFill>
            <a:srgbClr val="95EE76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Feed Forward Network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4076ED1-4200-0E99-E69F-417D205F59F6}"/>
              </a:ext>
            </a:extLst>
          </p:cNvPr>
          <p:cNvCxnSpPr>
            <a:cxnSpLocks/>
          </p:cNvCxnSpPr>
          <p:nvPr/>
        </p:nvCxnSpPr>
        <p:spPr>
          <a:xfrm>
            <a:off x="2365007" y="4250087"/>
            <a:ext cx="0" cy="4154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31EB632-E6D7-D79E-FB12-9B7CF1C7DA4D}"/>
              </a:ext>
            </a:extLst>
          </p:cNvPr>
          <p:cNvSpPr txBox="1"/>
          <p:nvPr/>
        </p:nvSpPr>
        <p:spPr>
          <a:xfrm>
            <a:off x="2459910" y="4315758"/>
            <a:ext cx="506994" cy="276999"/>
          </a:xfrm>
          <a:prstGeom prst="rect">
            <a:avLst/>
          </a:prstGeom>
          <a:noFill/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1 X d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666F812-38AA-3C5B-15C7-43C49F0D1A5A}"/>
              </a:ext>
            </a:extLst>
          </p:cNvPr>
          <p:cNvCxnSpPr>
            <a:cxnSpLocks/>
          </p:cNvCxnSpPr>
          <p:nvPr/>
        </p:nvCxnSpPr>
        <p:spPr>
          <a:xfrm flipH="1">
            <a:off x="863106" y="3930428"/>
            <a:ext cx="646250" cy="0"/>
          </a:xfrm>
          <a:prstGeom prst="line">
            <a:avLst/>
          </a:prstGeom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775E523-07CE-8742-06D2-043A989272E3}"/>
              </a:ext>
            </a:extLst>
          </p:cNvPr>
          <p:cNvCxnSpPr>
            <a:cxnSpLocks/>
          </p:cNvCxnSpPr>
          <p:nvPr/>
        </p:nvCxnSpPr>
        <p:spPr>
          <a:xfrm flipH="1">
            <a:off x="851954" y="3930427"/>
            <a:ext cx="15612" cy="1101743"/>
          </a:xfrm>
          <a:prstGeom prst="line">
            <a:avLst/>
          </a:prstGeom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93F91ED1-0DB6-3178-26E6-69974C879ACA}"/>
              </a:ext>
            </a:extLst>
          </p:cNvPr>
          <p:cNvSpPr/>
          <p:nvPr/>
        </p:nvSpPr>
        <p:spPr>
          <a:xfrm>
            <a:off x="1454120" y="4714740"/>
            <a:ext cx="1614222" cy="542821"/>
          </a:xfrm>
          <a:prstGeom prst="rect">
            <a:avLst/>
          </a:prstGeom>
          <a:solidFill>
            <a:srgbClr val="9174FC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Add and Normalize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3898C9C-28A6-0E56-7B9D-ACE5F19326CA}"/>
              </a:ext>
            </a:extLst>
          </p:cNvPr>
          <p:cNvCxnSpPr/>
          <p:nvPr/>
        </p:nvCxnSpPr>
        <p:spPr>
          <a:xfrm>
            <a:off x="847494" y="5032170"/>
            <a:ext cx="60216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E1CDC26-79A7-2227-2874-F78CBB76576B}"/>
              </a:ext>
            </a:extLst>
          </p:cNvPr>
          <p:cNvCxnSpPr>
            <a:cxnSpLocks/>
          </p:cNvCxnSpPr>
          <p:nvPr/>
        </p:nvCxnSpPr>
        <p:spPr>
          <a:xfrm>
            <a:off x="2365007" y="5265730"/>
            <a:ext cx="0" cy="4154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39E33F2E-C64E-5CF6-2336-0971423FB081}"/>
              </a:ext>
            </a:extLst>
          </p:cNvPr>
          <p:cNvSpPr txBox="1"/>
          <p:nvPr/>
        </p:nvSpPr>
        <p:spPr>
          <a:xfrm>
            <a:off x="2451818" y="5347585"/>
            <a:ext cx="506994" cy="276999"/>
          </a:xfrm>
          <a:prstGeom prst="rect">
            <a:avLst/>
          </a:prstGeom>
          <a:noFill/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r>
              <a:rPr lang="en-US" sz="1200" dirty="0"/>
              <a:t>1 X d</a:t>
            </a:r>
          </a:p>
        </p:txBody>
      </p: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86F9FC10-8B74-2246-4F78-DD0B3450DF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175526"/>
              </p:ext>
            </p:extLst>
          </p:nvPr>
        </p:nvGraphicFramePr>
        <p:xfrm>
          <a:off x="3969266" y="2273079"/>
          <a:ext cx="7740476" cy="270703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49445">
                  <a:extLst>
                    <a:ext uri="{9D8B030D-6E8A-4147-A177-3AD203B41FA5}">
                      <a16:colId xmlns:a16="http://schemas.microsoft.com/office/drawing/2014/main" val="1917750347"/>
                    </a:ext>
                  </a:extLst>
                </a:gridCol>
                <a:gridCol w="822852">
                  <a:extLst>
                    <a:ext uri="{9D8B030D-6E8A-4147-A177-3AD203B41FA5}">
                      <a16:colId xmlns:a16="http://schemas.microsoft.com/office/drawing/2014/main" val="2664508755"/>
                    </a:ext>
                  </a:extLst>
                </a:gridCol>
                <a:gridCol w="608195">
                  <a:extLst>
                    <a:ext uri="{9D8B030D-6E8A-4147-A177-3AD203B41FA5}">
                      <a16:colId xmlns:a16="http://schemas.microsoft.com/office/drawing/2014/main" val="175214157"/>
                    </a:ext>
                  </a:extLst>
                </a:gridCol>
                <a:gridCol w="858629">
                  <a:extLst>
                    <a:ext uri="{9D8B030D-6E8A-4147-A177-3AD203B41FA5}">
                      <a16:colId xmlns:a16="http://schemas.microsoft.com/office/drawing/2014/main" val="1489208654"/>
                    </a:ext>
                  </a:extLst>
                </a:gridCol>
                <a:gridCol w="643971">
                  <a:extLst>
                    <a:ext uri="{9D8B030D-6E8A-4147-A177-3AD203B41FA5}">
                      <a16:colId xmlns:a16="http://schemas.microsoft.com/office/drawing/2014/main" val="1589546655"/>
                    </a:ext>
                  </a:extLst>
                </a:gridCol>
                <a:gridCol w="479538">
                  <a:extLst>
                    <a:ext uri="{9D8B030D-6E8A-4147-A177-3AD203B41FA5}">
                      <a16:colId xmlns:a16="http://schemas.microsoft.com/office/drawing/2014/main" val="702234558"/>
                    </a:ext>
                  </a:extLst>
                </a:gridCol>
                <a:gridCol w="775151">
                  <a:extLst>
                    <a:ext uri="{9D8B030D-6E8A-4147-A177-3AD203B41FA5}">
                      <a16:colId xmlns:a16="http://schemas.microsoft.com/office/drawing/2014/main" val="719228419"/>
                    </a:ext>
                  </a:extLst>
                </a:gridCol>
                <a:gridCol w="703598">
                  <a:extLst>
                    <a:ext uri="{9D8B030D-6E8A-4147-A177-3AD203B41FA5}">
                      <a16:colId xmlns:a16="http://schemas.microsoft.com/office/drawing/2014/main" val="1907484369"/>
                    </a:ext>
                  </a:extLst>
                </a:gridCol>
                <a:gridCol w="831538">
                  <a:extLst>
                    <a:ext uri="{9D8B030D-6E8A-4147-A177-3AD203B41FA5}">
                      <a16:colId xmlns:a16="http://schemas.microsoft.com/office/drawing/2014/main" val="2306417933"/>
                    </a:ext>
                  </a:extLst>
                </a:gridCol>
                <a:gridCol w="967559">
                  <a:extLst>
                    <a:ext uri="{9D8B030D-6E8A-4147-A177-3AD203B41FA5}">
                      <a16:colId xmlns:a16="http://schemas.microsoft.com/office/drawing/2014/main" val="2332849642"/>
                    </a:ext>
                  </a:extLst>
                </a:gridCol>
              </a:tblGrid>
              <a:tr h="421722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rgbClr val="FAF482"/>
                          </a:solidFill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FAF482"/>
                          </a:solidFill>
                        </a:rPr>
                        <a:t>Latency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FAF482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FAF482"/>
                          </a:solidFill>
                        </a:rPr>
                        <a:t>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FAF482"/>
                          </a:solidFill>
                        </a:rPr>
                        <a:t>Throughput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FAF482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FAF482"/>
                          </a:solidFill>
                        </a:rPr>
                        <a:t>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FAF482"/>
                          </a:solidFill>
                        </a:rPr>
                        <a:t>Resource Utilization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FAF482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FAF482"/>
                          </a:solidFill>
                        </a:rPr>
                        <a:t>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1156295"/>
                  </a:ext>
                </a:extLst>
              </a:tr>
              <a:tr h="392723">
                <a:tc rowSpan="2"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1. Conventional Matrix Multiplication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4d</a:t>
                      </a:r>
                      <a:r>
                        <a:rPr lang="en-US" sz="105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4,194,304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1/4d</a:t>
                      </a:r>
                      <a:r>
                        <a:rPr lang="en-US" sz="105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2.38 e-7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0171698"/>
                  </a:ext>
                </a:extLst>
              </a:tr>
              <a:tr h="3927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2048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16,777,216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2048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5.96e-8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2048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7953070"/>
                  </a:ext>
                </a:extLst>
              </a:tr>
              <a:tr h="222739">
                <a:tc rowSpan="2"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2. Systolic Array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5d-1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5,119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4,096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6686373"/>
                  </a:ext>
                </a:extLst>
              </a:tr>
              <a:tr h="22273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2048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10,239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2048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2048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8,192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6907837"/>
                  </a:ext>
                </a:extLst>
              </a:tr>
              <a:tr h="343574">
                <a:tc rowSpan="2"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3. Tensor Core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(1+log</a:t>
                      </a:r>
                      <a:r>
                        <a:rPr lang="en-US" sz="1050" baseline="-25000" dirty="0">
                          <a:solidFill>
                            <a:schemeClr val="tx1"/>
                          </a:solidFill>
                        </a:rPr>
                        <a:t>2 </a:t>
                      </a:r>
                      <a:r>
                        <a:rPr lang="en-US" sz="1050" baseline="0" dirty="0">
                          <a:solidFill>
                            <a:schemeClr val="tx1"/>
                          </a:solidFill>
                        </a:rPr>
                        <a:t>(d))</a:t>
                      </a:r>
                      <a:endParaRPr lang="en-US" sz="105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4,096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8d</a:t>
                      </a:r>
                      <a:r>
                        <a:rPr lang="en-US" sz="105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1050" baseline="0" dirty="0">
                          <a:solidFill>
                            <a:schemeClr val="tx1"/>
                          </a:solidFill>
                        </a:rPr>
                        <a:t>-4d</a:t>
                      </a:r>
                      <a:endParaRPr lang="en-US" sz="1050" baseline="30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8,384,512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3622778"/>
                  </a:ext>
                </a:extLst>
              </a:tr>
              <a:tr h="34357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2048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2048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8,192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2048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33,546,240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81506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330C015-6BE3-9E42-4207-70E0DAF5179C}"/>
              </a:ext>
            </a:extLst>
          </p:cNvPr>
          <p:cNvSpPr txBox="1"/>
          <p:nvPr/>
        </p:nvSpPr>
        <p:spPr>
          <a:xfrm>
            <a:off x="5423026" y="588475"/>
            <a:ext cx="55959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Latency, throughput and resource utilization during matrix multiplication  of 1 x d row vector for a token with projection matrix of dimension d x </a:t>
            </a:r>
            <a:r>
              <a:rPr lang="en-US" dirty="0" err="1"/>
              <a:t>nd</a:t>
            </a:r>
            <a:r>
              <a:rPr lang="en-US" dirty="0"/>
              <a:t>, where n = 4</a:t>
            </a:r>
          </a:p>
        </p:txBody>
      </p:sp>
    </p:spTree>
    <p:extLst>
      <p:ext uri="{BB962C8B-B14F-4D97-AF65-F5344CB8AC3E}">
        <p14:creationId xmlns:p14="http://schemas.microsoft.com/office/powerpoint/2010/main" val="2416331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8AD84-DD01-62A0-AD0B-04102F184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310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rgbClr val="00B050"/>
                </a:solidFill>
              </a:rPr>
              <a:t>Latency, throughput and resource utilization for different combinations of n and d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9D54952-06E8-761A-FD27-CE882802BE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4989453"/>
              </p:ext>
            </p:extLst>
          </p:nvPr>
        </p:nvGraphicFramePr>
        <p:xfrm>
          <a:off x="838200" y="1518672"/>
          <a:ext cx="10596324" cy="508516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89273">
                  <a:extLst>
                    <a:ext uri="{9D8B030D-6E8A-4147-A177-3AD203B41FA5}">
                      <a16:colId xmlns:a16="http://schemas.microsoft.com/office/drawing/2014/main" val="1917750347"/>
                    </a:ext>
                  </a:extLst>
                </a:gridCol>
                <a:gridCol w="1167712">
                  <a:extLst>
                    <a:ext uri="{9D8B030D-6E8A-4147-A177-3AD203B41FA5}">
                      <a16:colId xmlns:a16="http://schemas.microsoft.com/office/drawing/2014/main" val="1751947460"/>
                    </a:ext>
                  </a:extLst>
                </a:gridCol>
                <a:gridCol w="1167712">
                  <a:extLst>
                    <a:ext uri="{9D8B030D-6E8A-4147-A177-3AD203B41FA5}">
                      <a16:colId xmlns:a16="http://schemas.microsoft.com/office/drawing/2014/main" val="316879294"/>
                    </a:ext>
                  </a:extLst>
                </a:gridCol>
                <a:gridCol w="1167712">
                  <a:extLst>
                    <a:ext uri="{9D8B030D-6E8A-4147-A177-3AD203B41FA5}">
                      <a16:colId xmlns:a16="http://schemas.microsoft.com/office/drawing/2014/main" val="2664508755"/>
                    </a:ext>
                  </a:extLst>
                </a:gridCol>
                <a:gridCol w="1218484">
                  <a:extLst>
                    <a:ext uri="{9D8B030D-6E8A-4147-A177-3AD203B41FA5}">
                      <a16:colId xmlns:a16="http://schemas.microsoft.com/office/drawing/2014/main" val="1489208654"/>
                    </a:ext>
                  </a:extLst>
                </a:gridCol>
                <a:gridCol w="913863">
                  <a:extLst>
                    <a:ext uri="{9D8B030D-6E8A-4147-A177-3AD203B41FA5}">
                      <a16:colId xmlns:a16="http://schemas.microsoft.com/office/drawing/2014/main" val="1589546655"/>
                    </a:ext>
                  </a:extLst>
                </a:gridCol>
                <a:gridCol w="1100021">
                  <a:extLst>
                    <a:ext uri="{9D8B030D-6E8A-4147-A177-3AD203B41FA5}">
                      <a16:colId xmlns:a16="http://schemas.microsoft.com/office/drawing/2014/main" val="719228419"/>
                    </a:ext>
                  </a:extLst>
                </a:gridCol>
                <a:gridCol w="998479">
                  <a:extLst>
                    <a:ext uri="{9D8B030D-6E8A-4147-A177-3AD203B41FA5}">
                      <a16:colId xmlns:a16="http://schemas.microsoft.com/office/drawing/2014/main" val="1907484369"/>
                    </a:ext>
                  </a:extLst>
                </a:gridCol>
                <a:gridCol w="1373068">
                  <a:extLst>
                    <a:ext uri="{9D8B030D-6E8A-4147-A177-3AD203B41FA5}">
                      <a16:colId xmlns:a16="http://schemas.microsoft.com/office/drawing/2014/main" val="2332849642"/>
                    </a:ext>
                  </a:extLst>
                </a:gridCol>
              </a:tblGrid>
              <a:tr h="421722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rgbClr val="FAF482"/>
                          </a:solidFill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FAF482"/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FAF482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FAF482"/>
                          </a:solidFill>
                        </a:rPr>
                        <a:t>Latency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FAF482"/>
                          </a:solidFill>
                        </a:rPr>
                        <a:t>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FAF482"/>
                          </a:solidFill>
                        </a:rPr>
                        <a:t>Throughput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FAF482"/>
                          </a:solidFill>
                        </a:rPr>
                        <a:t>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FAF482"/>
                          </a:solidFill>
                        </a:rPr>
                        <a:t>Resource Utilization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rgbClr val="FAF482"/>
                          </a:solidFill>
                        </a:rPr>
                        <a:t>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1156295"/>
                  </a:ext>
                </a:extLst>
              </a:tr>
              <a:tr h="130908">
                <a:tc rowSpan="6"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1. Conventional Matrix Multiplication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050" baseline="30000" dirty="0">
                          <a:solidFill>
                            <a:schemeClr val="tx1"/>
                          </a:solidFill>
                        </a:rPr>
                        <a:t>512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nd</a:t>
                      </a:r>
                      <a:r>
                        <a:rPr lang="en-US" sz="105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524288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1/nd</a:t>
                      </a:r>
                      <a:r>
                        <a:rPr lang="en-US" sz="105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  <a:p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1.9e-6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0171698"/>
                  </a:ext>
                </a:extLst>
              </a:tr>
              <a:tr h="13090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300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1572864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6.3e-7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7748019"/>
                  </a:ext>
                </a:extLst>
              </a:tr>
              <a:tr h="1309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300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2097152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4.8e-7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0456261"/>
                  </a:ext>
                </a:extLst>
              </a:tr>
              <a:tr h="16627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050" baseline="30000" dirty="0">
                          <a:solidFill>
                            <a:schemeClr val="tx1"/>
                          </a:solidFill>
                        </a:rPr>
                        <a:t>1024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2097152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4.8e-7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7953070"/>
                  </a:ext>
                </a:extLst>
              </a:tr>
              <a:tr h="16627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300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6291456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1.6e-7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1454646"/>
                  </a:ext>
                </a:extLst>
              </a:tr>
              <a:tr h="16627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300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8388608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1.2e-7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0140802"/>
                  </a:ext>
                </a:extLst>
              </a:tr>
              <a:tr h="0">
                <a:tc rowSpan="6"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2. Systolic Array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512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(n+1)d-1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1535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r>
                        <a:rPr lang="en-US" sz="1050" dirty="0" err="1">
                          <a:solidFill>
                            <a:schemeClr val="tx1"/>
                          </a:solidFill>
                        </a:rPr>
                        <a:t>nd</a:t>
                      </a:r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6686373"/>
                  </a:ext>
                </a:extLst>
              </a:tr>
              <a:tr h="1676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3583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3072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497848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4607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4096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884667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3071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2048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6907837"/>
                  </a:ext>
                </a:extLst>
              </a:tr>
              <a:tr h="1676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7167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6144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77877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9215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8192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0439853"/>
                  </a:ext>
                </a:extLst>
              </a:tr>
              <a:tr h="0">
                <a:tc rowSpan="6"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3. Tensor Core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050" baseline="-25000" dirty="0">
                          <a:solidFill>
                            <a:schemeClr val="tx1"/>
                          </a:solidFill>
                        </a:rPr>
                        <a:t>512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(1+log</a:t>
                      </a:r>
                      <a:r>
                        <a:rPr lang="en-US" sz="1050" baseline="-25000" dirty="0">
                          <a:solidFill>
                            <a:schemeClr val="tx1"/>
                          </a:solidFill>
                        </a:rPr>
                        <a:t>2 </a:t>
                      </a:r>
                      <a:r>
                        <a:rPr lang="en-US" sz="1050" baseline="0" dirty="0">
                          <a:solidFill>
                            <a:schemeClr val="tx1"/>
                          </a:solidFill>
                        </a:rPr>
                        <a:t>(d))</a:t>
                      </a:r>
                      <a:endParaRPr lang="en-US" sz="105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r>
                        <a:rPr lang="en-US" sz="1050" dirty="0" err="1">
                          <a:solidFill>
                            <a:schemeClr val="tx1"/>
                          </a:solidFill>
                        </a:rPr>
                        <a:t>nd</a:t>
                      </a:r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2nd</a:t>
                      </a:r>
                      <a:r>
                        <a:rPr lang="en-US" sz="105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1050" baseline="0" dirty="0">
                          <a:solidFill>
                            <a:schemeClr val="tx1"/>
                          </a:solidFill>
                        </a:rPr>
                        <a:t>-nd</a:t>
                      </a:r>
                      <a:endParaRPr lang="en-US" sz="1050" baseline="300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1047552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3622778"/>
                  </a:ext>
                </a:extLst>
              </a:tr>
              <a:tr h="1369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-250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3072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3142656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392078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-250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4096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4190208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886734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050" baseline="-25000" dirty="0">
                          <a:solidFill>
                            <a:schemeClr val="tx1"/>
                          </a:solidFill>
                        </a:rPr>
                        <a:t>1024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2048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4192256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815068"/>
                  </a:ext>
                </a:extLst>
              </a:tr>
              <a:tr h="1499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-250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6144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12576768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964042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aseline="-250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8192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16769024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4871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1470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6049E-0178-F29A-3A54-B6FD0E4C5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chemeClr val="accent6">
                    <a:lumMod val="75000"/>
                  </a:schemeClr>
                </a:solidFill>
              </a:rPr>
              <a:t>Key Takeaways from the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B3593-18F7-7540-5C41-49950BD73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Tensor core </a:t>
            </a:r>
            <a:r>
              <a:rPr lang="en-US" dirty="0"/>
              <a:t>method produces the </a:t>
            </a:r>
            <a:r>
              <a:rPr lang="en-US" dirty="0">
                <a:solidFill>
                  <a:srgbClr val="00B050"/>
                </a:solidFill>
              </a:rPr>
              <a:t>highest throughput </a:t>
            </a:r>
            <a:r>
              <a:rPr lang="en-US" dirty="0"/>
              <a:t>among the three methods discussed for matrix multiplication in Feed Forward Network.</a:t>
            </a:r>
          </a:p>
          <a:p>
            <a:r>
              <a:rPr lang="en-US" dirty="0"/>
              <a:t>It also uses the </a:t>
            </a:r>
            <a:r>
              <a:rPr lang="en-US" dirty="0">
                <a:solidFill>
                  <a:srgbClr val="00B050"/>
                </a:solidFill>
              </a:rPr>
              <a:t>highest amount of resources </a:t>
            </a:r>
            <a:r>
              <a:rPr lang="en-US" dirty="0"/>
              <a:t>among the three.</a:t>
            </a:r>
          </a:p>
          <a:p>
            <a:r>
              <a:rPr lang="en-US" dirty="0"/>
              <a:t>To </a:t>
            </a:r>
            <a:r>
              <a:rPr lang="en-US" dirty="0">
                <a:solidFill>
                  <a:srgbClr val="00B050"/>
                </a:solidFill>
              </a:rPr>
              <a:t>minimize</a:t>
            </a:r>
            <a:r>
              <a:rPr lang="en-US" dirty="0"/>
              <a:t> the </a:t>
            </a:r>
            <a:r>
              <a:rPr lang="en-US" dirty="0">
                <a:solidFill>
                  <a:srgbClr val="00B050"/>
                </a:solidFill>
              </a:rPr>
              <a:t>resource utilization </a:t>
            </a:r>
            <a:r>
              <a:rPr lang="en-US" dirty="0"/>
              <a:t>without affecting the throughput, we can use </a:t>
            </a:r>
            <a:r>
              <a:rPr lang="en-US" dirty="0">
                <a:solidFill>
                  <a:srgbClr val="00B050"/>
                </a:solidFill>
              </a:rPr>
              <a:t>tiling along with tensor core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82289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06825-1F29-3457-9BCE-585653D9A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chemeClr val="accent6">
                    <a:lumMod val="75000"/>
                  </a:schemeClr>
                </a:solidFill>
              </a:rPr>
              <a:t>Requirement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C4B55-8901-4A48-FDF0-44251B55E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perform matrix multiplication in the FFN tile wise in pipelined manner, we first require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Add &amp; Norm Layer </a:t>
            </a:r>
            <a:r>
              <a:rPr lang="en-US" dirty="0"/>
              <a:t>to perform operations on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each element of the 1 X d output vector </a:t>
            </a:r>
            <a:r>
              <a:rPr lang="en-US" dirty="0"/>
              <a:t>for each token from flashattention layer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parallelly</a:t>
            </a:r>
            <a:r>
              <a:rPr lang="en-US" dirty="0"/>
              <a:t>. </a:t>
            </a:r>
          </a:p>
          <a:p>
            <a:r>
              <a:rPr lang="en-US" dirty="0"/>
              <a:t>Elementwise addition is not an issue. </a:t>
            </a:r>
          </a:p>
          <a:p>
            <a:r>
              <a:rPr lang="en-US" dirty="0"/>
              <a:t>But with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conventional normalization </a:t>
            </a:r>
            <a:r>
              <a:rPr lang="en-US" dirty="0"/>
              <a:t>technique, 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entire 1X d row vector is required at the time of execution</a:t>
            </a:r>
            <a:r>
              <a:rPr lang="en-US" dirty="0"/>
              <a:t>, so we need a better technique.</a:t>
            </a:r>
          </a:p>
        </p:txBody>
      </p:sp>
    </p:spTree>
    <p:extLst>
      <p:ext uri="{BB962C8B-B14F-4D97-AF65-F5344CB8AC3E}">
        <p14:creationId xmlns:p14="http://schemas.microsoft.com/office/powerpoint/2010/main" val="4047715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C431B-F152-656D-3854-56D4BF6C9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8725" y="355600"/>
            <a:ext cx="10515600" cy="1325563"/>
          </a:xfrm>
        </p:spPr>
        <p:txBody>
          <a:bodyPr/>
          <a:lstStyle/>
          <a:p>
            <a:r>
              <a:rPr lang="en-US" b="1" u="sng" dirty="0">
                <a:solidFill>
                  <a:schemeClr val="accent6">
                    <a:lumMod val="75000"/>
                  </a:schemeClr>
                </a:solidFill>
              </a:rPr>
              <a:t>Proposed Alternate Normalization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C20A6-2E4A-CAEF-5031-29B776600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b="1" u="sng" dirty="0">
                <a:solidFill>
                  <a:schemeClr val="accent6">
                    <a:lumMod val="75000"/>
                  </a:schemeClr>
                </a:solidFill>
              </a:rPr>
              <a:t>Dynamic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b="1" u="sng" dirty="0">
                <a:solidFill>
                  <a:schemeClr val="accent6">
                    <a:lumMod val="75000"/>
                  </a:schemeClr>
                </a:solidFill>
              </a:rPr>
              <a:t>T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anh function (DyT):</a:t>
            </a:r>
          </a:p>
          <a:p>
            <a:r>
              <a:rPr lang="en-US" dirty="0"/>
              <a:t> </a:t>
            </a:r>
            <a:r>
              <a:rPr lang="en-US" sz="2000" dirty="0"/>
              <a:t>Layer Normalization layers map inputs to outputs using a tanh- like S shaped curve in the deep layers, which scales regular input accelerations an squashes extreme outlier values. So we can use a simple, element-wise alternative that can emulate Layer Normalization without calculating mean or variance. </a:t>
            </a:r>
          </a:p>
          <a:p>
            <a:r>
              <a:rPr lang="en-US" sz="2000" b="1" dirty="0"/>
              <a:t>DyT(x) = </a:t>
            </a:r>
            <a:r>
              <a:rPr lang="el-GR" sz="2000" b="1" dirty="0"/>
              <a:t>γ</a:t>
            </a:r>
            <a:r>
              <a:rPr lang="en-US" sz="2000" b="1" dirty="0"/>
              <a:t>*tanh(</a:t>
            </a:r>
            <a:r>
              <a:rPr lang="el-GR" sz="2000" b="1" dirty="0"/>
              <a:t>α</a:t>
            </a:r>
            <a:r>
              <a:rPr lang="en-US" sz="2000" b="1" dirty="0"/>
              <a:t>x) + </a:t>
            </a:r>
            <a:r>
              <a:rPr lang="el-GR" sz="2000" b="1" dirty="0"/>
              <a:t>β</a:t>
            </a:r>
            <a:r>
              <a:rPr lang="en-US" sz="2000" b="1" dirty="0"/>
              <a:t> </a:t>
            </a:r>
            <a:r>
              <a:rPr lang="en-US" sz="2000" dirty="0"/>
              <a:t>, where </a:t>
            </a:r>
            <a:r>
              <a:rPr lang="el-GR" sz="2000" dirty="0"/>
              <a:t>α</a:t>
            </a:r>
            <a:r>
              <a:rPr lang="en-US" sz="2000" dirty="0"/>
              <a:t> is a learnable scalar parameter. γ and β are learnable, per-channel vector parameters.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AB9661-AE7D-A1AF-BAE0-504E5CE94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078" y="4286003"/>
            <a:ext cx="4610743" cy="177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155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EE7BB-AD21-2C77-A2D6-509901FE3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chemeClr val="accent6">
                    <a:lumMod val="75000"/>
                  </a:schemeClr>
                </a:solidFill>
              </a:rPr>
              <a:t>Proposed Alternate Normalization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97239-23F4-5856-967C-19791C1C1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2.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Fixed Factor Scaling </a:t>
            </a:r>
            <a:r>
              <a:rPr lang="en-US" dirty="0"/>
              <a:t>: During training, the model tracks a moving average of means and variances across the dataset, saving them to mean_running and var_running for each d_model. </a:t>
            </a:r>
          </a:p>
          <a:p>
            <a:r>
              <a:rPr lang="en-US" b="1" dirty="0"/>
              <a:t>S = gamma ./ sqrt(var_running + epsilon); </a:t>
            </a:r>
            <a:r>
              <a:rPr lang="en-US" dirty="0"/>
              <a:t>//Static Scaling Factor S represents the total multiplying factor for each d_model.</a:t>
            </a:r>
          </a:p>
          <a:p>
            <a:r>
              <a:rPr lang="en-US" b="1" dirty="0"/>
              <a:t>beta_prime = beta - (gamma .* mean_running) ./ sqrt(var_running + epsilon); </a:t>
            </a:r>
            <a:r>
              <a:rPr lang="en-US" dirty="0"/>
              <a:t>// Shifting vector takes the original trained bias and subtracts the historical offset caused by running mean.</a:t>
            </a:r>
          </a:p>
          <a:p>
            <a:r>
              <a:rPr lang="en-US" b="1" dirty="0"/>
              <a:t>y = x .* S + beta_prime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558060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EE24E-0B6A-1B9C-111E-B21EDFA10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chemeClr val="accent6">
                    <a:lumMod val="75000"/>
                  </a:schemeClr>
                </a:solidFill>
              </a:rPr>
              <a:t>Mathematical Proof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BEDC7C-9A8D-91C3-E652-11C1198666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⋅</m:t>
                      </m:r>
                      <m:limLow>
                        <m:limLow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</m:num>
                                    <m:den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𝜖</m:t>
                                          </m:r>
                                        </m:e>
                                      </m:rad>
                                    </m:den>
                                  </m:f>
                                </m:e>
                              </m:d>
                            </m:e>
                          </m:groupChr>
                        </m:e>
                        <m:li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𝐒</m:t>
                          </m:r>
                        </m:lim>
                      </m:limLow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limLow>
                        <m:limLow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num>
                                    <m:den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𝜖</m:t>
                                          </m:r>
                                        </m:e>
                                      </m:rad>
                                    </m:den>
                                  </m:f>
                                </m:e>
                              </m:d>
                            </m:e>
                          </m:groupChr>
                        </m:e>
                        <m:li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lim>
                      </m:limLow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𝑎𝑟𝑒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𝑝𝑟𝑒𝑝𝑎𝑟𝑒𝑑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𝑎h𝑒𝑎𝑑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BEDC7C-9A8D-91C3-E652-11C1198666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6037C38-CB94-1BF2-CDBE-F7BFBDE94B05}"/>
              </a:ext>
            </a:extLst>
          </p:cNvPr>
          <p:cNvSpPr txBox="1"/>
          <p:nvPr/>
        </p:nvSpPr>
        <p:spPr>
          <a:xfrm>
            <a:off x="3038476" y="3031093"/>
            <a:ext cx="518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5803E-B0C8-DBDD-0E82-090C522BE711}"/>
              </a:ext>
            </a:extLst>
          </p:cNvPr>
          <p:cNvSpPr txBox="1"/>
          <p:nvPr/>
        </p:nvSpPr>
        <p:spPr>
          <a:xfrm>
            <a:off x="2926055" y="3816628"/>
            <a:ext cx="518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2C9D8D-F9E2-3425-7F8C-7072C70F2F52}"/>
              </a:ext>
            </a:extLst>
          </p:cNvPr>
          <p:cNvSpPr txBox="1"/>
          <p:nvPr/>
        </p:nvSpPr>
        <p:spPr>
          <a:xfrm>
            <a:off x="4591051" y="4850368"/>
            <a:ext cx="518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=&gt;</a:t>
            </a:r>
          </a:p>
        </p:txBody>
      </p:sp>
    </p:spTree>
    <p:extLst>
      <p:ext uri="{BB962C8B-B14F-4D97-AF65-F5344CB8AC3E}">
        <p14:creationId xmlns:p14="http://schemas.microsoft.com/office/powerpoint/2010/main" val="1791678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0A856-E765-D673-2F37-C8C289F1F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725" y="-37108"/>
            <a:ext cx="3333750" cy="1325563"/>
          </a:xfrm>
        </p:spPr>
        <p:txBody>
          <a:bodyPr/>
          <a:lstStyle/>
          <a:p>
            <a:r>
              <a:rPr lang="en-US" b="1" u="sng" dirty="0">
                <a:solidFill>
                  <a:schemeClr val="accent6">
                    <a:lumMod val="75000"/>
                  </a:schemeClr>
                </a:solidFill>
              </a:rPr>
              <a:t>Experiments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6D8C74-4FED-487F-19E4-003062ED78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787" y="1349375"/>
            <a:ext cx="8738876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5FE849-51C9-0EA7-29DA-7E97FC0177BD}"/>
              </a:ext>
            </a:extLst>
          </p:cNvPr>
          <p:cNvSpPr txBox="1"/>
          <p:nvPr/>
        </p:nvSpPr>
        <p:spPr>
          <a:xfrm>
            <a:off x="1621787" y="5761633"/>
            <a:ext cx="4095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Input and Output plots for Layer Normalization, Dynamic Tanh Function and their difference for d_model = 32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88C20C-5E48-0681-065E-7225F2930CB1}"/>
              </a:ext>
            </a:extLst>
          </p:cNvPr>
          <p:cNvSpPr txBox="1"/>
          <p:nvPr/>
        </p:nvSpPr>
        <p:spPr>
          <a:xfrm>
            <a:off x="6524627" y="5761633"/>
            <a:ext cx="4095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Input and Output plots for Layer Normalization, Fixed Factor Scaling and their difference for d_model = 32</a:t>
            </a:r>
          </a:p>
        </p:txBody>
      </p:sp>
    </p:spTree>
    <p:extLst>
      <p:ext uri="{BB962C8B-B14F-4D97-AF65-F5344CB8AC3E}">
        <p14:creationId xmlns:p14="http://schemas.microsoft.com/office/powerpoint/2010/main" val="3019987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B9837-C0DE-E812-5363-268F72283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3390900" cy="1082675"/>
          </a:xfrm>
        </p:spPr>
        <p:txBody>
          <a:bodyPr/>
          <a:lstStyle/>
          <a:p>
            <a:r>
              <a:rPr lang="en-US" b="1" u="sng" dirty="0">
                <a:solidFill>
                  <a:schemeClr val="accent6">
                    <a:lumMod val="75000"/>
                  </a:schemeClr>
                </a:solidFill>
              </a:rPr>
              <a:t>Experiments</a:t>
            </a:r>
            <a:endParaRPr lang="en-US" u="sn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14EC52-65B7-AD8E-12D5-D92EC7033E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6562" y="996950"/>
            <a:ext cx="8738876" cy="43513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6F1DF0-0712-F4A7-BBBF-D725D0A8C7D0}"/>
              </a:ext>
            </a:extLst>
          </p:cNvPr>
          <p:cNvSpPr txBox="1"/>
          <p:nvPr/>
        </p:nvSpPr>
        <p:spPr>
          <a:xfrm>
            <a:off x="1621787" y="5761633"/>
            <a:ext cx="4095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Input and Output plots for Layer Normalization, Dynamic Tanh Function and their difference for d_model = 1024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89D18-91FA-2DA1-8C76-B61C3158CE37}"/>
              </a:ext>
            </a:extLst>
          </p:cNvPr>
          <p:cNvSpPr txBox="1"/>
          <p:nvPr/>
        </p:nvSpPr>
        <p:spPr>
          <a:xfrm>
            <a:off x="6524627" y="5761633"/>
            <a:ext cx="4095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Input and Output plots for Layer Normalization, Fixed Factor Scaling and their difference for d_model = 1024</a:t>
            </a:r>
          </a:p>
        </p:txBody>
      </p:sp>
    </p:spTree>
    <p:extLst>
      <p:ext uri="{BB962C8B-B14F-4D97-AF65-F5344CB8AC3E}">
        <p14:creationId xmlns:p14="http://schemas.microsoft.com/office/powerpoint/2010/main" val="13470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0495D-7D7B-ED5A-1A77-E5092AAE0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chemeClr val="accent6">
                    <a:lumMod val="75000"/>
                  </a:schemeClr>
                </a:solidFill>
              </a:rPr>
              <a:t>Experiments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B10726-BEE2-6A45-444B-191DE1D45C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43485"/>
            <a:ext cx="5225520" cy="39191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4ACF66-400E-A80B-EE3D-D5225A8F0ACE}"/>
              </a:ext>
            </a:extLst>
          </p:cNvPr>
          <p:cNvSpPr txBox="1"/>
          <p:nvPr/>
        </p:nvSpPr>
        <p:spPr>
          <a:xfrm>
            <a:off x="4762500" y="1085037"/>
            <a:ext cx="334327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Different Input vector is used.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DED296-1176-5FFB-A24C-261F92F3E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137" y="1843485"/>
            <a:ext cx="5334000" cy="40005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8B5F7AF-F7D0-5CEA-7276-2F247E5D759C}"/>
              </a:ext>
            </a:extLst>
          </p:cNvPr>
          <p:cNvSpPr txBox="1"/>
          <p:nvPr/>
        </p:nvSpPr>
        <p:spPr>
          <a:xfrm>
            <a:off x="8610599" y="5920582"/>
            <a:ext cx="98107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 = 256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4B7523-38EC-1F8B-2EBD-1A352CEDE9FF}"/>
              </a:ext>
            </a:extLst>
          </p:cNvPr>
          <p:cNvSpPr txBox="1"/>
          <p:nvPr/>
        </p:nvSpPr>
        <p:spPr>
          <a:xfrm>
            <a:off x="2514600" y="5896372"/>
            <a:ext cx="8858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 = 16</a:t>
            </a:r>
          </a:p>
        </p:txBody>
      </p:sp>
    </p:spTree>
    <p:extLst>
      <p:ext uri="{BB962C8B-B14F-4D97-AF65-F5344CB8AC3E}">
        <p14:creationId xmlns:p14="http://schemas.microsoft.com/office/powerpoint/2010/main" val="920300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EA05B-E27B-47A2-C5D8-0B256092E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4701" y="1936750"/>
            <a:ext cx="5391150" cy="1325563"/>
          </a:xfrm>
        </p:spPr>
        <p:txBody>
          <a:bodyPr>
            <a:noAutofit/>
          </a:bodyPr>
          <a:lstStyle/>
          <a:p>
            <a:r>
              <a:rPr lang="en-US" sz="6600" b="1" dirty="0">
                <a:solidFill>
                  <a:schemeClr val="accent6">
                    <a:lumMod val="75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42272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853</Words>
  <Application>Microsoft Office PowerPoint</Application>
  <PresentationFormat>Widescreen</PresentationFormat>
  <Paragraphs>252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Office Theme</vt:lpstr>
      <vt:lpstr>Faster Matrix Multiplication and Element-Wise Add and Normalization Technique</vt:lpstr>
      <vt:lpstr>PowerPoint Presentation</vt:lpstr>
      <vt:lpstr>PowerPoint Presentation</vt:lpstr>
      <vt:lpstr>Latency, throughput and resource utilization for different combinations of n and d </vt:lpstr>
      <vt:lpstr>Key Takeaways from the Table</vt:lpstr>
      <vt:lpstr>Requirement</vt:lpstr>
      <vt:lpstr>Proposed Alternate Normalization Techniques</vt:lpstr>
      <vt:lpstr>Proposed Alternate Normalization Techniques</vt:lpstr>
      <vt:lpstr>Mathematical Proof</vt:lpstr>
      <vt:lpstr>Experiments</vt:lpstr>
      <vt:lpstr>Experiments</vt:lpstr>
      <vt:lpstr>Experiments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Aruddha Basu</dc:creator>
  <cp:lastModifiedBy>Rahul Tripathy</cp:lastModifiedBy>
  <cp:revision>28</cp:revision>
  <dcterms:created xsi:type="dcterms:W3CDTF">2026-06-16T06:33:56Z</dcterms:created>
  <dcterms:modified xsi:type="dcterms:W3CDTF">2026-06-18T12:09:34Z</dcterms:modified>
</cp:coreProperties>
</file>