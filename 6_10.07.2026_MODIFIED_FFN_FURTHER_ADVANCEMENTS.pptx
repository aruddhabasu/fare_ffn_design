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61" r:id="rId4"/>
    <p:sldId id="262" r:id="rId5"/>
    <p:sldId id="258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12F60-534F-425F-BAA7-861EFC14BBA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F0B190-C367-4573-BBF7-65E8DFD85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41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2C382-D5A4-48C2-88BB-73D34FFEC3B4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745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A939-73EE-287A-CA8C-E6EF305E4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B7D35-114E-9B73-F87B-F57F32EA7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20546-590F-F13F-9B44-B8A368C93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C014E-4F5F-C818-431D-3BA14CF0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3271F-18D9-23BF-0A85-DE748ED8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24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373E5-B496-3A59-1225-1D166B46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528E-A863-2F13-3AE5-725A0B0CB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8ECE3-BA05-44C4-3477-CB0DB17B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35D4D-F83F-837F-7186-F835F000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1550B-0182-E8B8-4A11-0F5425EA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3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ABD41-8BD9-AAA3-3F4E-86A13431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20DB7-910C-B3B0-77A0-493C41CF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E19A5-7BB8-A97E-9747-415A770A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D91E3-9D63-7543-5B91-7A85911B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AF858-AF7D-906B-25D7-099EB066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24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A5FA-AEC0-76FE-8C29-26848335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AA4E7-537A-C6C3-A327-3682B3397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BEFA0-EB8E-5723-70CF-116041435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50D29-EDFC-E1E1-49D0-87E810C0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FB9BD-957B-CCBD-EC9A-D7A65DDD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1B713-5706-AC69-6117-44BBA4B6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84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B70F-3B34-8921-5615-461C9607B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3191C-5E96-7BA2-DAF0-66C899CC7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85F59-F768-65F2-E46E-7AC243B7D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003EA-02B9-7981-A109-084BEE3D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D0F28-BEF4-099A-2B13-FC3BA8F0A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6F23FD-07C7-3537-E601-04E1501D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78706-33D6-0BAE-36DA-B90BA423A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B266B-56BB-9502-EC56-43348F6F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84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5315-01FB-13E0-98BB-53478448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3B264-C2A9-E341-0A72-B6D210FC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19C63-104B-766C-5073-0B9B9566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821A4-169D-E357-E8DA-2C0A49ED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99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1CEBC-412F-DF92-92C9-41C89E5F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6E6F1-196B-0CEF-249B-A726565C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5E0D0-593B-6332-3282-77C693EB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739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C847-E1B7-B4CA-D066-558553BD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3A28-5C6C-61CE-8257-6F726856C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EB569-919C-9089-C85C-58B88DA05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115FE-B3D6-1050-DB13-0E9704B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78583-BC83-877E-B055-C4176200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0554C-07E5-F7C3-4C99-E44A035C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11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C268-CF15-C802-C285-DE0436850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EDF86-A62D-D6DA-105C-0394DE9BF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CD707-F0E7-6287-EBBF-6F228A33E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A48B8-79B6-D70B-DE3C-874A6955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7A3B9-BDD6-026B-2CF9-DCFCB4B57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B3D2B-5E8E-01B9-92B8-4469A89B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72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573A-A38E-647D-0026-94FB84C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6D753-F45D-C279-619B-5D595BC43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0A28F-7DA6-BD4B-C8CE-9ABF40A4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74E47-E013-18EB-F31F-14305BE9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B58E-EB50-F0E4-454B-BF8B31CD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17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E9434D-D77C-4FC1-768E-E30988081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E1E69-24A8-CB73-2BE4-D1BC74FCA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D9A4F-6B86-DDCC-329E-B52020A1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BA5CD-D3F2-6C4F-1B1F-6429D27A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0910A-F154-0B0A-7B07-C024B8EA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8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0F5D8-8D25-9575-460B-B7DA63FE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7B8A8-6386-F8C7-1BB7-19D632610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8966E-312C-5F21-5272-E77F0B8BA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DB9E1-3684-494B-8023-BD9225F01081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0C3D-1D34-3820-9A3F-D6E211C6F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CB36C-B4F0-A78B-3841-0499C05AF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BEE25-5F53-4440-803C-29FD67E62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0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869E-7F1A-985D-0798-CC2E7F8BDC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Further Advancements in Modified Pipelined FFN</a:t>
            </a:r>
          </a:p>
        </p:txBody>
      </p:sp>
    </p:spTree>
    <p:extLst>
      <p:ext uri="{BB962C8B-B14F-4D97-AF65-F5344CB8AC3E}">
        <p14:creationId xmlns:p14="http://schemas.microsoft.com/office/powerpoint/2010/main" val="174814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C12E-3126-ADEC-C92D-111C135AA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815" y="259359"/>
            <a:ext cx="11430000" cy="165576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Basic Representation of Modified</a:t>
            </a:r>
            <a:br>
              <a:rPr lang="en-US" sz="4800" b="1" dirty="0">
                <a:solidFill>
                  <a:srgbClr val="00B050"/>
                </a:solidFill>
              </a:rPr>
            </a:br>
            <a:r>
              <a:rPr lang="en-US" sz="4800" b="1" dirty="0">
                <a:solidFill>
                  <a:srgbClr val="00B050"/>
                </a:solidFill>
              </a:rPr>
              <a:t>Pipelined Feed Forward Network</a:t>
            </a:r>
            <a:endParaRPr lang="en-IN" sz="4800" b="1" dirty="0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FFE6A-285C-5D9B-9F99-AA127B32D301}"/>
              </a:ext>
            </a:extLst>
          </p:cNvPr>
          <p:cNvSpPr/>
          <p:nvPr/>
        </p:nvSpPr>
        <p:spPr>
          <a:xfrm>
            <a:off x="4338736" y="2184110"/>
            <a:ext cx="2892489" cy="306977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Pipelined FFN</a:t>
            </a:r>
          </a:p>
          <a:p>
            <a:pPr algn="ctr"/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FBCC83-BC78-94FA-53BD-45DC332EE309}"/>
              </a:ext>
            </a:extLst>
          </p:cNvPr>
          <p:cNvCxnSpPr>
            <a:cxnSpLocks/>
          </p:cNvCxnSpPr>
          <p:nvPr/>
        </p:nvCxnSpPr>
        <p:spPr>
          <a:xfrm>
            <a:off x="2286000" y="2633472"/>
            <a:ext cx="2052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E10B0CC-9130-55F0-3F23-0BB5EEEB5B2A}"/>
              </a:ext>
            </a:extLst>
          </p:cNvPr>
          <p:cNvSpPr/>
          <p:nvPr/>
        </p:nvSpPr>
        <p:spPr>
          <a:xfrm>
            <a:off x="3986173" y="5742154"/>
            <a:ext cx="850392" cy="443482"/>
          </a:xfrm>
          <a:prstGeom prst="rect">
            <a:avLst/>
          </a:prstGeom>
          <a:solidFill>
            <a:srgbClr val="FA7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clk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A734AC-6585-A307-275A-86C2C67B0B6B}"/>
              </a:ext>
            </a:extLst>
          </p:cNvPr>
          <p:cNvCxnSpPr>
            <a:cxnSpLocks/>
          </p:cNvCxnSpPr>
          <p:nvPr/>
        </p:nvCxnSpPr>
        <p:spPr>
          <a:xfrm>
            <a:off x="2186159" y="3218690"/>
            <a:ext cx="2152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03B3B3D-ABE6-5576-0156-3E7E12E6CC59}"/>
              </a:ext>
            </a:extLst>
          </p:cNvPr>
          <p:cNvSpPr/>
          <p:nvPr/>
        </p:nvSpPr>
        <p:spPr>
          <a:xfrm>
            <a:off x="4920543" y="5742154"/>
            <a:ext cx="850392" cy="443482"/>
          </a:xfrm>
          <a:prstGeom prst="rect">
            <a:avLst/>
          </a:prstGeom>
          <a:solidFill>
            <a:srgbClr val="FA7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rst</a:t>
            </a:r>
            <a:endParaRPr lang="en-IN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D6692B-D3E1-6E71-1E7A-0E67A4340008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411369" y="5243164"/>
            <a:ext cx="5672" cy="498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411A333-25F4-E9F9-0B06-2BAC37505083}"/>
              </a:ext>
            </a:extLst>
          </p:cNvPr>
          <p:cNvSpPr/>
          <p:nvPr/>
        </p:nvSpPr>
        <p:spPr>
          <a:xfrm>
            <a:off x="5846342" y="5742154"/>
            <a:ext cx="850392" cy="443482"/>
          </a:xfrm>
          <a:prstGeom prst="rect">
            <a:avLst/>
          </a:prstGeom>
          <a:solidFill>
            <a:srgbClr val="FA7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start</a:t>
            </a:r>
            <a:endParaRPr lang="en-IN" b="1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13EB2B-7E29-3F35-1FE5-14E4A873758C}"/>
              </a:ext>
            </a:extLst>
          </p:cNvPr>
          <p:cNvCxnSpPr>
            <a:cxnSpLocks/>
          </p:cNvCxnSpPr>
          <p:nvPr/>
        </p:nvCxnSpPr>
        <p:spPr>
          <a:xfrm>
            <a:off x="2177238" y="4160554"/>
            <a:ext cx="2152577" cy="2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C66BB-ABA1-83D3-7429-F8A0B7A58A39}"/>
              </a:ext>
            </a:extLst>
          </p:cNvPr>
          <p:cNvSpPr/>
          <p:nvPr/>
        </p:nvSpPr>
        <p:spPr>
          <a:xfrm>
            <a:off x="208815" y="2454473"/>
            <a:ext cx="1977344" cy="443482"/>
          </a:xfrm>
          <a:prstGeom prst="rect">
            <a:avLst/>
          </a:prstGeom>
          <a:solidFill>
            <a:srgbClr val="68D4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Row vector input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F3087E-542F-C225-3EEA-4CDD48D7627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345739" y="5282194"/>
            <a:ext cx="0" cy="459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127FFE-81EC-13F7-4AEC-2C94106C0945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6271538" y="5270654"/>
            <a:ext cx="0" cy="47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FD0C13F-C605-F2A8-415C-28ED96B7B129}"/>
              </a:ext>
            </a:extLst>
          </p:cNvPr>
          <p:cNvSpPr/>
          <p:nvPr/>
        </p:nvSpPr>
        <p:spPr>
          <a:xfrm>
            <a:off x="208815" y="2999906"/>
            <a:ext cx="1977344" cy="806955"/>
          </a:xfrm>
          <a:prstGeom prst="rect">
            <a:avLst/>
          </a:prstGeom>
          <a:solidFill>
            <a:srgbClr val="68D4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BRAM up projection data bus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A106D8-5E4D-B2FC-01E0-B044EEA52230}"/>
              </a:ext>
            </a:extLst>
          </p:cNvPr>
          <p:cNvSpPr/>
          <p:nvPr/>
        </p:nvSpPr>
        <p:spPr>
          <a:xfrm>
            <a:off x="188703" y="3931118"/>
            <a:ext cx="1977344" cy="806955"/>
          </a:xfrm>
          <a:prstGeom prst="rect">
            <a:avLst/>
          </a:prstGeom>
          <a:solidFill>
            <a:srgbClr val="68D4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BRAM down projection data bus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7CD54-44BD-1D0B-9EAF-314F9AB694D8}"/>
              </a:ext>
            </a:extLst>
          </p:cNvPr>
          <p:cNvSpPr/>
          <p:nvPr/>
        </p:nvSpPr>
        <p:spPr>
          <a:xfrm>
            <a:off x="8996433" y="2164282"/>
            <a:ext cx="1977344" cy="806955"/>
          </a:xfrm>
          <a:prstGeom prst="rect">
            <a:avLst/>
          </a:prstGeom>
          <a:solidFill>
            <a:srgbClr val="A7F6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BRAM up projection address bus</a:t>
            </a:r>
            <a:endParaRPr lang="en-IN" b="1" dirty="0">
              <a:solidFill>
                <a:sysClr val="windowText" lastClr="00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E254BC-C664-2ECC-F9B8-2192D1933A82}"/>
              </a:ext>
            </a:extLst>
          </p:cNvPr>
          <p:cNvCxnSpPr>
            <a:cxnSpLocks/>
          </p:cNvCxnSpPr>
          <p:nvPr/>
        </p:nvCxnSpPr>
        <p:spPr>
          <a:xfrm flipV="1">
            <a:off x="7231225" y="2454473"/>
            <a:ext cx="1765208" cy="15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8B99B-244D-4215-8E12-450A92C93C6E}"/>
              </a:ext>
            </a:extLst>
          </p:cNvPr>
          <p:cNvSpPr/>
          <p:nvPr/>
        </p:nvSpPr>
        <p:spPr>
          <a:xfrm>
            <a:off x="8996433" y="3080007"/>
            <a:ext cx="1977344" cy="806955"/>
          </a:xfrm>
          <a:prstGeom prst="rect">
            <a:avLst/>
          </a:prstGeom>
          <a:solidFill>
            <a:srgbClr val="A7F6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BRAM down projection address bus</a:t>
            </a:r>
            <a:endParaRPr lang="en-IN" b="1" dirty="0">
              <a:solidFill>
                <a:sysClr val="windowText" lastClr="00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F77BB5-328B-E86D-9560-4AF6C820F94C}"/>
              </a:ext>
            </a:extLst>
          </p:cNvPr>
          <p:cNvCxnSpPr>
            <a:cxnSpLocks/>
          </p:cNvCxnSpPr>
          <p:nvPr/>
        </p:nvCxnSpPr>
        <p:spPr>
          <a:xfrm>
            <a:off x="7231225" y="3388994"/>
            <a:ext cx="1788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173AFC9-EE6E-AD27-6015-CD3A08C939F3}"/>
              </a:ext>
            </a:extLst>
          </p:cNvPr>
          <p:cNvSpPr/>
          <p:nvPr/>
        </p:nvSpPr>
        <p:spPr>
          <a:xfrm>
            <a:off x="6768339" y="5703858"/>
            <a:ext cx="850392" cy="443482"/>
          </a:xfrm>
          <a:prstGeom prst="rect">
            <a:avLst/>
          </a:prstGeom>
          <a:solidFill>
            <a:srgbClr val="FA7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done</a:t>
            </a:r>
            <a:endParaRPr lang="en-IN" b="1" dirty="0">
              <a:solidFill>
                <a:sysClr val="windowText" lastClr="00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15CD0B-9D92-4787-DB87-99A9D5AC6FEB}"/>
              </a:ext>
            </a:extLst>
          </p:cNvPr>
          <p:cNvCxnSpPr>
            <a:cxnSpLocks/>
          </p:cNvCxnSpPr>
          <p:nvPr/>
        </p:nvCxnSpPr>
        <p:spPr>
          <a:xfrm>
            <a:off x="6994244" y="5281874"/>
            <a:ext cx="0" cy="40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1AEBD04-A1DB-A770-1FA8-994B08A924D0}"/>
              </a:ext>
            </a:extLst>
          </p:cNvPr>
          <p:cNvSpPr/>
          <p:nvPr/>
        </p:nvSpPr>
        <p:spPr>
          <a:xfrm>
            <a:off x="9019905" y="4185078"/>
            <a:ext cx="1977344" cy="806955"/>
          </a:xfrm>
          <a:prstGeom prst="rect">
            <a:avLst/>
          </a:prstGeom>
          <a:solidFill>
            <a:srgbClr val="A7F6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Accumulator register bank</a:t>
            </a:r>
            <a:endParaRPr lang="en-IN" b="1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C83353-F206-54F0-D269-2D6063A9F278}"/>
              </a:ext>
            </a:extLst>
          </p:cNvPr>
          <p:cNvCxnSpPr>
            <a:cxnSpLocks/>
          </p:cNvCxnSpPr>
          <p:nvPr/>
        </p:nvCxnSpPr>
        <p:spPr>
          <a:xfrm>
            <a:off x="7231225" y="4526746"/>
            <a:ext cx="1788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8934A4-09AA-57CB-29EE-F4884B838816}"/>
              </a:ext>
            </a:extLst>
          </p:cNvPr>
          <p:cNvSpPr txBox="1"/>
          <p:nvPr/>
        </p:nvSpPr>
        <p:spPr>
          <a:xfrm>
            <a:off x="2573528" y="2198209"/>
            <a:ext cx="18368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[(INPUT_TILE * BIT_WIDTH)-1:0]</a:t>
            </a:r>
            <a:endParaRPr lang="en-IN" sz="9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B2AFB6-6199-249D-3ABC-ECDB80887954}"/>
              </a:ext>
            </a:extLst>
          </p:cNvPr>
          <p:cNvSpPr txBox="1"/>
          <p:nvPr/>
        </p:nvSpPr>
        <p:spPr>
          <a:xfrm>
            <a:off x="7316907" y="4075764"/>
            <a:ext cx="17029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[(4*</a:t>
            </a:r>
            <a:r>
              <a:rPr lang="en-US" sz="900" b="1" dirty="0" err="1"/>
              <a:t>d_model</a:t>
            </a:r>
            <a:r>
              <a:rPr lang="en-US" sz="900" b="1" dirty="0"/>
              <a:t> * BIT_WIDTH)-1:0]</a:t>
            </a:r>
            <a:endParaRPr lang="en-IN" sz="9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2EEB1E-1F28-5138-E070-402F6425E1DE}"/>
              </a:ext>
            </a:extLst>
          </p:cNvPr>
          <p:cNvSpPr txBox="1"/>
          <p:nvPr/>
        </p:nvSpPr>
        <p:spPr>
          <a:xfrm>
            <a:off x="2166047" y="2858866"/>
            <a:ext cx="23328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[(INPUT_TILE*INPUT_TILE*BIT_WIDTH)-1:0]</a:t>
            </a:r>
            <a:endParaRPr lang="en-IN" sz="9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05D014-E11F-4BD9-D83C-649F5FBA6AE2}"/>
              </a:ext>
            </a:extLst>
          </p:cNvPr>
          <p:cNvSpPr txBox="1"/>
          <p:nvPr/>
        </p:nvSpPr>
        <p:spPr>
          <a:xfrm>
            <a:off x="2079190" y="3769559"/>
            <a:ext cx="234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[(2*INPUT_TILE*INPUT_TILE*BIT_WIDTH)-1:0]</a:t>
            </a:r>
            <a:endParaRPr lang="en-IN" sz="9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5D0A78-2768-BDB4-F6D1-0165E8C36174}"/>
              </a:ext>
            </a:extLst>
          </p:cNvPr>
          <p:cNvSpPr txBox="1"/>
          <p:nvPr/>
        </p:nvSpPr>
        <p:spPr>
          <a:xfrm>
            <a:off x="7192617" y="2938013"/>
            <a:ext cx="16173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[($clog2((4*</a:t>
            </a:r>
            <a:r>
              <a:rPr lang="en-US" sz="900" b="1" dirty="0" err="1"/>
              <a:t>d_model</a:t>
            </a:r>
            <a:r>
              <a:rPr lang="en-US" sz="900" b="1" dirty="0"/>
              <a:t>*</a:t>
            </a:r>
            <a:r>
              <a:rPr lang="en-US" sz="900" b="1" dirty="0" err="1"/>
              <a:t>d_model</a:t>
            </a:r>
            <a:r>
              <a:rPr lang="en-US" sz="900" b="1" dirty="0"/>
              <a:t>)/(INPUT_TILE*INPUT_TILE)))-1:0]</a:t>
            </a:r>
            <a:endParaRPr lang="en-IN" sz="9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2B5C49-D85F-7A54-FC72-A5B8C1A6A603}"/>
              </a:ext>
            </a:extLst>
          </p:cNvPr>
          <p:cNvSpPr txBox="1"/>
          <p:nvPr/>
        </p:nvSpPr>
        <p:spPr>
          <a:xfrm>
            <a:off x="7192617" y="1936784"/>
            <a:ext cx="1617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[($clog2((4*</a:t>
            </a:r>
            <a:r>
              <a:rPr lang="en-US" sz="800" b="1" dirty="0" err="1"/>
              <a:t>d_model</a:t>
            </a:r>
            <a:r>
              <a:rPr lang="en-US" sz="800" b="1" dirty="0"/>
              <a:t>*</a:t>
            </a:r>
            <a:r>
              <a:rPr lang="en-US" sz="800" b="1" dirty="0" err="1"/>
              <a:t>d_model</a:t>
            </a:r>
            <a:r>
              <a:rPr lang="en-US" sz="800" b="1" dirty="0"/>
              <a:t>)/(INPUT_TILE*INPUT_TILE)))-1:0]</a:t>
            </a:r>
            <a:endParaRPr lang="en-IN" sz="800" b="1" dirty="0"/>
          </a:p>
        </p:txBody>
      </p:sp>
    </p:spTree>
    <p:extLst>
      <p:ext uri="{BB962C8B-B14F-4D97-AF65-F5344CB8AC3E}">
        <p14:creationId xmlns:p14="http://schemas.microsoft.com/office/powerpoint/2010/main" val="186759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7EBFA-7B3B-502C-885B-F8BA0DF3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983" y="91032"/>
            <a:ext cx="52578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2 Different States Used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3FCD6F-541D-D212-07BA-D2AEC498F9C5}"/>
              </a:ext>
            </a:extLst>
          </p:cNvPr>
          <p:cNvSpPr/>
          <p:nvPr/>
        </p:nvSpPr>
        <p:spPr>
          <a:xfrm>
            <a:off x="503854" y="2631231"/>
            <a:ext cx="1621972" cy="126896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IDLE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C4377E-F749-8ADF-2DAA-E346C1FDB42F}"/>
              </a:ext>
            </a:extLst>
          </p:cNvPr>
          <p:cNvSpPr/>
          <p:nvPr/>
        </p:nvSpPr>
        <p:spPr>
          <a:xfrm>
            <a:off x="7380514" y="2602073"/>
            <a:ext cx="1704392" cy="126896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RUNNING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5DF92D53-42E3-653D-85D6-2A121D4FDBE9}"/>
              </a:ext>
            </a:extLst>
          </p:cNvPr>
          <p:cNvSpPr/>
          <p:nvPr/>
        </p:nvSpPr>
        <p:spPr>
          <a:xfrm>
            <a:off x="6644952" y="4307732"/>
            <a:ext cx="2995127" cy="2372989"/>
          </a:xfrm>
          <a:prstGeom prst="wedgeRoundRectCallout">
            <a:avLst>
              <a:gd name="adj1" fmla="val -3699"/>
              <a:gd name="adj2" fmla="val -68622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FIVE DIFFERENT STAGES 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FETCH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UP CALC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RELU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DOWN CALC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ACCUMULATE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ARE WITHIN RUNNING STATE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4723CD8-CBD1-D84D-6688-7186A289445C}"/>
              </a:ext>
            </a:extLst>
          </p:cNvPr>
          <p:cNvSpPr/>
          <p:nvPr/>
        </p:nvSpPr>
        <p:spPr>
          <a:xfrm>
            <a:off x="2220686" y="2957804"/>
            <a:ext cx="5103845" cy="1352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278AD1-F2C8-3277-5412-CABCCC254D29}"/>
              </a:ext>
            </a:extLst>
          </p:cNvPr>
          <p:cNvSpPr txBox="1"/>
          <p:nvPr/>
        </p:nvSpPr>
        <p:spPr>
          <a:xfrm>
            <a:off x="3713584" y="2486608"/>
            <a:ext cx="1184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= 1</a:t>
            </a:r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6384F78-641F-E067-596D-F668BA64A647}"/>
              </a:ext>
            </a:extLst>
          </p:cNvPr>
          <p:cNvSpPr/>
          <p:nvPr/>
        </p:nvSpPr>
        <p:spPr>
          <a:xfrm rot="10800000">
            <a:off x="2219130" y="3487316"/>
            <a:ext cx="5103845" cy="13529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B2A82-253B-2D32-94AB-9E97935111A5}"/>
              </a:ext>
            </a:extLst>
          </p:cNvPr>
          <p:cNvSpPr txBox="1"/>
          <p:nvPr/>
        </p:nvSpPr>
        <p:spPr>
          <a:xfrm>
            <a:off x="3872205" y="3185630"/>
            <a:ext cx="1184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done = 1</a:t>
            </a:r>
            <a:endParaRPr lang="en-IN" dirty="0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EDF570A-CC3B-8256-B0E2-9FCF832F6377}"/>
              </a:ext>
            </a:extLst>
          </p:cNvPr>
          <p:cNvSpPr/>
          <p:nvPr/>
        </p:nvSpPr>
        <p:spPr>
          <a:xfrm>
            <a:off x="7237445" y="297751"/>
            <a:ext cx="4049485" cy="2052735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 a regular  FSM design, the FSM resides in one state only at a time, so if we model the 5 stages as 5 states then simultaneous operation of multiple stages is not possible. We have to model all the computation stages inside the running stage.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12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A48EE72-7290-8861-87FC-253C3AEE0E9A}"/>
              </a:ext>
            </a:extLst>
          </p:cNvPr>
          <p:cNvSpPr/>
          <p:nvPr/>
        </p:nvSpPr>
        <p:spPr>
          <a:xfrm>
            <a:off x="2168829" y="1609746"/>
            <a:ext cx="7731481" cy="4567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7A523-8CC6-1117-B5C7-759E81A11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0595"/>
          </a:xfrm>
          <a:solidFill>
            <a:schemeClr val="bg1"/>
          </a:solidFill>
          <a:ln>
            <a:noFill/>
          </a:ln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00B050"/>
                </a:solidFill>
              </a:rPr>
              <a:t>Data Flattening</a:t>
            </a:r>
            <a:endParaRPr lang="en-IN" sz="7200" b="1" dirty="0">
              <a:solidFill>
                <a:srgbClr val="00B05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2B645F-D6AC-0216-BBF7-98D5BC91A71E}"/>
              </a:ext>
            </a:extLst>
          </p:cNvPr>
          <p:cNvSpPr/>
          <p:nvPr/>
        </p:nvSpPr>
        <p:spPr>
          <a:xfrm>
            <a:off x="10350150" y="3187216"/>
            <a:ext cx="1382543" cy="3335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ysClr val="windowText" lastClr="000000"/>
                </a:solidFill>
              </a:rPr>
              <a:t>flat_accumulator_bank</a:t>
            </a:r>
            <a:endParaRPr lang="en-IN" sz="100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A1E10A-7A16-8D3C-6FF6-6F2E018E0536}"/>
              </a:ext>
            </a:extLst>
          </p:cNvPr>
          <p:cNvSpPr/>
          <p:nvPr/>
        </p:nvSpPr>
        <p:spPr>
          <a:xfrm>
            <a:off x="3345182" y="1882829"/>
            <a:ext cx="1142999" cy="1453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row in elements</a:t>
            </a:r>
            <a:endParaRPr lang="en-IN" sz="10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68F369-77F5-11A2-234B-48048D6495A6}"/>
              </a:ext>
            </a:extLst>
          </p:cNvPr>
          <p:cNvSpPr/>
          <p:nvPr/>
        </p:nvSpPr>
        <p:spPr>
          <a:xfrm>
            <a:off x="436941" y="1964118"/>
            <a:ext cx="723127" cy="3335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row input </a:t>
            </a:r>
            <a:endParaRPr lang="en-IN" sz="1000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755E66-4F88-0B6A-D314-6C38160528EB}"/>
              </a:ext>
            </a:extLst>
          </p:cNvPr>
          <p:cNvSpPr/>
          <p:nvPr/>
        </p:nvSpPr>
        <p:spPr>
          <a:xfrm>
            <a:off x="3419125" y="2830068"/>
            <a:ext cx="1002806" cy="1251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up w matrix</a:t>
            </a:r>
            <a:endParaRPr lang="en-IN" sz="1000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60BED2-BA80-3E87-1401-F0FFA1B2B9CD}"/>
              </a:ext>
            </a:extLst>
          </p:cNvPr>
          <p:cNvSpPr/>
          <p:nvPr/>
        </p:nvSpPr>
        <p:spPr>
          <a:xfrm>
            <a:off x="386451" y="2878598"/>
            <a:ext cx="934228" cy="4715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up </a:t>
            </a:r>
            <a:r>
              <a:rPr lang="en-US" sz="1000" dirty="0" err="1">
                <a:solidFill>
                  <a:sysClr val="windowText" lastClr="000000"/>
                </a:solidFill>
              </a:rPr>
              <a:t>bram</a:t>
            </a:r>
            <a:r>
              <a:rPr 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</a:rPr>
              <a:t>rdata</a:t>
            </a:r>
            <a:endParaRPr lang="en-I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D02AAC-AA0B-FBA4-2544-77AA65F22148}"/>
              </a:ext>
            </a:extLst>
          </p:cNvPr>
          <p:cNvSpPr/>
          <p:nvPr/>
        </p:nvSpPr>
        <p:spPr>
          <a:xfrm>
            <a:off x="177272" y="4600727"/>
            <a:ext cx="1140966" cy="3600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down </a:t>
            </a:r>
            <a:r>
              <a:rPr lang="en-US" sz="1000" dirty="0" err="1">
                <a:solidFill>
                  <a:sysClr val="windowText" lastClr="000000"/>
                </a:solidFill>
              </a:rPr>
              <a:t>bram</a:t>
            </a:r>
            <a:r>
              <a:rPr lang="en-US" sz="1000" dirty="0">
                <a:solidFill>
                  <a:sysClr val="windowText" lastClr="000000"/>
                </a:solidFill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</a:rPr>
              <a:t>rdata</a:t>
            </a:r>
            <a:endParaRPr lang="en-I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8F969-42F1-0B2B-3B6B-164A461051F8}"/>
              </a:ext>
            </a:extLst>
          </p:cNvPr>
          <p:cNvSpPr/>
          <p:nvPr/>
        </p:nvSpPr>
        <p:spPr>
          <a:xfrm>
            <a:off x="3362528" y="4446612"/>
            <a:ext cx="1018847" cy="1649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down w matrix</a:t>
            </a:r>
            <a:endParaRPr lang="en-IN" sz="1000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A509EE-3A40-3BC6-70BC-A953A0209124}"/>
              </a:ext>
            </a:extLst>
          </p:cNvPr>
          <p:cNvSpPr/>
          <p:nvPr/>
        </p:nvSpPr>
        <p:spPr>
          <a:xfrm>
            <a:off x="7014996" y="3568687"/>
            <a:ext cx="1156373" cy="33356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ysClr val="windowText" lastClr="000000"/>
                </a:solidFill>
              </a:rPr>
              <a:t>accumulator_bank</a:t>
            </a:r>
            <a:endParaRPr lang="en-I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827B6C-A530-884D-5867-EDA1F86B4844}"/>
              </a:ext>
            </a:extLst>
          </p:cNvPr>
          <p:cNvCxnSpPr>
            <a:cxnSpLocks/>
          </p:cNvCxnSpPr>
          <p:nvPr/>
        </p:nvCxnSpPr>
        <p:spPr>
          <a:xfrm>
            <a:off x="1217047" y="2130902"/>
            <a:ext cx="39940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4DC7C2E-8EF6-792A-ECA1-651169917242}"/>
              </a:ext>
            </a:extLst>
          </p:cNvPr>
          <p:cNvSpPr txBox="1"/>
          <p:nvPr/>
        </p:nvSpPr>
        <p:spPr>
          <a:xfrm>
            <a:off x="437692" y="2417401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0A6C04-8515-5F92-0FF0-8EE3FCCE6328}"/>
              </a:ext>
            </a:extLst>
          </p:cNvPr>
          <p:cNvSpPr txBox="1"/>
          <p:nvPr/>
        </p:nvSpPr>
        <p:spPr>
          <a:xfrm>
            <a:off x="712012" y="2417401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1CCD0E-DA3D-0A2D-3270-C1EFE51AF30F}"/>
              </a:ext>
            </a:extLst>
          </p:cNvPr>
          <p:cNvSpPr txBox="1"/>
          <p:nvPr/>
        </p:nvSpPr>
        <p:spPr>
          <a:xfrm>
            <a:off x="986332" y="2417401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  <a:endParaRPr lang="en-IN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F67CFF-0654-D4F4-57EA-41861EC4432F}"/>
              </a:ext>
            </a:extLst>
          </p:cNvPr>
          <p:cNvSpPr txBox="1"/>
          <p:nvPr/>
        </p:nvSpPr>
        <p:spPr>
          <a:xfrm>
            <a:off x="1260652" y="2417401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  <a:endParaRPr lang="en-IN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8A8BF5-E199-8EA7-87B6-54BDC7D28CAA}"/>
              </a:ext>
            </a:extLst>
          </p:cNvPr>
          <p:cNvSpPr txBox="1"/>
          <p:nvPr/>
        </p:nvSpPr>
        <p:spPr>
          <a:xfrm>
            <a:off x="1534972" y="2409660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CD4098-49D9-8C73-3FBC-4FC255350A37}"/>
              </a:ext>
            </a:extLst>
          </p:cNvPr>
          <p:cNvSpPr txBox="1"/>
          <p:nvPr/>
        </p:nvSpPr>
        <p:spPr>
          <a:xfrm>
            <a:off x="2357931" y="2417401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1101..</a:t>
            </a:r>
            <a:endParaRPr lang="en-IN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4B03D7-A352-64FA-9009-7004CFFDE630}"/>
              </a:ext>
            </a:extLst>
          </p:cNvPr>
          <p:cNvSpPr txBox="1"/>
          <p:nvPr/>
        </p:nvSpPr>
        <p:spPr>
          <a:xfrm>
            <a:off x="3047283" y="2417727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0100..</a:t>
            </a:r>
            <a:endParaRPr lang="en-IN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7A4657-5EFD-50F6-5683-433E336036D9}"/>
              </a:ext>
            </a:extLst>
          </p:cNvPr>
          <p:cNvSpPr txBox="1"/>
          <p:nvPr/>
        </p:nvSpPr>
        <p:spPr>
          <a:xfrm>
            <a:off x="4381375" y="2417401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0101..</a:t>
            </a:r>
            <a:endParaRPr lang="en-IN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C711C4-63BF-9E5C-812E-E66849CFCDF2}"/>
              </a:ext>
            </a:extLst>
          </p:cNvPr>
          <p:cNvSpPr txBox="1"/>
          <p:nvPr/>
        </p:nvSpPr>
        <p:spPr>
          <a:xfrm>
            <a:off x="3736635" y="2417401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0111..</a:t>
            </a:r>
            <a:endParaRPr lang="en-IN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E948E6-EAE7-477E-E0A5-812F451A645C}"/>
              </a:ext>
            </a:extLst>
          </p:cNvPr>
          <p:cNvSpPr txBox="1"/>
          <p:nvPr/>
        </p:nvSpPr>
        <p:spPr>
          <a:xfrm>
            <a:off x="4977956" y="2403822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1F3091-EDE6-D320-4E8B-A26F19DA40D7}"/>
              </a:ext>
            </a:extLst>
          </p:cNvPr>
          <p:cNvSpPr txBox="1"/>
          <p:nvPr/>
        </p:nvSpPr>
        <p:spPr>
          <a:xfrm>
            <a:off x="369055" y="3511310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B559AE-1233-9EA6-140E-5FCF19165279}"/>
              </a:ext>
            </a:extLst>
          </p:cNvPr>
          <p:cNvSpPr txBox="1"/>
          <p:nvPr/>
        </p:nvSpPr>
        <p:spPr>
          <a:xfrm>
            <a:off x="643375" y="3511310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8BC4E-00E6-A6C6-DE04-AAF991D29A5E}"/>
              </a:ext>
            </a:extLst>
          </p:cNvPr>
          <p:cNvSpPr txBox="1"/>
          <p:nvPr/>
        </p:nvSpPr>
        <p:spPr>
          <a:xfrm>
            <a:off x="917695" y="3511310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  <a:endParaRPr lang="en-IN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EDED31-C2A4-DFD2-AA63-BB715BB40E5A}"/>
              </a:ext>
            </a:extLst>
          </p:cNvPr>
          <p:cNvSpPr txBox="1"/>
          <p:nvPr/>
        </p:nvSpPr>
        <p:spPr>
          <a:xfrm>
            <a:off x="1192015" y="3511310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  <a:endParaRPr lang="en-IN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0FBFE9-9C19-C93C-5BED-974A0BFF11E4}"/>
              </a:ext>
            </a:extLst>
          </p:cNvPr>
          <p:cNvSpPr txBox="1"/>
          <p:nvPr/>
        </p:nvSpPr>
        <p:spPr>
          <a:xfrm>
            <a:off x="1466335" y="3503569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2CEA0D-BEEB-D64F-4D0A-A233A23AB9E4}"/>
              </a:ext>
            </a:extLst>
          </p:cNvPr>
          <p:cNvSpPr txBox="1"/>
          <p:nvPr/>
        </p:nvSpPr>
        <p:spPr>
          <a:xfrm>
            <a:off x="248590" y="5043177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6C2046-788C-7EB9-710C-346ECF6CEC46}"/>
              </a:ext>
            </a:extLst>
          </p:cNvPr>
          <p:cNvSpPr txBox="1"/>
          <p:nvPr/>
        </p:nvSpPr>
        <p:spPr>
          <a:xfrm>
            <a:off x="522910" y="5043177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EBF454-C039-DCD5-5D29-B33299EBB2A7}"/>
              </a:ext>
            </a:extLst>
          </p:cNvPr>
          <p:cNvSpPr txBox="1"/>
          <p:nvPr/>
        </p:nvSpPr>
        <p:spPr>
          <a:xfrm>
            <a:off x="797230" y="5043177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  <a:endParaRPr lang="en-IN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F4A84A-7ACB-1726-ED94-E0F4285DA002}"/>
              </a:ext>
            </a:extLst>
          </p:cNvPr>
          <p:cNvSpPr txBox="1"/>
          <p:nvPr/>
        </p:nvSpPr>
        <p:spPr>
          <a:xfrm>
            <a:off x="1071550" y="5043177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  <a:endParaRPr lang="en-IN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1FA1CF-8528-EA0E-4BE5-422995E83710}"/>
              </a:ext>
            </a:extLst>
          </p:cNvPr>
          <p:cNvSpPr txBox="1"/>
          <p:nvPr/>
        </p:nvSpPr>
        <p:spPr>
          <a:xfrm>
            <a:off x="1345870" y="5029340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00284B-03C1-DE4D-2D63-A96F1BE3825C}"/>
              </a:ext>
            </a:extLst>
          </p:cNvPr>
          <p:cNvSpPr txBox="1"/>
          <p:nvPr/>
        </p:nvSpPr>
        <p:spPr>
          <a:xfrm>
            <a:off x="2351512" y="3121223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1101..</a:t>
            </a:r>
            <a:endParaRPr lang="en-IN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3CF357-E852-FA46-540A-03512278D1ED}"/>
              </a:ext>
            </a:extLst>
          </p:cNvPr>
          <p:cNvSpPr txBox="1"/>
          <p:nvPr/>
        </p:nvSpPr>
        <p:spPr>
          <a:xfrm>
            <a:off x="3040864" y="3121549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0100..</a:t>
            </a:r>
            <a:endParaRPr lang="en-IN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E09EF6-E515-DE25-DA0D-7C41C5E03B0E}"/>
              </a:ext>
            </a:extLst>
          </p:cNvPr>
          <p:cNvSpPr txBox="1"/>
          <p:nvPr/>
        </p:nvSpPr>
        <p:spPr>
          <a:xfrm>
            <a:off x="4374956" y="3121223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0101..</a:t>
            </a:r>
            <a:endParaRPr lang="en-IN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62350B-6A1E-06B6-53A7-A826E00ED612}"/>
              </a:ext>
            </a:extLst>
          </p:cNvPr>
          <p:cNvSpPr txBox="1"/>
          <p:nvPr/>
        </p:nvSpPr>
        <p:spPr>
          <a:xfrm>
            <a:off x="3730216" y="3121223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0111..</a:t>
            </a:r>
            <a:endParaRPr lang="en-IN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4B08E3-284A-4A65-C548-7DA4CDDA6E7C}"/>
              </a:ext>
            </a:extLst>
          </p:cNvPr>
          <p:cNvSpPr txBox="1"/>
          <p:nvPr/>
        </p:nvSpPr>
        <p:spPr>
          <a:xfrm>
            <a:off x="4971537" y="3107644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91AF11-A9BD-9940-BC56-965BC9BEA7C1}"/>
              </a:ext>
            </a:extLst>
          </p:cNvPr>
          <p:cNvSpPr txBox="1"/>
          <p:nvPr/>
        </p:nvSpPr>
        <p:spPr>
          <a:xfrm>
            <a:off x="2351512" y="3427695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1101..</a:t>
            </a:r>
            <a:endParaRPr lang="en-IN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D74228-D525-9E97-C70B-0ED8C289B133}"/>
              </a:ext>
            </a:extLst>
          </p:cNvPr>
          <p:cNvSpPr txBox="1"/>
          <p:nvPr/>
        </p:nvSpPr>
        <p:spPr>
          <a:xfrm>
            <a:off x="3040864" y="3428021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0100..</a:t>
            </a:r>
            <a:endParaRPr lang="en-IN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CC50CC-2AD7-1239-AE82-5E8486E9AAB7}"/>
              </a:ext>
            </a:extLst>
          </p:cNvPr>
          <p:cNvSpPr txBox="1"/>
          <p:nvPr/>
        </p:nvSpPr>
        <p:spPr>
          <a:xfrm>
            <a:off x="4374956" y="3427695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0101..</a:t>
            </a:r>
            <a:endParaRPr lang="en-IN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8B97F2-1B24-A21A-E1E8-2C97B52C82E0}"/>
              </a:ext>
            </a:extLst>
          </p:cNvPr>
          <p:cNvSpPr txBox="1"/>
          <p:nvPr/>
        </p:nvSpPr>
        <p:spPr>
          <a:xfrm>
            <a:off x="3730216" y="3427695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0111..</a:t>
            </a:r>
            <a:endParaRPr lang="en-IN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4F7897-B9F7-AA9A-9D5F-3BC8EAC29819}"/>
              </a:ext>
            </a:extLst>
          </p:cNvPr>
          <p:cNvSpPr txBox="1"/>
          <p:nvPr/>
        </p:nvSpPr>
        <p:spPr>
          <a:xfrm>
            <a:off x="4971537" y="3414116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65E224-CAE7-8E5B-36A2-1E7E0031614B}"/>
              </a:ext>
            </a:extLst>
          </p:cNvPr>
          <p:cNvSpPr txBox="1"/>
          <p:nvPr/>
        </p:nvSpPr>
        <p:spPr>
          <a:xfrm rot="16200000">
            <a:off x="2253496" y="3876412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279961-B754-ACC0-AF93-9925F31BA355}"/>
              </a:ext>
            </a:extLst>
          </p:cNvPr>
          <p:cNvSpPr txBox="1"/>
          <p:nvPr/>
        </p:nvSpPr>
        <p:spPr>
          <a:xfrm rot="16200000">
            <a:off x="3031238" y="3868826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352031-D230-FFC7-2EA7-4DB5F28D3F85}"/>
              </a:ext>
            </a:extLst>
          </p:cNvPr>
          <p:cNvSpPr txBox="1"/>
          <p:nvPr/>
        </p:nvSpPr>
        <p:spPr>
          <a:xfrm rot="16200000">
            <a:off x="3729741" y="3856338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8988C7-DF4C-AB7C-CFC5-A6A7F0C24901}"/>
              </a:ext>
            </a:extLst>
          </p:cNvPr>
          <p:cNvSpPr txBox="1"/>
          <p:nvPr/>
        </p:nvSpPr>
        <p:spPr>
          <a:xfrm rot="16200000">
            <a:off x="4409729" y="3868501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655C95-6E3A-025F-6AB0-B6E78EBEC0D1}"/>
              </a:ext>
            </a:extLst>
          </p:cNvPr>
          <p:cNvSpPr txBox="1"/>
          <p:nvPr/>
        </p:nvSpPr>
        <p:spPr>
          <a:xfrm rot="16200000">
            <a:off x="4884124" y="3868502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BB3063-3C38-709E-B038-EF27E685CFBA}"/>
              </a:ext>
            </a:extLst>
          </p:cNvPr>
          <p:cNvSpPr txBox="1"/>
          <p:nvPr/>
        </p:nvSpPr>
        <p:spPr>
          <a:xfrm>
            <a:off x="2487651" y="4746396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1101..</a:t>
            </a:r>
            <a:endParaRPr lang="en-IN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20A0DB-32A0-FF65-A635-86D639985C4F}"/>
              </a:ext>
            </a:extLst>
          </p:cNvPr>
          <p:cNvSpPr txBox="1"/>
          <p:nvPr/>
        </p:nvSpPr>
        <p:spPr>
          <a:xfrm>
            <a:off x="3177003" y="4746722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0100..</a:t>
            </a:r>
            <a:endParaRPr lang="en-IN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A04446-82B4-4397-6171-CDF403343AAF}"/>
              </a:ext>
            </a:extLst>
          </p:cNvPr>
          <p:cNvSpPr txBox="1"/>
          <p:nvPr/>
        </p:nvSpPr>
        <p:spPr>
          <a:xfrm>
            <a:off x="4511095" y="4746396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0101..</a:t>
            </a:r>
            <a:endParaRPr lang="en-IN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5151E6-3D11-38E9-629B-F9E186F1829A}"/>
              </a:ext>
            </a:extLst>
          </p:cNvPr>
          <p:cNvSpPr txBox="1"/>
          <p:nvPr/>
        </p:nvSpPr>
        <p:spPr>
          <a:xfrm>
            <a:off x="3866355" y="4746396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0111..</a:t>
            </a:r>
            <a:endParaRPr lang="en-IN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883C2F-A628-C857-A64A-7F569BF89223}"/>
              </a:ext>
            </a:extLst>
          </p:cNvPr>
          <p:cNvSpPr txBox="1"/>
          <p:nvPr/>
        </p:nvSpPr>
        <p:spPr>
          <a:xfrm>
            <a:off x="5107676" y="4732817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7F8D3D-F21F-9A60-CE9B-721E4AFF2213}"/>
              </a:ext>
            </a:extLst>
          </p:cNvPr>
          <p:cNvSpPr txBox="1"/>
          <p:nvPr/>
        </p:nvSpPr>
        <p:spPr>
          <a:xfrm>
            <a:off x="2487651" y="5052868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1101..</a:t>
            </a:r>
            <a:endParaRPr lang="en-IN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730407-B4B1-8846-9F2F-E4E795E4DDD2}"/>
              </a:ext>
            </a:extLst>
          </p:cNvPr>
          <p:cNvSpPr txBox="1"/>
          <p:nvPr/>
        </p:nvSpPr>
        <p:spPr>
          <a:xfrm>
            <a:off x="3177003" y="5053194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0100..</a:t>
            </a:r>
            <a:endParaRPr lang="en-IN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DB823C-658F-4222-C706-CB8493FF684C}"/>
              </a:ext>
            </a:extLst>
          </p:cNvPr>
          <p:cNvSpPr txBox="1"/>
          <p:nvPr/>
        </p:nvSpPr>
        <p:spPr>
          <a:xfrm>
            <a:off x="4511095" y="5052868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0101..</a:t>
            </a:r>
            <a:endParaRPr lang="en-IN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022A18-86A9-A4C7-B29E-346135B68121}"/>
              </a:ext>
            </a:extLst>
          </p:cNvPr>
          <p:cNvSpPr txBox="1"/>
          <p:nvPr/>
        </p:nvSpPr>
        <p:spPr>
          <a:xfrm>
            <a:off x="3866355" y="5052868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0111..</a:t>
            </a:r>
            <a:endParaRPr lang="en-IN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90D03E-E242-C103-9915-2469418FC6B1}"/>
              </a:ext>
            </a:extLst>
          </p:cNvPr>
          <p:cNvSpPr txBox="1"/>
          <p:nvPr/>
        </p:nvSpPr>
        <p:spPr>
          <a:xfrm>
            <a:off x="5107676" y="5039289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DA609-907C-7E24-5550-CA879F4AD12F}"/>
              </a:ext>
            </a:extLst>
          </p:cNvPr>
          <p:cNvSpPr txBox="1"/>
          <p:nvPr/>
        </p:nvSpPr>
        <p:spPr>
          <a:xfrm rot="16200000">
            <a:off x="2389635" y="5501585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60898B-40D4-4857-5A17-DF9C2D911165}"/>
              </a:ext>
            </a:extLst>
          </p:cNvPr>
          <p:cNvSpPr txBox="1"/>
          <p:nvPr/>
        </p:nvSpPr>
        <p:spPr>
          <a:xfrm rot="16200000">
            <a:off x="3167377" y="5493999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4736DA-7E12-E040-47A3-486E581487E7}"/>
              </a:ext>
            </a:extLst>
          </p:cNvPr>
          <p:cNvSpPr txBox="1"/>
          <p:nvPr/>
        </p:nvSpPr>
        <p:spPr>
          <a:xfrm rot="16200000">
            <a:off x="3865880" y="5481511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7DD706D-69F6-4A49-5277-57FA2349300C}"/>
              </a:ext>
            </a:extLst>
          </p:cNvPr>
          <p:cNvSpPr txBox="1"/>
          <p:nvPr/>
        </p:nvSpPr>
        <p:spPr>
          <a:xfrm rot="16200000">
            <a:off x="4545868" y="5493674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AA3BBF-25FD-F6F3-02BF-5B7608B806B5}"/>
              </a:ext>
            </a:extLst>
          </p:cNvPr>
          <p:cNvSpPr txBox="1"/>
          <p:nvPr/>
        </p:nvSpPr>
        <p:spPr>
          <a:xfrm rot="16200000">
            <a:off x="5020263" y="5493675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6F1D948-E1E0-FD37-B44F-F1B2EEFEDDEE}"/>
              </a:ext>
            </a:extLst>
          </p:cNvPr>
          <p:cNvCxnSpPr>
            <a:cxnSpLocks/>
          </p:cNvCxnSpPr>
          <p:nvPr/>
        </p:nvCxnSpPr>
        <p:spPr>
          <a:xfrm>
            <a:off x="1320213" y="4697564"/>
            <a:ext cx="38908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10672EC-182A-12B1-DF9E-45E4C0D3521B}"/>
              </a:ext>
            </a:extLst>
          </p:cNvPr>
          <p:cNvCxnSpPr>
            <a:cxnSpLocks/>
          </p:cNvCxnSpPr>
          <p:nvPr/>
        </p:nvCxnSpPr>
        <p:spPr>
          <a:xfrm flipV="1">
            <a:off x="1318238" y="3053728"/>
            <a:ext cx="3892812" cy="173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AA0D307-F106-0F83-5FC0-B5A6E98EB228}"/>
              </a:ext>
            </a:extLst>
          </p:cNvPr>
          <p:cNvSpPr txBox="1"/>
          <p:nvPr/>
        </p:nvSpPr>
        <p:spPr>
          <a:xfrm>
            <a:off x="6615862" y="4152414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1101..</a:t>
            </a:r>
            <a:endParaRPr lang="en-IN" sz="1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28F634-AB81-2C6B-6068-EF9D3CB2C2DB}"/>
              </a:ext>
            </a:extLst>
          </p:cNvPr>
          <p:cNvSpPr txBox="1"/>
          <p:nvPr/>
        </p:nvSpPr>
        <p:spPr>
          <a:xfrm>
            <a:off x="7305214" y="4152740"/>
            <a:ext cx="6893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0100..</a:t>
            </a:r>
            <a:endParaRPr lang="en-IN" sz="1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D64F228-AFBC-05C1-9C72-CAF158EA2012}"/>
              </a:ext>
            </a:extLst>
          </p:cNvPr>
          <p:cNvSpPr txBox="1"/>
          <p:nvPr/>
        </p:nvSpPr>
        <p:spPr>
          <a:xfrm>
            <a:off x="8639306" y="4152414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0101..</a:t>
            </a:r>
            <a:endParaRPr lang="en-IN" sz="14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02EA5A7-10E1-C442-1F36-796B0B48E7DC}"/>
              </a:ext>
            </a:extLst>
          </p:cNvPr>
          <p:cNvSpPr txBox="1"/>
          <p:nvPr/>
        </p:nvSpPr>
        <p:spPr>
          <a:xfrm>
            <a:off x="7994566" y="4152414"/>
            <a:ext cx="64474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0111..</a:t>
            </a:r>
            <a:endParaRPr lang="en-IN" sz="14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A880420-AA86-FE12-0F25-8F37CC6FD406}"/>
              </a:ext>
            </a:extLst>
          </p:cNvPr>
          <p:cNvSpPr txBox="1"/>
          <p:nvPr/>
        </p:nvSpPr>
        <p:spPr>
          <a:xfrm>
            <a:off x="9235887" y="4138835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1278116-C63C-DF1C-A46A-632464B22043}"/>
              </a:ext>
            </a:extLst>
          </p:cNvPr>
          <p:cNvCxnSpPr>
            <a:cxnSpLocks/>
          </p:cNvCxnSpPr>
          <p:nvPr/>
        </p:nvCxnSpPr>
        <p:spPr>
          <a:xfrm flipV="1">
            <a:off x="8163496" y="3685624"/>
            <a:ext cx="3892812" cy="173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E270857-00AC-15DA-DC59-66561AB989EA}"/>
              </a:ext>
            </a:extLst>
          </p:cNvPr>
          <p:cNvSpPr txBox="1"/>
          <p:nvPr/>
        </p:nvSpPr>
        <p:spPr>
          <a:xfrm>
            <a:off x="10478903" y="3867812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B27E981-D735-B8C1-0A6D-4D55B27F6827}"/>
              </a:ext>
            </a:extLst>
          </p:cNvPr>
          <p:cNvSpPr txBox="1"/>
          <p:nvPr/>
        </p:nvSpPr>
        <p:spPr>
          <a:xfrm>
            <a:off x="10753223" y="3867812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B02C75C-B565-4F6E-99B9-05ED6EEE5470}"/>
              </a:ext>
            </a:extLst>
          </p:cNvPr>
          <p:cNvSpPr txBox="1"/>
          <p:nvPr/>
        </p:nvSpPr>
        <p:spPr>
          <a:xfrm>
            <a:off x="11027543" y="3867812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  <a:endParaRPr lang="en-IN" sz="14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0579BB2-EDF1-DBCE-DF79-592CC3B07C49}"/>
              </a:ext>
            </a:extLst>
          </p:cNvPr>
          <p:cNvSpPr txBox="1"/>
          <p:nvPr/>
        </p:nvSpPr>
        <p:spPr>
          <a:xfrm>
            <a:off x="11301863" y="3867812"/>
            <a:ext cx="27432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  <a:endParaRPr lang="en-IN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9027905-6CEF-A7C5-A2EF-535FCD6E3DDC}"/>
              </a:ext>
            </a:extLst>
          </p:cNvPr>
          <p:cNvSpPr txBox="1"/>
          <p:nvPr/>
        </p:nvSpPr>
        <p:spPr>
          <a:xfrm>
            <a:off x="11522869" y="3825925"/>
            <a:ext cx="6893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……….</a:t>
            </a:r>
            <a:endParaRPr lang="en-IN" sz="14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720EF12-21DB-8402-1923-2D3DA32F4944}"/>
              </a:ext>
            </a:extLst>
          </p:cNvPr>
          <p:cNvSpPr/>
          <p:nvPr/>
        </p:nvSpPr>
        <p:spPr>
          <a:xfrm rot="16200000">
            <a:off x="3850877" y="3751729"/>
            <a:ext cx="3957181" cy="454427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Pipelined FFN</a:t>
            </a:r>
          </a:p>
          <a:p>
            <a:pPr algn="ctr"/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EE4506F-AE09-3317-6E52-398BA7E05754}"/>
              </a:ext>
            </a:extLst>
          </p:cNvPr>
          <p:cNvCxnSpPr>
            <a:cxnSpLocks/>
          </p:cNvCxnSpPr>
          <p:nvPr/>
        </p:nvCxnSpPr>
        <p:spPr>
          <a:xfrm>
            <a:off x="6084772" y="3715239"/>
            <a:ext cx="8229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53A3CB4-4932-DCBD-6738-3A298EC187C3}"/>
              </a:ext>
            </a:extLst>
          </p:cNvPr>
          <p:cNvSpPr txBox="1"/>
          <p:nvPr/>
        </p:nvSpPr>
        <p:spPr>
          <a:xfrm>
            <a:off x="9580563" y="727788"/>
            <a:ext cx="34467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AF03D01-C98A-8C72-6F3C-D5C8AA2A195B}"/>
              </a:ext>
            </a:extLst>
          </p:cNvPr>
          <p:cNvSpPr txBox="1"/>
          <p:nvPr/>
        </p:nvSpPr>
        <p:spPr>
          <a:xfrm>
            <a:off x="9580563" y="1137174"/>
            <a:ext cx="34467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A959A35-00B3-1CDA-C874-DFF91723D1E7}"/>
              </a:ext>
            </a:extLst>
          </p:cNvPr>
          <p:cNvSpPr txBox="1"/>
          <p:nvPr/>
        </p:nvSpPr>
        <p:spPr>
          <a:xfrm>
            <a:off x="10078987" y="1091054"/>
            <a:ext cx="1622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wire</a:t>
            </a:r>
            <a:endParaRPr lang="en-IN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60C031-14A6-A716-4910-FFAF5BC8629A}"/>
              </a:ext>
            </a:extLst>
          </p:cNvPr>
          <p:cNvSpPr txBox="1"/>
          <p:nvPr/>
        </p:nvSpPr>
        <p:spPr>
          <a:xfrm>
            <a:off x="10078987" y="781198"/>
            <a:ext cx="1622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66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0854-74F2-5E04-2E6A-9B2298B6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67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Block Diagram of Modified Pipelined FFN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EE287A-711D-B4B3-2948-37E5F8C4DB60}"/>
              </a:ext>
            </a:extLst>
          </p:cNvPr>
          <p:cNvSpPr/>
          <p:nvPr/>
        </p:nvSpPr>
        <p:spPr>
          <a:xfrm rot="16200000">
            <a:off x="544861" y="2935449"/>
            <a:ext cx="2897158" cy="220474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                       Fetch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015E26-5DB4-2DD4-A8D8-18635366F04A}"/>
              </a:ext>
            </a:extLst>
          </p:cNvPr>
          <p:cNvSpPr/>
          <p:nvPr/>
        </p:nvSpPr>
        <p:spPr>
          <a:xfrm rot="16200000">
            <a:off x="3334133" y="3872203"/>
            <a:ext cx="2897158" cy="33124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 projection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A831E7-8F7F-3915-F2EC-4147754DCF12}"/>
              </a:ext>
            </a:extLst>
          </p:cNvPr>
          <p:cNvCxnSpPr/>
          <p:nvPr/>
        </p:nvCxnSpPr>
        <p:spPr>
          <a:xfrm>
            <a:off x="401209" y="3107097"/>
            <a:ext cx="489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F085D6D-C028-8C6D-644B-6258F6D90514}"/>
              </a:ext>
            </a:extLst>
          </p:cNvPr>
          <p:cNvSpPr/>
          <p:nvPr/>
        </p:nvSpPr>
        <p:spPr>
          <a:xfrm rot="16200000">
            <a:off x="-225882" y="3107097"/>
            <a:ext cx="943169" cy="33124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I/p tile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C6CDF4-F477-30BF-9F57-0DF1A91C4C2B}"/>
              </a:ext>
            </a:extLst>
          </p:cNvPr>
          <p:cNvSpPr/>
          <p:nvPr/>
        </p:nvSpPr>
        <p:spPr>
          <a:xfrm rot="16200000">
            <a:off x="-235634" y="4282362"/>
            <a:ext cx="943169" cy="33124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BDD761-1BA2-2443-98F3-B05321F2128E}"/>
              </a:ext>
            </a:extLst>
          </p:cNvPr>
          <p:cNvCxnSpPr/>
          <p:nvPr/>
        </p:nvCxnSpPr>
        <p:spPr>
          <a:xfrm>
            <a:off x="401209" y="4258650"/>
            <a:ext cx="489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797AF-1B49-661A-F57A-CC6BD56B6FCA}"/>
              </a:ext>
            </a:extLst>
          </p:cNvPr>
          <p:cNvSpPr/>
          <p:nvPr/>
        </p:nvSpPr>
        <p:spPr>
          <a:xfrm rot="16200000">
            <a:off x="3264932" y="3028559"/>
            <a:ext cx="1082351" cy="331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I/p latch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29BFDC-C14A-3ECB-14B6-702EEE454C04}"/>
              </a:ext>
            </a:extLst>
          </p:cNvPr>
          <p:cNvSpPr/>
          <p:nvPr/>
        </p:nvSpPr>
        <p:spPr>
          <a:xfrm rot="16200000">
            <a:off x="3110981" y="4610101"/>
            <a:ext cx="1421362" cy="331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 w matrix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C8986-131B-CE17-35EF-2CB09C031ADE}"/>
              </a:ext>
            </a:extLst>
          </p:cNvPr>
          <p:cNvCxnSpPr>
            <a:cxnSpLocks/>
          </p:cNvCxnSpPr>
          <p:nvPr/>
        </p:nvCxnSpPr>
        <p:spPr>
          <a:xfrm flipV="1">
            <a:off x="1349042" y="5582825"/>
            <a:ext cx="0" cy="887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37AA81-75E4-8DDB-2FB6-47CD49CF4228}"/>
              </a:ext>
            </a:extLst>
          </p:cNvPr>
          <p:cNvCxnSpPr>
            <a:cxnSpLocks/>
          </p:cNvCxnSpPr>
          <p:nvPr/>
        </p:nvCxnSpPr>
        <p:spPr>
          <a:xfrm>
            <a:off x="1032576" y="5486402"/>
            <a:ext cx="0" cy="9377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B11DD9C-4C86-F4E7-4DBB-CA81BF25C9F2}"/>
              </a:ext>
            </a:extLst>
          </p:cNvPr>
          <p:cNvSpPr/>
          <p:nvPr/>
        </p:nvSpPr>
        <p:spPr>
          <a:xfrm>
            <a:off x="548557" y="6475112"/>
            <a:ext cx="1229306" cy="331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 </a:t>
            </a:r>
            <a:r>
              <a:rPr lang="en-US" dirty="0" err="1">
                <a:solidFill>
                  <a:schemeClr val="tx1"/>
                </a:solidFill>
              </a:rPr>
              <a:t>bram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5FCFCD-B20E-1E51-3716-4C7BBAC19526}"/>
              </a:ext>
            </a:extLst>
          </p:cNvPr>
          <p:cNvSpPr/>
          <p:nvPr/>
        </p:nvSpPr>
        <p:spPr>
          <a:xfrm rot="16200000">
            <a:off x="1168262" y="5814531"/>
            <a:ext cx="887962" cy="331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Up </a:t>
            </a:r>
            <a:r>
              <a:rPr lang="en-US" sz="800" dirty="0" err="1">
                <a:solidFill>
                  <a:schemeClr val="tx1"/>
                </a:solidFill>
              </a:rPr>
              <a:t>bram</a:t>
            </a:r>
            <a:r>
              <a:rPr lang="en-US" sz="800" dirty="0">
                <a:solidFill>
                  <a:schemeClr val="tx1"/>
                </a:solidFill>
              </a:rPr>
              <a:t> </a:t>
            </a:r>
            <a:r>
              <a:rPr lang="en-US" sz="800" dirty="0" err="1">
                <a:solidFill>
                  <a:schemeClr val="tx1"/>
                </a:solidFill>
              </a:rPr>
              <a:t>rdata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D5094B-A5F0-4A24-618C-7AD5A77CC072}"/>
              </a:ext>
            </a:extLst>
          </p:cNvPr>
          <p:cNvSpPr/>
          <p:nvPr/>
        </p:nvSpPr>
        <p:spPr>
          <a:xfrm rot="16200000">
            <a:off x="279128" y="5814531"/>
            <a:ext cx="887962" cy="331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Up </a:t>
            </a:r>
            <a:r>
              <a:rPr lang="en-US" sz="800" dirty="0" err="1">
                <a:solidFill>
                  <a:schemeClr val="tx1"/>
                </a:solidFill>
              </a:rPr>
              <a:t>bram</a:t>
            </a:r>
            <a:r>
              <a:rPr lang="en-US" sz="800" dirty="0">
                <a:solidFill>
                  <a:schemeClr val="tx1"/>
                </a:solidFill>
              </a:rPr>
              <a:t>  </a:t>
            </a:r>
            <a:r>
              <a:rPr lang="en-US" sz="800" dirty="0" err="1">
                <a:solidFill>
                  <a:schemeClr val="tx1"/>
                </a:solidFill>
              </a:rPr>
              <a:t>addr</a:t>
            </a:r>
            <a:endParaRPr lang="en-IN" sz="8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9B6C14-2667-0104-05D6-84546D3E78BB}"/>
              </a:ext>
            </a:extLst>
          </p:cNvPr>
          <p:cNvCxnSpPr/>
          <p:nvPr/>
        </p:nvCxnSpPr>
        <p:spPr>
          <a:xfrm>
            <a:off x="4061920" y="2964804"/>
            <a:ext cx="489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79482A8-404A-3CFE-9171-E8C199C6F263}"/>
              </a:ext>
            </a:extLst>
          </p:cNvPr>
          <p:cNvCxnSpPr/>
          <p:nvPr/>
        </p:nvCxnSpPr>
        <p:spPr>
          <a:xfrm>
            <a:off x="4061920" y="4519127"/>
            <a:ext cx="489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A1F8BA-5A40-9521-AB0E-FD2FAEB465E7}"/>
              </a:ext>
            </a:extLst>
          </p:cNvPr>
          <p:cNvCxnSpPr>
            <a:cxnSpLocks/>
          </p:cNvCxnSpPr>
          <p:nvPr/>
        </p:nvCxnSpPr>
        <p:spPr>
          <a:xfrm>
            <a:off x="2777768" y="2964804"/>
            <a:ext cx="8627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30757E-9DC4-F6F5-B77B-DF8DF2E5D943}"/>
              </a:ext>
            </a:extLst>
          </p:cNvPr>
          <p:cNvCxnSpPr/>
          <p:nvPr/>
        </p:nvCxnSpPr>
        <p:spPr>
          <a:xfrm>
            <a:off x="3135854" y="4502026"/>
            <a:ext cx="4898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E88AF8-00E1-5876-4BC0-C1DB21218658}"/>
              </a:ext>
            </a:extLst>
          </p:cNvPr>
          <p:cNvCxnSpPr>
            <a:cxnSpLocks/>
          </p:cNvCxnSpPr>
          <p:nvPr/>
        </p:nvCxnSpPr>
        <p:spPr>
          <a:xfrm flipH="1">
            <a:off x="3972043" y="3254050"/>
            <a:ext cx="6609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FEA441-ECD0-E10E-4DBB-800E11E189D9}"/>
              </a:ext>
            </a:extLst>
          </p:cNvPr>
          <p:cNvCxnSpPr>
            <a:cxnSpLocks/>
          </p:cNvCxnSpPr>
          <p:nvPr/>
        </p:nvCxnSpPr>
        <p:spPr>
          <a:xfrm flipH="1">
            <a:off x="3970332" y="4927340"/>
            <a:ext cx="6609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A8D5AA-9FB4-C2F8-2312-6BF39D496D79}"/>
              </a:ext>
            </a:extLst>
          </p:cNvPr>
          <p:cNvCxnSpPr>
            <a:cxnSpLocks/>
          </p:cNvCxnSpPr>
          <p:nvPr/>
        </p:nvCxnSpPr>
        <p:spPr>
          <a:xfrm flipV="1">
            <a:off x="2666991" y="5536170"/>
            <a:ext cx="0" cy="924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4A2328-A76E-7A04-480C-8F17F265D77F}"/>
              </a:ext>
            </a:extLst>
          </p:cNvPr>
          <p:cNvCxnSpPr>
            <a:cxnSpLocks/>
          </p:cNvCxnSpPr>
          <p:nvPr/>
        </p:nvCxnSpPr>
        <p:spPr>
          <a:xfrm>
            <a:off x="2397180" y="5494464"/>
            <a:ext cx="0" cy="9377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A58F55C-57BC-88BE-9D60-DA712C76D94E}"/>
              </a:ext>
            </a:extLst>
          </p:cNvPr>
          <p:cNvSpPr/>
          <p:nvPr/>
        </p:nvSpPr>
        <p:spPr>
          <a:xfrm>
            <a:off x="1950477" y="6475112"/>
            <a:ext cx="1357759" cy="331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Down </a:t>
            </a:r>
            <a:r>
              <a:rPr lang="en-US" dirty="0" err="1">
                <a:solidFill>
                  <a:schemeClr val="tx1"/>
                </a:solidFill>
              </a:rPr>
              <a:t>bram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FF1F36-5907-72DD-30B8-EC61E7046D42}"/>
              </a:ext>
            </a:extLst>
          </p:cNvPr>
          <p:cNvSpPr/>
          <p:nvPr/>
        </p:nvSpPr>
        <p:spPr>
          <a:xfrm rot="16200000">
            <a:off x="2486211" y="5794600"/>
            <a:ext cx="887962" cy="331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Down </a:t>
            </a:r>
            <a:r>
              <a:rPr lang="en-US" sz="800" dirty="0" err="1">
                <a:solidFill>
                  <a:schemeClr val="tx1"/>
                </a:solidFill>
              </a:rPr>
              <a:t>bram</a:t>
            </a:r>
            <a:r>
              <a:rPr lang="en-US" sz="800" dirty="0">
                <a:solidFill>
                  <a:schemeClr val="tx1"/>
                </a:solidFill>
              </a:rPr>
              <a:t> </a:t>
            </a:r>
            <a:r>
              <a:rPr lang="en-US" sz="800" dirty="0" err="1">
                <a:solidFill>
                  <a:schemeClr val="tx1"/>
                </a:solidFill>
              </a:rPr>
              <a:t>rdata</a:t>
            </a:r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C39E9A-82F0-367E-9C4D-C70D43D57261}"/>
              </a:ext>
            </a:extLst>
          </p:cNvPr>
          <p:cNvSpPr/>
          <p:nvPr/>
        </p:nvSpPr>
        <p:spPr>
          <a:xfrm rot="16200000">
            <a:off x="1672116" y="5794600"/>
            <a:ext cx="887962" cy="331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Down </a:t>
            </a:r>
            <a:r>
              <a:rPr lang="en-US" sz="800" dirty="0" err="1">
                <a:solidFill>
                  <a:schemeClr val="tx1"/>
                </a:solidFill>
              </a:rPr>
              <a:t>bram</a:t>
            </a:r>
            <a:r>
              <a:rPr lang="en-US" sz="800" dirty="0">
                <a:solidFill>
                  <a:schemeClr val="tx1"/>
                </a:solidFill>
              </a:rPr>
              <a:t>  </a:t>
            </a:r>
            <a:r>
              <a:rPr lang="en-US" sz="800" dirty="0" err="1">
                <a:solidFill>
                  <a:schemeClr val="tx1"/>
                </a:solidFill>
              </a:rPr>
              <a:t>addr</a:t>
            </a:r>
            <a:endParaRPr lang="en-IN" sz="800" dirty="0">
              <a:solidFill>
                <a:schemeClr val="tx1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217BC7-4ABD-807F-5EF4-54C889738B3B}"/>
              </a:ext>
            </a:extLst>
          </p:cNvPr>
          <p:cNvCxnSpPr>
            <a:cxnSpLocks/>
          </p:cNvCxnSpPr>
          <p:nvPr/>
        </p:nvCxnSpPr>
        <p:spPr>
          <a:xfrm flipV="1">
            <a:off x="1256826" y="3834415"/>
            <a:ext cx="0" cy="16600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695318F-BD40-F9DC-77FA-0789426B216D}"/>
              </a:ext>
            </a:extLst>
          </p:cNvPr>
          <p:cNvCxnSpPr>
            <a:cxnSpLocks/>
          </p:cNvCxnSpPr>
          <p:nvPr/>
        </p:nvCxnSpPr>
        <p:spPr>
          <a:xfrm>
            <a:off x="1256826" y="3834415"/>
            <a:ext cx="18790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721FDEB-CF06-825D-DC0B-D76407A9C732}"/>
              </a:ext>
            </a:extLst>
          </p:cNvPr>
          <p:cNvCxnSpPr>
            <a:cxnSpLocks/>
          </p:cNvCxnSpPr>
          <p:nvPr/>
        </p:nvCxnSpPr>
        <p:spPr>
          <a:xfrm>
            <a:off x="3135854" y="3834415"/>
            <a:ext cx="0" cy="6676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C1AA2E2D-4B44-6FB0-85EB-CB107E51A330}"/>
              </a:ext>
            </a:extLst>
          </p:cNvPr>
          <p:cNvSpPr/>
          <p:nvPr/>
        </p:nvSpPr>
        <p:spPr>
          <a:xfrm rot="16200000">
            <a:off x="5186650" y="3872958"/>
            <a:ext cx="2897158" cy="33124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ReLU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891ED18-42D7-BF96-0B9E-7A4C2996BC90}"/>
              </a:ext>
            </a:extLst>
          </p:cNvPr>
          <p:cNvSpPr/>
          <p:nvPr/>
        </p:nvSpPr>
        <p:spPr>
          <a:xfrm rot="16200000">
            <a:off x="7071435" y="3852272"/>
            <a:ext cx="2897158" cy="33124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 projection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5658D7-DC1F-CE2A-90AC-23A8CDE9552B}"/>
              </a:ext>
            </a:extLst>
          </p:cNvPr>
          <p:cNvSpPr/>
          <p:nvPr/>
        </p:nvSpPr>
        <p:spPr>
          <a:xfrm rot="16200000">
            <a:off x="8917378" y="3847870"/>
            <a:ext cx="2897158" cy="33124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Accumulation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7D10F9-F004-C598-215C-BF5A015A4E2D}"/>
              </a:ext>
            </a:extLst>
          </p:cNvPr>
          <p:cNvSpPr/>
          <p:nvPr/>
        </p:nvSpPr>
        <p:spPr>
          <a:xfrm rot="16200000">
            <a:off x="4701841" y="3974061"/>
            <a:ext cx="1421362" cy="331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 </a:t>
            </a:r>
            <a:r>
              <a:rPr lang="en-US" dirty="0" err="1">
                <a:solidFill>
                  <a:schemeClr val="tx1"/>
                </a:solidFill>
              </a:rPr>
              <a:t>proj</a:t>
            </a:r>
            <a:r>
              <a:rPr lang="en-US" dirty="0">
                <a:solidFill>
                  <a:schemeClr val="tx1"/>
                </a:solidFill>
              </a:rPr>
              <a:t> out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1438395-D3EB-DBAF-F103-E693C290BFCE}"/>
              </a:ext>
            </a:extLst>
          </p:cNvPr>
          <p:cNvCxnSpPr>
            <a:cxnSpLocks/>
          </p:cNvCxnSpPr>
          <p:nvPr/>
        </p:nvCxnSpPr>
        <p:spPr>
          <a:xfrm>
            <a:off x="4948332" y="4168220"/>
            <a:ext cx="2985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63CB282-4349-05EE-A224-53C42BBE1910}"/>
              </a:ext>
            </a:extLst>
          </p:cNvPr>
          <p:cNvCxnSpPr>
            <a:cxnSpLocks/>
          </p:cNvCxnSpPr>
          <p:nvPr/>
        </p:nvCxnSpPr>
        <p:spPr>
          <a:xfrm>
            <a:off x="5590760" y="3735355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912EB68-312E-2FB6-C7F7-F451F07F2D91}"/>
              </a:ext>
            </a:extLst>
          </p:cNvPr>
          <p:cNvCxnSpPr>
            <a:cxnSpLocks/>
          </p:cNvCxnSpPr>
          <p:nvPr/>
        </p:nvCxnSpPr>
        <p:spPr>
          <a:xfrm flipH="1">
            <a:off x="5578142" y="4189212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3B4A05E-BDDC-0C71-823D-C34DF6D2ACAC}"/>
              </a:ext>
            </a:extLst>
          </p:cNvPr>
          <p:cNvSpPr/>
          <p:nvPr/>
        </p:nvSpPr>
        <p:spPr>
          <a:xfrm rot="16200000">
            <a:off x="6478709" y="3210389"/>
            <a:ext cx="1624851" cy="331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relu out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91C54F1-786F-2339-76A8-0B99D2550E71}"/>
              </a:ext>
            </a:extLst>
          </p:cNvPr>
          <p:cNvCxnSpPr>
            <a:cxnSpLocks/>
          </p:cNvCxnSpPr>
          <p:nvPr/>
        </p:nvCxnSpPr>
        <p:spPr>
          <a:xfrm>
            <a:off x="6826945" y="3506292"/>
            <a:ext cx="2985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5B571D8-0BCA-10B7-D973-BE4D4DEC52C2}"/>
              </a:ext>
            </a:extLst>
          </p:cNvPr>
          <p:cNvCxnSpPr>
            <a:cxnSpLocks/>
          </p:cNvCxnSpPr>
          <p:nvPr/>
        </p:nvCxnSpPr>
        <p:spPr>
          <a:xfrm>
            <a:off x="7456755" y="2862940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EF39812-C756-9A15-4A8A-2E42A0841858}"/>
              </a:ext>
            </a:extLst>
          </p:cNvPr>
          <p:cNvCxnSpPr>
            <a:cxnSpLocks/>
          </p:cNvCxnSpPr>
          <p:nvPr/>
        </p:nvCxnSpPr>
        <p:spPr>
          <a:xfrm flipH="1">
            <a:off x="7456755" y="3107097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A1023889-7515-CDAC-93FD-FF1E85E9AFC5}"/>
              </a:ext>
            </a:extLst>
          </p:cNvPr>
          <p:cNvSpPr/>
          <p:nvPr/>
        </p:nvSpPr>
        <p:spPr>
          <a:xfrm rot="16200000">
            <a:off x="8337399" y="3222167"/>
            <a:ext cx="1624851" cy="331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 </a:t>
            </a:r>
            <a:r>
              <a:rPr lang="en-US" dirty="0" err="1">
                <a:solidFill>
                  <a:schemeClr val="tx1"/>
                </a:solidFill>
              </a:rPr>
              <a:t>proj</a:t>
            </a:r>
            <a:r>
              <a:rPr lang="en-US" dirty="0">
                <a:solidFill>
                  <a:schemeClr val="tx1"/>
                </a:solidFill>
              </a:rPr>
              <a:t> out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3426046-AEAE-5F65-0C19-C0CDE0E2C77F}"/>
              </a:ext>
            </a:extLst>
          </p:cNvPr>
          <p:cNvCxnSpPr>
            <a:cxnSpLocks/>
          </p:cNvCxnSpPr>
          <p:nvPr/>
        </p:nvCxnSpPr>
        <p:spPr>
          <a:xfrm>
            <a:off x="8685635" y="3518070"/>
            <a:ext cx="2985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FF22BF1-8FE7-6F0C-9947-1762B20F31AF}"/>
              </a:ext>
            </a:extLst>
          </p:cNvPr>
          <p:cNvCxnSpPr>
            <a:cxnSpLocks/>
          </p:cNvCxnSpPr>
          <p:nvPr/>
        </p:nvCxnSpPr>
        <p:spPr>
          <a:xfrm>
            <a:off x="9315445" y="2872461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F494429-3997-7A5F-5B0C-378269B23894}"/>
              </a:ext>
            </a:extLst>
          </p:cNvPr>
          <p:cNvCxnSpPr>
            <a:cxnSpLocks/>
          </p:cNvCxnSpPr>
          <p:nvPr/>
        </p:nvCxnSpPr>
        <p:spPr>
          <a:xfrm flipH="1">
            <a:off x="9315445" y="3120198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B391E35-B583-DFE3-361F-B8F5F0E42397}"/>
              </a:ext>
            </a:extLst>
          </p:cNvPr>
          <p:cNvCxnSpPr>
            <a:cxnSpLocks/>
          </p:cNvCxnSpPr>
          <p:nvPr/>
        </p:nvCxnSpPr>
        <p:spPr>
          <a:xfrm>
            <a:off x="2895598" y="4886366"/>
            <a:ext cx="463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3B6071E-0EE2-4EA0-C295-FF3018A84C84}"/>
              </a:ext>
            </a:extLst>
          </p:cNvPr>
          <p:cNvCxnSpPr>
            <a:cxnSpLocks/>
          </p:cNvCxnSpPr>
          <p:nvPr/>
        </p:nvCxnSpPr>
        <p:spPr>
          <a:xfrm>
            <a:off x="3359593" y="4886366"/>
            <a:ext cx="0" cy="7679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6317E5E-3284-F6A2-1115-68956463162D}"/>
              </a:ext>
            </a:extLst>
          </p:cNvPr>
          <p:cNvCxnSpPr>
            <a:cxnSpLocks/>
          </p:cNvCxnSpPr>
          <p:nvPr/>
        </p:nvCxnSpPr>
        <p:spPr>
          <a:xfrm>
            <a:off x="3359593" y="5654351"/>
            <a:ext cx="3765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F043C53-C20E-D823-A80B-A4DD0AC8527C}"/>
              </a:ext>
            </a:extLst>
          </p:cNvPr>
          <p:cNvSpPr/>
          <p:nvPr/>
        </p:nvSpPr>
        <p:spPr>
          <a:xfrm rot="16200000">
            <a:off x="6426932" y="5266095"/>
            <a:ext cx="1714246" cy="331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 </a:t>
            </a:r>
            <a:r>
              <a:rPr lang="en-US" dirty="0" err="1">
                <a:solidFill>
                  <a:schemeClr val="tx1"/>
                </a:solidFill>
              </a:rPr>
              <a:t>proj</a:t>
            </a:r>
            <a:r>
              <a:rPr lang="en-US" dirty="0">
                <a:solidFill>
                  <a:schemeClr val="tx1"/>
                </a:solidFill>
              </a:rPr>
              <a:t> tile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C9251A4-FE96-D864-E94C-BE724E7265FC}"/>
              </a:ext>
            </a:extLst>
          </p:cNvPr>
          <p:cNvCxnSpPr>
            <a:cxnSpLocks/>
          </p:cNvCxnSpPr>
          <p:nvPr/>
        </p:nvCxnSpPr>
        <p:spPr>
          <a:xfrm>
            <a:off x="7449675" y="4850362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7854C3C-FCAF-B3F6-A691-6C5452264D70}"/>
              </a:ext>
            </a:extLst>
          </p:cNvPr>
          <p:cNvCxnSpPr>
            <a:cxnSpLocks/>
          </p:cNvCxnSpPr>
          <p:nvPr/>
        </p:nvCxnSpPr>
        <p:spPr>
          <a:xfrm flipH="1">
            <a:off x="7456755" y="5126951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997E2BE9-C583-012A-8AAC-512B022809E0}"/>
              </a:ext>
            </a:extLst>
          </p:cNvPr>
          <p:cNvSpPr/>
          <p:nvPr/>
        </p:nvSpPr>
        <p:spPr>
          <a:xfrm rot="16200000">
            <a:off x="8184782" y="5080371"/>
            <a:ext cx="1917737" cy="331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 </a:t>
            </a:r>
            <a:r>
              <a:rPr lang="en-US" dirty="0" err="1">
                <a:solidFill>
                  <a:schemeClr val="tx1"/>
                </a:solidFill>
              </a:rPr>
              <a:t>proj</a:t>
            </a:r>
            <a:r>
              <a:rPr lang="en-US" dirty="0">
                <a:solidFill>
                  <a:schemeClr val="tx1"/>
                </a:solidFill>
              </a:rPr>
              <a:t> tile </a:t>
            </a:r>
            <a:r>
              <a:rPr lang="en-US" dirty="0" err="1">
                <a:solidFill>
                  <a:schemeClr val="tx1"/>
                </a:solidFill>
              </a:rPr>
              <a:t>idx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0E5E476-1580-F1D0-9C7C-5BE00C9A52FB}"/>
              </a:ext>
            </a:extLst>
          </p:cNvPr>
          <p:cNvCxnSpPr>
            <a:cxnSpLocks/>
          </p:cNvCxnSpPr>
          <p:nvPr/>
        </p:nvCxnSpPr>
        <p:spPr>
          <a:xfrm>
            <a:off x="8679461" y="5080537"/>
            <a:ext cx="2985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83B6338-0109-1C3A-5033-E7788764AF07}"/>
              </a:ext>
            </a:extLst>
          </p:cNvPr>
          <p:cNvCxnSpPr>
            <a:cxnSpLocks/>
          </p:cNvCxnSpPr>
          <p:nvPr/>
        </p:nvCxnSpPr>
        <p:spPr>
          <a:xfrm>
            <a:off x="9315445" y="4547118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9568042-F2B5-3B5C-148D-7A1AE10348E8}"/>
              </a:ext>
            </a:extLst>
          </p:cNvPr>
          <p:cNvCxnSpPr>
            <a:cxnSpLocks/>
          </p:cNvCxnSpPr>
          <p:nvPr/>
        </p:nvCxnSpPr>
        <p:spPr>
          <a:xfrm flipH="1">
            <a:off x="9309271" y="4719350"/>
            <a:ext cx="891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B8E46CF-2418-6517-8DA9-7D9C68375591}"/>
              </a:ext>
            </a:extLst>
          </p:cNvPr>
          <p:cNvCxnSpPr>
            <a:cxnSpLocks/>
          </p:cNvCxnSpPr>
          <p:nvPr/>
        </p:nvCxnSpPr>
        <p:spPr>
          <a:xfrm>
            <a:off x="10531577" y="3254050"/>
            <a:ext cx="4505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0B1FDE1-D72D-BCAE-6E04-5F5C46826108}"/>
              </a:ext>
            </a:extLst>
          </p:cNvPr>
          <p:cNvCxnSpPr>
            <a:cxnSpLocks/>
          </p:cNvCxnSpPr>
          <p:nvPr/>
        </p:nvCxnSpPr>
        <p:spPr>
          <a:xfrm>
            <a:off x="10531577" y="3779091"/>
            <a:ext cx="4505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3E2F54DF-5786-BE01-9562-D0895C3F7346}"/>
              </a:ext>
            </a:extLst>
          </p:cNvPr>
          <p:cNvSpPr/>
          <p:nvPr/>
        </p:nvSpPr>
        <p:spPr>
          <a:xfrm>
            <a:off x="10582896" y="2862940"/>
            <a:ext cx="716468" cy="33124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o/p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F35FACD-AC9C-8587-68B6-BC955F30FA89}"/>
              </a:ext>
            </a:extLst>
          </p:cNvPr>
          <p:cNvSpPr/>
          <p:nvPr/>
        </p:nvSpPr>
        <p:spPr>
          <a:xfrm>
            <a:off x="10620219" y="3317806"/>
            <a:ext cx="679145" cy="33124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done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C1CCC41-B240-002B-B3ED-11091F48EF83}"/>
              </a:ext>
            </a:extLst>
          </p:cNvPr>
          <p:cNvSpPr/>
          <p:nvPr/>
        </p:nvSpPr>
        <p:spPr>
          <a:xfrm rot="16200000">
            <a:off x="1991663" y="2967622"/>
            <a:ext cx="1082351" cy="48985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I/p latch next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4AF19-C0D3-1DBD-F947-349FA34A1B44}"/>
              </a:ext>
            </a:extLst>
          </p:cNvPr>
          <p:cNvSpPr txBox="1"/>
          <p:nvPr/>
        </p:nvSpPr>
        <p:spPr>
          <a:xfrm>
            <a:off x="3302647" y="2322990"/>
            <a:ext cx="97545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Valid_s1_input</a:t>
            </a:r>
            <a:endParaRPr lang="en-IN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32167-F972-644C-B96B-9880DC19A7BF}"/>
              </a:ext>
            </a:extLst>
          </p:cNvPr>
          <p:cNvSpPr txBox="1"/>
          <p:nvPr/>
        </p:nvSpPr>
        <p:spPr>
          <a:xfrm>
            <a:off x="3235185" y="3782563"/>
            <a:ext cx="90237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Valid_s1_up</a:t>
            </a:r>
            <a:endParaRPr lang="en-IN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C5C44-802D-D421-7155-646C5C488B5B}"/>
              </a:ext>
            </a:extLst>
          </p:cNvPr>
          <p:cNvSpPr txBox="1"/>
          <p:nvPr/>
        </p:nvSpPr>
        <p:spPr>
          <a:xfrm>
            <a:off x="6874376" y="4287122"/>
            <a:ext cx="102947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Valid_s1_down</a:t>
            </a:r>
            <a:endParaRPr lang="en-IN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C351B4-7669-E59A-B42B-79212F405246}"/>
              </a:ext>
            </a:extLst>
          </p:cNvPr>
          <p:cNvSpPr txBox="1"/>
          <p:nvPr/>
        </p:nvSpPr>
        <p:spPr>
          <a:xfrm>
            <a:off x="5060895" y="3114209"/>
            <a:ext cx="97545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Valid_s2</a:t>
            </a:r>
            <a:endParaRPr lang="en-IN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A9FA54-62BB-827A-71C6-0F866844D74E}"/>
              </a:ext>
            </a:extLst>
          </p:cNvPr>
          <p:cNvSpPr txBox="1"/>
          <p:nvPr/>
        </p:nvSpPr>
        <p:spPr>
          <a:xfrm>
            <a:off x="6901384" y="2275782"/>
            <a:ext cx="71239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Valid_s3</a:t>
            </a:r>
            <a:endParaRPr lang="en-IN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14D90F-0201-D9DC-226B-68C2A2D46BF7}"/>
              </a:ext>
            </a:extLst>
          </p:cNvPr>
          <p:cNvSpPr txBox="1"/>
          <p:nvPr/>
        </p:nvSpPr>
        <p:spPr>
          <a:xfrm>
            <a:off x="8757707" y="2286449"/>
            <a:ext cx="71239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Valid_s4</a:t>
            </a:r>
            <a:endParaRPr lang="en-IN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AEE372-FA3C-E16D-F0AB-2200FC811DA0}"/>
              </a:ext>
            </a:extLst>
          </p:cNvPr>
          <p:cNvSpPr txBox="1"/>
          <p:nvPr/>
        </p:nvSpPr>
        <p:spPr>
          <a:xfrm>
            <a:off x="10636247" y="2477310"/>
            <a:ext cx="97545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Valid_s5</a:t>
            </a:r>
            <a:endParaRPr lang="en-IN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E8B29A-1C82-1F37-6320-2045CD3728C3}"/>
              </a:ext>
            </a:extLst>
          </p:cNvPr>
          <p:cNvSpPr txBox="1"/>
          <p:nvPr/>
        </p:nvSpPr>
        <p:spPr>
          <a:xfrm rot="16200000">
            <a:off x="3981744" y="3536434"/>
            <a:ext cx="72550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Ready_s2</a:t>
            </a:r>
            <a:endParaRPr lang="en-IN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CCC69-3261-B321-3B7C-FDD4BDB7B75B}"/>
              </a:ext>
            </a:extLst>
          </p:cNvPr>
          <p:cNvSpPr txBox="1"/>
          <p:nvPr/>
        </p:nvSpPr>
        <p:spPr>
          <a:xfrm rot="16200000">
            <a:off x="5805967" y="4541876"/>
            <a:ext cx="70727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Ready_s3</a:t>
            </a:r>
            <a:endParaRPr lang="en-IN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405C57-A460-A4AA-9316-4102451A4D2E}"/>
              </a:ext>
            </a:extLst>
          </p:cNvPr>
          <p:cNvSpPr txBox="1"/>
          <p:nvPr/>
        </p:nvSpPr>
        <p:spPr>
          <a:xfrm rot="16200000">
            <a:off x="7784813" y="3380067"/>
            <a:ext cx="712396" cy="2494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Ready_s4</a:t>
            </a:r>
            <a:endParaRPr lang="en-IN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040048-13A8-5146-D53F-4A3D3FDA92DC}"/>
              </a:ext>
            </a:extLst>
          </p:cNvPr>
          <p:cNvSpPr txBox="1"/>
          <p:nvPr/>
        </p:nvSpPr>
        <p:spPr>
          <a:xfrm rot="16200000">
            <a:off x="9616358" y="3427266"/>
            <a:ext cx="71239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Ready_s5</a:t>
            </a:r>
            <a:endParaRPr lang="en-IN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0E90D5-9A69-D55F-6E32-AE0B41C9DF8F}"/>
              </a:ext>
            </a:extLst>
          </p:cNvPr>
          <p:cNvSpPr txBox="1"/>
          <p:nvPr/>
        </p:nvSpPr>
        <p:spPr>
          <a:xfrm rot="16200000">
            <a:off x="4005478" y="5172777"/>
            <a:ext cx="698265" cy="2462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Ready_s2</a:t>
            </a:r>
            <a:endParaRPr lang="en-IN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34E4D5-ED90-2E4A-9B2D-C4065B8AF442}"/>
              </a:ext>
            </a:extLst>
          </p:cNvPr>
          <p:cNvSpPr txBox="1"/>
          <p:nvPr/>
        </p:nvSpPr>
        <p:spPr>
          <a:xfrm rot="16200000">
            <a:off x="7798775" y="5391498"/>
            <a:ext cx="712396" cy="2494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Ready_s4</a:t>
            </a:r>
            <a:endParaRPr lang="en-IN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00C798-70A4-857D-6ED8-F22C359D2E71}"/>
              </a:ext>
            </a:extLst>
          </p:cNvPr>
          <p:cNvSpPr txBox="1"/>
          <p:nvPr/>
        </p:nvSpPr>
        <p:spPr>
          <a:xfrm rot="16200000">
            <a:off x="9611078" y="5003840"/>
            <a:ext cx="71239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Ready_s5</a:t>
            </a:r>
            <a:endParaRPr lang="en-IN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70608F-FD3D-263A-0470-A59536EA8CA4}"/>
              </a:ext>
            </a:extLst>
          </p:cNvPr>
          <p:cNvSpPr txBox="1"/>
          <p:nvPr/>
        </p:nvSpPr>
        <p:spPr>
          <a:xfrm rot="16200000">
            <a:off x="918249" y="3024292"/>
            <a:ext cx="975457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Input tile index</a:t>
            </a:r>
            <a:endParaRPr lang="en-IN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C3AE8A-C510-064D-7934-E6FF3FEBD3BC}"/>
              </a:ext>
            </a:extLst>
          </p:cNvPr>
          <p:cNvSpPr txBox="1"/>
          <p:nvPr/>
        </p:nvSpPr>
        <p:spPr>
          <a:xfrm rot="16200000">
            <a:off x="3658497" y="5865317"/>
            <a:ext cx="847692" cy="55399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Up projection tile index</a:t>
            </a:r>
            <a:endParaRPr lang="en-IN" sz="10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6A29E64-3197-F0F4-185C-5980E32C9F79}"/>
              </a:ext>
            </a:extLst>
          </p:cNvPr>
          <p:cNvCxnSpPr>
            <a:cxnSpLocks/>
          </p:cNvCxnSpPr>
          <p:nvPr/>
        </p:nvCxnSpPr>
        <p:spPr>
          <a:xfrm flipV="1">
            <a:off x="2895598" y="4886366"/>
            <a:ext cx="0" cy="596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199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EBC-2632-C0A8-E328-BB8214B4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23" y="365125"/>
            <a:ext cx="11163677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Waveforms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4DCA9-0E3D-FEF0-2C3C-7411315E6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23" y="1837853"/>
            <a:ext cx="11823826" cy="396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33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464</Words>
  <Application>Microsoft Office PowerPoint</Application>
  <PresentationFormat>Widescreen</PresentationFormat>
  <Paragraphs>147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Further Advancements in Modified Pipelined FFN</vt:lpstr>
      <vt:lpstr>Basic Representation of Modified Pipelined Feed Forward Network</vt:lpstr>
      <vt:lpstr>2 Different States Used</vt:lpstr>
      <vt:lpstr>Data Flattening</vt:lpstr>
      <vt:lpstr>Block Diagram of Modified Pipelined FFN</vt:lpstr>
      <vt:lpstr>Waveforms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ARUDDHA BASU</dc:creator>
  <cp:lastModifiedBy>Rahul Tripathy</cp:lastModifiedBy>
  <cp:revision>8</cp:revision>
  <dcterms:created xsi:type="dcterms:W3CDTF">2026-07-04T18:26:06Z</dcterms:created>
  <dcterms:modified xsi:type="dcterms:W3CDTF">2026-07-09T09:08:02Z</dcterms:modified>
</cp:coreProperties>
</file>