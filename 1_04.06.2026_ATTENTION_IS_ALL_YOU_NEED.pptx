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57" r:id="rId5"/>
    <p:sldId id="258"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96" d="100"/>
          <a:sy n="96" d="100"/>
        </p:scale>
        <p:origin x="1152"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125F6-88F1-2C19-42BA-B3DD79744A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37293B-E4A9-B8D3-85FE-5FAA30A824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61AF5A-2062-A6FA-3C26-48FA0E8179CF}"/>
              </a:ext>
            </a:extLst>
          </p:cNvPr>
          <p:cNvSpPr>
            <a:spLocks noGrp="1"/>
          </p:cNvSpPr>
          <p:nvPr>
            <p:ph type="dt" sz="half" idx="10"/>
          </p:nvPr>
        </p:nvSpPr>
        <p:spPr/>
        <p:txBody>
          <a:bodyPr/>
          <a:lstStyle/>
          <a:p>
            <a:fld id="{40651507-5EB3-4CA4-9AF3-F7FD4E8B6AC6}" type="datetimeFigureOut">
              <a:rPr lang="en-US" smtClean="0"/>
              <a:t>04-Jun-26</a:t>
            </a:fld>
            <a:endParaRPr lang="en-US" dirty="0"/>
          </a:p>
        </p:txBody>
      </p:sp>
      <p:sp>
        <p:nvSpPr>
          <p:cNvPr id="5" name="Footer Placeholder 4">
            <a:extLst>
              <a:ext uri="{FF2B5EF4-FFF2-40B4-BE49-F238E27FC236}">
                <a16:creationId xmlns:a16="http://schemas.microsoft.com/office/drawing/2014/main" id="{F355EEC1-45C4-9DD6-5EEF-45E9F6969C4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6C8FAD1-15F5-B08A-FEFC-E5C43E7DE736}"/>
              </a:ext>
            </a:extLst>
          </p:cNvPr>
          <p:cNvSpPr>
            <a:spLocks noGrp="1"/>
          </p:cNvSpPr>
          <p:nvPr>
            <p:ph type="sldNum" sz="quarter" idx="12"/>
          </p:nvPr>
        </p:nvSpPr>
        <p:spPr/>
        <p:txBody>
          <a:bodyPr/>
          <a:lstStyle/>
          <a:p>
            <a:fld id="{94510BA6-2A15-4A07-8C66-8E97E57ED38F}" type="slidenum">
              <a:rPr lang="en-US" smtClean="0"/>
              <a:t>‹#›</a:t>
            </a:fld>
            <a:endParaRPr lang="en-US" dirty="0"/>
          </a:p>
        </p:txBody>
      </p:sp>
    </p:spTree>
    <p:extLst>
      <p:ext uri="{BB962C8B-B14F-4D97-AF65-F5344CB8AC3E}">
        <p14:creationId xmlns:p14="http://schemas.microsoft.com/office/powerpoint/2010/main" val="989330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1720E-2754-A327-22D7-C0AD7D1EEA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6737AE-5F97-52D6-690D-75BD4F96D7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EB043F-2BF9-655F-1C7E-CFD0F68A5632}"/>
              </a:ext>
            </a:extLst>
          </p:cNvPr>
          <p:cNvSpPr>
            <a:spLocks noGrp="1"/>
          </p:cNvSpPr>
          <p:nvPr>
            <p:ph type="dt" sz="half" idx="10"/>
          </p:nvPr>
        </p:nvSpPr>
        <p:spPr/>
        <p:txBody>
          <a:bodyPr/>
          <a:lstStyle/>
          <a:p>
            <a:fld id="{40651507-5EB3-4CA4-9AF3-F7FD4E8B6AC6}" type="datetimeFigureOut">
              <a:rPr lang="en-US" smtClean="0"/>
              <a:t>04-Jun-26</a:t>
            </a:fld>
            <a:endParaRPr lang="en-US" dirty="0"/>
          </a:p>
        </p:txBody>
      </p:sp>
      <p:sp>
        <p:nvSpPr>
          <p:cNvPr id="5" name="Footer Placeholder 4">
            <a:extLst>
              <a:ext uri="{FF2B5EF4-FFF2-40B4-BE49-F238E27FC236}">
                <a16:creationId xmlns:a16="http://schemas.microsoft.com/office/drawing/2014/main" id="{7FCBE007-4F1E-8695-B4D1-ABC11C38AB1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33BB2B-34FE-C84D-101E-8D29AECA470F}"/>
              </a:ext>
            </a:extLst>
          </p:cNvPr>
          <p:cNvSpPr>
            <a:spLocks noGrp="1"/>
          </p:cNvSpPr>
          <p:nvPr>
            <p:ph type="sldNum" sz="quarter" idx="12"/>
          </p:nvPr>
        </p:nvSpPr>
        <p:spPr/>
        <p:txBody>
          <a:bodyPr/>
          <a:lstStyle/>
          <a:p>
            <a:fld id="{94510BA6-2A15-4A07-8C66-8E97E57ED38F}" type="slidenum">
              <a:rPr lang="en-US" smtClean="0"/>
              <a:t>‹#›</a:t>
            </a:fld>
            <a:endParaRPr lang="en-US" dirty="0"/>
          </a:p>
        </p:txBody>
      </p:sp>
    </p:spTree>
    <p:extLst>
      <p:ext uri="{BB962C8B-B14F-4D97-AF65-F5344CB8AC3E}">
        <p14:creationId xmlns:p14="http://schemas.microsoft.com/office/powerpoint/2010/main" val="2756978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E7163-3BE2-D340-3F67-AE35F568C8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9F63C4-61D9-E685-B360-880AA0C0C7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616DFA-9AE7-33B1-FF44-E3D47F5441FF}"/>
              </a:ext>
            </a:extLst>
          </p:cNvPr>
          <p:cNvSpPr>
            <a:spLocks noGrp="1"/>
          </p:cNvSpPr>
          <p:nvPr>
            <p:ph type="dt" sz="half" idx="10"/>
          </p:nvPr>
        </p:nvSpPr>
        <p:spPr/>
        <p:txBody>
          <a:bodyPr/>
          <a:lstStyle/>
          <a:p>
            <a:fld id="{40651507-5EB3-4CA4-9AF3-F7FD4E8B6AC6}" type="datetimeFigureOut">
              <a:rPr lang="en-US" smtClean="0"/>
              <a:t>04-Jun-26</a:t>
            </a:fld>
            <a:endParaRPr lang="en-US" dirty="0"/>
          </a:p>
        </p:txBody>
      </p:sp>
      <p:sp>
        <p:nvSpPr>
          <p:cNvPr id="5" name="Footer Placeholder 4">
            <a:extLst>
              <a:ext uri="{FF2B5EF4-FFF2-40B4-BE49-F238E27FC236}">
                <a16:creationId xmlns:a16="http://schemas.microsoft.com/office/drawing/2014/main" id="{9BC5238F-C8C2-9F55-0EA7-33958FA9B7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E0BC175-CDFA-EF95-172C-0DD639A9A253}"/>
              </a:ext>
            </a:extLst>
          </p:cNvPr>
          <p:cNvSpPr>
            <a:spLocks noGrp="1"/>
          </p:cNvSpPr>
          <p:nvPr>
            <p:ph type="sldNum" sz="quarter" idx="12"/>
          </p:nvPr>
        </p:nvSpPr>
        <p:spPr/>
        <p:txBody>
          <a:bodyPr/>
          <a:lstStyle/>
          <a:p>
            <a:fld id="{94510BA6-2A15-4A07-8C66-8E97E57ED38F}" type="slidenum">
              <a:rPr lang="en-US" smtClean="0"/>
              <a:t>‹#›</a:t>
            </a:fld>
            <a:endParaRPr lang="en-US" dirty="0"/>
          </a:p>
        </p:txBody>
      </p:sp>
    </p:spTree>
    <p:extLst>
      <p:ext uri="{BB962C8B-B14F-4D97-AF65-F5344CB8AC3E}">
        <p14:creationId xmlns:p14="http://schemas.microsoft.com/office/powerpoint/2010/main" val="3251305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F8F5C-7E24-39CC-234A-5B38363690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689E50-9254-0154-299F-4B90B12D41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55B383-D433-2784-16FC-1A0C884961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C94E88-1FF2-BE13-1A28-6917F65A8C75}"/>
              </a:ext>
            </a:extLst>
          </p:cNvPr>
          <p:cNvSpPr>
            <a:spLocks noGrp="1"/>
          </p:cNvSpPr>
          <p:nvPr>
            <p:ph type="dt" sz="half" idx="10"/>
          </p:nvPr>
        </p:nvSpPr>
        <p:spPr/>
        <p:txBody>
          <a:bodyPr/>
          <a:lstStyle/>
          <a:p>
            <a:fld id="{40651507-5EB3-4CA4-9AF3-F7FD4E8B6AC6}" type="datetimeFigureOut">
              <a:rPr lang="en-US" smtClean="0"/>
              <a:t>04-Jun-26</a:t>
            </a:fld>
            <a:endParaRPr lang="en-US" dirty="0"/>
          </a:p>
        </p:txBody>
      </p:sp>
      <p:sp>
        <p:nvSpPr>
          <p:cNvPr id="6" name="Footer Placeholder 5">
            <a:extLst>
              <a:ext uri="{FF2B5EF4-FFF2-40B4-BE49-F238E27FC236}">
                <a16:creationId xmlns:a16="http://schemas.microsoft.com/office/drawing/2014/main" id="{1E9B6AFA-3A82-F293-7965-BACD7155BA7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5140414-3415-215A-1881-7A0D5DF660A9}"/>
              </a:ext>
            </a:extLst>
          </p:cNvPr>
          <p:cNvSpPr>
            <a:spLocks noGrp="1"/>
          </p:cNvSpPr>
          <p:nvPr>
            <p:ph type="sldNum" sz="quarter" idx="12"/>
          </p:nvPr>
        </p:nvSpPr>
        <p:spPr/>
        <p:txBody>
          <a:bodyPr/>
          <a:lstStyle/>
          <a:p>
            <a:fld id="{94510BA6-2A15-4A07-8C66-8E97E57ED38F}" type="slidenum">
              <a:rPr lang="en-US" smtClean="0"/>
              <a:t>‹#›</a:t>
            </a:fld>
            <a:endParaRPr lang="en-US" dirty="0"/>
          </a:p>
        </p:txBody>
      </p:sp>
    </p:spTree>
    <p:extLst>
      <p:ext uri="{BB962C8B-B14F-4D97-AF65-F5344CB8AC3E}">
        <p14:creationId xmlns:p14="http://schemas.microsoft.com/office/powerpoint/2010/main" val="2517904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5604-D9C2-F539-817D-F875A389E6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F920D4-370D-376B-3B8C-3F1C669D30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BECA3C-667B-BFF8-82D6-5C9F9966D9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07A0FD-45FC-3023-73B4-8F378098B2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E968C9-282F-8031-68AE-F4BD833A2F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4E7716-D59D-7700-DAA3-2FB765C50731}"/>
              </a:ext>
            </a:extLst>
          </p:cNvPr>
          <p:cNvSpPr>
            <a:spLocks noGrp="1"/>
          </p:cNvSpPr>
          <p:nvPr>
            <p:ph type="dt" sz="half" idx="10"/>
          </p:nvPr>
        </p:nvSpPr>
        <p:spPr/>
        <p:txBody>
          <a:bodyPr/>
          <a:lstStyle/>
          <a:p>
            <a:fld id="{40651507-5EB3-4CA4-9AF3-F7FD4E8B6AC6}" type="datetimeFigureOut">
              <a:rPr lang="en-US" smtClean="0"/>
              <a:t>04-Jun-26</a:t>
            </a:fld>
            <a:endParaRPr lang="en-US" dirty="0"/>
          </a:p>
        </p:txBody>
      </p:sp>
      <p:sp>
        <p:nvSpPr>
          <p:cNvPr id="8" name="Footer Placeholder 7">
            <a:extLst>
              <a:ext uri="{FF2B5EF4-FFF2-40B4-BE49-F238E27FC236}">
                <a16:creationId xmlns:a16="http://schemas.microsoft.com/office/drawing/2014/main" id="{22B6DCB5-C278-CDCD-9F73-8AB060E4307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C3334B8-5599-1CBA-7580-166D1D0ED727}"/>
              </a:ext>
            </a:extLst>
          </p:cNvPr>
          <p:cNvSpPr>
            <a:spLocks noGrp="1"/>
          </p:cNvSpPr>
          <p:nvPr>
            <p:ph type="sldNum" sz="quarter" idx="12"/>
          </p:nvPr>
        </p:nvSpPr>
        <p:spPr/>
        <p:txBody>
          <a:bodyPr/>
          <a:lstStyle/>
          <a:p>
            <a:fld id="{94510BA6-2A15-4A07-8C66-8E97E57ED38F}" type="slidenum">
              <a:rPr lang="en-US" smtClean="0"/>
              <a:t>‹#›</a:t>
            </a:fld>
            <a:endParaRPr lang="en-US" dirty="0"/>
          </a:p>
        </p:txBody>
      </p:sp>
    </p:spTree>
    <p:extLst>
      <p:ext uri="{BB962C8B-B14F-4D97-AF65-F5344CB8AC3E}">
        <p14:creationId xmlns:p14="http://schemas.microsoft.com/office/powerpoint/2010/main" val="1950575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B1DF6-2994-5E82-39E2-A776D569D0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C324BD-7E32-6782-649C-5C272B695624}"/>
              </a:ext>
            </a:extLst>
          </p:cNvPr>
          <p:cNvSpPr>
            <a:spLocks noGrp="1"/>
          </p:cNvSpPr>
          <p:nvPr>
            <p:ph type="dt" sz="half" idx="10"/>
          </p:nvPr>
        </p:nvSpPr>
        <p:spPr/>
        <p:txBody>
          <a:bodyPr/>
          <a:lstStyle/>
          <a:p>
            <a:fld id="{40651507-5EB3-4CA4-9AF3-F7FD4E8B6AC6}" type="datetimeFigureOut">
              <a:rPr lang="en-US" smtClean="0"/>
              <a:t>04-Jun-26</a:t>
            </a:fld>
            <a:endParaRPr lang="en-US" dirty="0"/>
          </a:p>
        </p:txBody>
      </p:sp>
      <p:sp>
        <p:nvSpPr>
          <p:cNvPr id="4" name="Footer Placeholder 3">
            <a:extLst>
              <a:ext uri="{FF2B5EF4-FFF2-40B4-BE49-F238E27FC236}">
                <a16:creationId xmlns:a16="http://schemas.microsoft.com/office/drawing/2014/main" id="{D8EC3D4E-6A12-BB30-9ABA-03B70F0C5F5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D908501-7329-8892-1418-499C2346ACB9}"/>
              </a:ext>
            </a:extLst>
          </p:cNvPr>
          <p:cNvSpPr>
            <a:spLocks noGrp="1"/>
          </p:cNvSpPr>
          <p:nvPr>
            <p:ph type="sldNum" sz="quarter" idx="12"/>
          </p:nvPr>
        </p:nvSpPr>
        <p:spPr/>
        <p:txBody>
          <a:bodyPr/>
          <a:lstStyle/>
          <a:p>
            <a:fld id="{94510BA6-2A15-4A07-8C66-8E97E57ED38F}" type="slidenum">
              <a:rPr lang="en-US" smtClean="0"/>
              <a:t>‹#›</a:t>
            </a:fld>
            <a:endParaRPr lang="en-US" dirty="0"/>
          </a:p>
        </p:txBody>
      </p:sp>
    </p:spTree>
    <p:extLst>
      <p:ext uri="{BB962C8B-B14F-4D97-AF65-F5344CB8AC3E}">
        <p14:creationId xmlns:p14="http://schemas.microsoft.com/office/powerpoint/2010/main" val="4031539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B5C689-BB15-FBBB-C4C3-00F42DD87DA5}"/>
              </a:ext>
            </a:extLst>
          </p:cNvPr>
          <p:cNvSpPr>
            <a:spLocks noGrp="1"/>
          </p:cNvSpPr>
          <p:nvPr>
            <p:ph type="dt" sz="half" idx="10"/>
          </p:nvPr>
        </p:nvSpPr>
        <p:spPr/>
        <p:txBody>
          <a:bodyPr/>
          <a:lstStyle/>
          <a:p>
            <a:fld id="{40651507-5EB3-4CA4-9AF3-F7FD4E8B6AC6}" type="datetimeFigureOut">
              <a:rPr lang="en-US" smtClean="0"/>
              <a:t>04-Jun-26</a:t>
            </a:fld>
            <a:endParaRPr lang="en-US" dirty="0"/>
          </a:p>
        </p:txBody>
      </p:sp>
      <p:sp>
        <p:nvSpPr>
          <p:cNvPr id="3" name="Footer Placeholder 2">
            <a:extLst>
              <a:ext uri="{FF2B5EF4-FFF2-40B4-BE49-F238E27FC236}">
                <a16:creationId xmlns:a16="http://schemas.microsoft.com/office/drawing/2014/main" id="{BDBBE8F1-9855-EAA6-55DC-92393C647BD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63D4857-ECEF-6A49-9667-F1E7C8CF9340}"/>
              </a:ext>
            </a:extLst>
          </p:cNvPr>
          <p:cNvSpPr>
            <a:spLocks noGrp="1"/>
          </p:cNvSpPr>
          <p:nvPr>
            <p:ph type="sldNum" sz="quarter" idx="12"/>
          </p:nvPr>
        </p:nvSpPr>
        <p:spPr/>
        <p:txBody>
          <a:bodyPr/>
          <a:lstStyle/>
          <a:p>
            <a:fld id="{94510BA6-2A15-4A07-8C66-8E97E57ED38F}" type="slidenum">
              <a:rPr lang="en-US" smtClean="0"/>
              <a:t>‹#›</a:t>
            </a:fld>
            <a:endParaRPr lang="en-US" dirty="0"/>
          </a:p>
        </p:txBody>
      </p:sp>
    </p:spTree>
    <p:extLst>
      <p:ext uri="{BB962C8B-B14F-4D97-AF65-F5344CB8AC3E}">
        <p14:creationId xmlns:p14="http://schemas.microsoft.com/office/powerpoint/2010/main" val="621886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0F282-B4F3-8C6D-60DA-4D6CE4C568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84EE24-773E-9DAE-15A7-1099AC187F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25CEE8-F795-472E-3BF7-B7DE5337A9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B46AC9-766A-EBF8-C4C3-65ED2CAC21A2}"/>
              </a:ext>
            </a:extLst>
          </p:cNvPr>
          <p:cNvSpPr>
            <a:spLocks noGrp="1"/>
          </p:cNvSpPr>
          <p:nvPr>
            <p:ph type="dt" sz="half" idx="10"/>
          </p:nvPr>
        </p:nvSpPr>
        <p:spPr/>
        <p:txBody>
          <a:bodyPr/>
          <a:lstStyle/>
          <a:p>
            <a:fld id="{40651507-5EB3-4CA4-9AF3-F7FD4E8B6AC6}" type="datetimeFigureOut">
              <a:rPr lang="en-US" smtClean="0"/>
              <a:t>04-Jun-26</a:t>
            </a:fld>
            <a:endParaRPr lang="en-US" dirty="0"/>
          </a:p>
        </p:txBody>
      </p:sp>
      <p:sp>
        <p:nvSpPr>
          <p:cNvPr id="6" name="Footer Placeholder 5">
            <a:extLst>
              <a:ext uri="{FF2B5EF4-FFF2-40B4-BE49-F238E27FC236}">
                <a16:creationId xmlns:a16="http://schemas.microsoft.com/office/drawing/2014/main" id="{6C59126C-8032-88FB-F427-77A6C7EEEA7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57D9AC3-C211-A899-B4B0-BDE830AABC2D}"/>
              </a:ext>
            </a:extLst>
          </p:cNvPr>
          <p:cNvSpPr>
            <a:spLocks noGrp="1"/>
          </p:cNvSpPr>
          <p:nvPr>
            <p:ph type="sldNum" sz="quarter" idx="12"/>
          </p:nvPr>
        </p:nvSpPr>
        <p:spPr/>
        <p:txBody>
          <a:bodyPr/>
          <a:lstStyle/>
          <a:p>
            <a:fld id="{94510BA6-2A15-4A07-8C66-8E97E57ED38F}" type="slidenum">
              <a:rPr lang="en-US" smtClean="0"/>
              <a:t>‹#›</a:t>
            </a:fld>
            <a:endParaRPr lang="en-US" dirty="0"/>
          </a:p>
        </p:txBody>
      </p:sp>
    </p:spTree>
    <p:extLst>
      <p:ext uri="{BB962C8B-B14F-4D97-AF65-F5344CB8AC3E}">
        <p14:creationId xmlns:p14="http://schemas.microsoft.com/office/powerpoint/2010/main" val="207416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54E05-DC7E-3825-A55C-69DB7B0361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C28E3E-B7BB-D594-BFB8-B344FDCBD5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F35029B-D7C8-7AB5-7AB6-EB34B51417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F05B59-32E7-5E4A-B994-2DF33A204416}"/>
              </a:ext>
            </a:extLst>
          </p:cNvPr>
          <p:cNvSpPr>
            <a:spLocks noGrp="1"/>
          </p:cNvSpPr>
          <p:nvPr>
            <p:ph type="dt" sz="half" idx="10"/>
          </p:nvPr>
        </p:nvSpPr>
        <p:spPr/>
        <p:txBody>
          <a:bodyPr/>
          <a:lstStyle/>
          <a:p>
            <a:fld id="{40651507-5EB3-4CA4-9AF3-F7FD4E8B6AC6}" type="datetimeFigureOut">
              <a:rPr lang="en-US" smtClean="0"/>
              <a:t>04-Jun-26</a:t>
            </a:fld>
            <a:endParaRPr lang="en-US" dirty="0"/>
          </a:p>
        </p:txBody>
      </p:sp>
      <p:sp>
        <p:nvSpPr>
          <p:cNvPr id="6" name="Footer Placeholder 5">
            <a:extLst>
              <a:ext uri="{FF2B5EF4-FFF2-40B4-BE49-F238E27FC236}">
                <a16:creationId xmlns:a16="http://schemas.microsoft.com/office/drawing/2014/main" id="{124AF34B-9205-95AD-368D-685C7481012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261E943-A858-79C7-B5F0-B425E15F391F}"/>
              </a:ext>
            </a:extLst>
          </p:cNvPr>
          <p:cNvSpPr>
            <a:spLocks noGrp="1"/>
          </p:cNvSpPr>
          <p:nvPr>
            <p:ph type="sldNum" sz="quarter" idx="12"/>
          </p:nvPr>
        </p:nvSpPr>
        <p:spPr/>
        <p:txBody>
          <a:bodyPr/>
          <a:lstStyle/>
          <a:p>
            <a:fld id="{94510BA6-2A15-4A07-8C66-8E97E57ED38F}" type="slidenum">
              <a:rPr lang="en-US" smtClean="0"/>
              <a:t>‹#›</a:t>
            </a:fld>
            <a:endParaRPr lang="en-US" dirty="0"/>
          </a:p>
        </p:txBody>
      </p:sp>
    </p:spTree>
    <p:extLst>
      <p:ext uri="{BB962C8B-B14F-4D97-AF65-F5344CB8AC3E}">
        <p14:creationId xmlns:p14="http://schemas.microsoft.com/office/powerpoint/2010/main" val="3666686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E461F-DB88-4E16-7C1B-EA3B98EAB2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E72F81-2B8F-3569-9D8F-DE78B18DC9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EBE6D2-5F0C-6F2E-104B-EB1747A8CE36}"/>
              </a:ext>
            </a:extLst>
          </p:cNvPr>
          <p:cNvSpPr>
            <a:spLocks noGrp="1"/>
          </p:cNvSpPr>
          <p:nvPr>
            <p:ph type="dt" sz="half" idx="10"/>
          </p:nvPr>
        </p:nvSpPr>
        <p:spPr/>
        <p:txBody>
          <a:bodyPr/>
          <a:lstStyle/>
          <a:p>
            <a:fld id="{40651507-5EB3-4CA4-9AF3-F7FD4E8B6AC6}" type="datetimeFigureOut">
              <a:rPr lang="en-US" smtClean="0"/>
              <a:t>04-Jun-26</a:t>
            </a:fld>
            <a:endParaRPr lang="en-US" dirty="0"/>
          </a:p>
        </p:txBody>
      </p:sp>
      <p:sp>
        <p:nvSpPr>
          <p:cNvPr id="5" name="Footer Placeholder 4">
            <a:extLst>
              <a:ext uri="{FF2B5EF4-FFF2-40B4-BE49-F238E27FC236}">
                <a16:creationId xmlns:a16="http://schemas.microsoft.com/office/drawing/2014/main" id="{86D1F7C5-1D40-E0B7-5884-FBE4B7812BB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5077F81-299D-319C-FC20-8FD2A994BF1C}"/>
              </a:ext>
            </a:extLst>
          </p:cNvPr>
          <p:cNvSpPr>
            <a:spLocks noGrp="1"/>
          </p:cNvSpPr>
          <p:nvPr>
            <p:ph type="sldNum" sz="quarter" idx="12"/>
          </p:nvPr>
        </p:nvSpPr>
        <p:spPr/>
        <p:txBody>
          <a:bodyPr/>
          <a:lstStyle/>
          <a:p>
            <a:fld id="{94510BA6-2A15-4A07-8C66-8E97E57ED38F}" type="slidenum">
              <a:rPr lang="en-US" smtClean="0"/>
              <a:t>‹#›</a:t>
            </a:fld>
            <a:endParaRPr lang="en-US" dirty="0"/>
          </a:p>
        </p:txBody>
      </p:sp>
    </p:spTree>
    <p:extLst>
      <p:ext uri="{BB962C8B-B14F-4D97-AF65-F5344CB8AC3E}">
        <p14:creationId xmlns:p14="http://schemas.microsoft.com/office/powerpoint/2010/main" val="2211652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DD4D37-CC06-A466-F188-8A0F4A6F46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F7F0C4-9268-D867-8BC5-E920811F9E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C73913-94DF-1CEA-224E-632B04885994}"/>
              </a:ext>
            </a:extLst>
          </p:cNvPr>
          <p:cNvSpPr>
            <a:spLocks noGrp="1"/>
          </p:cNvSpPr>
          <p:nvPr>
            <p:ph type="dt" sz="half" idx="10"/>
          </p:nvPr>
        </p:nvSpPr>
        <p:spPr/>
        <p:txBody>
          <a:bodyPr/>
          <a:lstStyle/>
          <a:p>
            <a:fld id="{40651507-5EB3-4CA4-9AF3-F7FD4E8B6AC6}" type="datetimeFigureOut">
              <a:rPr lang="en-US" smtClean="0"/>
              <a:t>04-Jun-26</a:t>
            </a:fld>
            <a:endParaRPr lang="en-US" dirty="0"/>
          </a:p>
        </p:txBody>
      </p:sp>
      <p:sp>
        <p:nvSpPr>
          <p:cNvPr id="5" name="Footer Placeholder 4">
            <a:extLst>
              <a:ext uri="{FF2B5EF4-FFF2-40B4-BE49-F238E27FC236}">
                <a16:creationId xmlns:a16="http://schemas.microsoft.com/office/drawing/2014/main" id="{79ED0AE4-4EFA-FC48-1011-0EC512A160E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0F71796-E4DD-1BFA-5FB3-6210256B9E49}"/>
              </a:ext>
            </a:extLst>
          </p:cNvPr>
          <p:cNvSpPr>
            <a:spLocks noGrp="1"/>
          </p:cNvSpPr>
          <p:nvPr>
            <p:ph type="sldNum" sz="quarter" idx="12"/>
          </p:nvPr>
        </p:nvSpPr>
        <p:spPr/>
        <p:txBody>
          <a:bodyPr/>
          <a:lstStyle/>
          <a:p>
            <a:fld id="{94510BA6-2A15-4A07-8C66-8E97E57ED38F}" type="slidenum">
              <a:rPr lang="en-US" smtClean="0"/>
              <a:t>‹#›</a:t>
            </a:fld>
            <a:endParaRPr lang="en-US" dirty="0"/>
          </a:p>
        </p:txBody>
      </p:sp>
    </p:spTree>
    <p:extLst>
      <p:ext uri="{BB962C8B-B14F-4D97-AF65-F5344CB8AC3E}">
        <p14:creationId xmlns:p14="http://schemas.microsoft.com/office/powerpoint/2010/main" val="76406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ABB0D5-F5B2-92A5-0B6E-BDF40DC55C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C663EA-FC1E-887B-66C6-D523814B70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AA600F-2C94-6938-8503-18A30CA569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651507-5EB3-4CA4-9AF3-F7FD4E8B6AC6}" type="datetimeFigureOut">
              <a:rPr lang="en-US" smtClean="0"/>
              <a:t>04-Jun-26</a:t>
            </a:fld>
            <a:endParaRPr lang="en-US" dirty="0"/>
          </a:p>
        </p:txBody>
      </p:sp>
      <p:sp>
        <p:nvSpPr>
          <p:cNvPr id="5" name="Footer Placeholder 4">
            <a:extLst>
              <a:ext uri="{FF2B5EF4-FFF2-40B4-BE49-F238E27FC236}">
                <a16:creationId xmlns:a16="http://schemas.microsoft.com/office/drawing/2014/main" id="{4D7999C8-2F69-5A93-0161-AD1485198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CDB4A20C-9AC7-D9B0-5141-A65A1B0BE2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510BA6-2A15-4A07-8C66-8E97E57ED38F}" type="slidenum">
              <a:rPr lang="en-US" smtClean="0"/>
              <a:t>‹#›</a:t>
            </a:fld>
            <a:endParaRPr lang="en-US" dirty="0"/>
          </a:p>
        </p:txBody>
      </p:sp>
    </p:spTree>
    <p:extLst>
      <p:ext uri="{BB962C8B-B14F-4D97-AF65-F5344CB8AC3E}">
        <p14:creationId xmlns:p14="http://schemas.microsoft.com/office/powerpoint/2010/main" val="1629839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12862-DCDF-B427-2CD8-619E63EC5E3C}"/>
              </a:ext>
            </a:extLst>
          </p:cNvPr>
          <p:cNvSpPr>
            <a:spLocks noGrp="1"/>
          </p:cNvSpPr>
          <p:nvPr>
            <p:ph type="ctrTitle"/>
          </p:nvPr>
        </p:nvSpPr>
        <p:spPr/>
        <p:txBody>
          <a:bodyPr/>
          <a:lstStyle/>
          <a:p>
            <a:r>
              <a:rPr lang="en-US" b="1" dirty="0">
                <a:solidFill>
                  <a:srgbClr val="FF0000"/>
                </a:solidFill>
              </a:rPr>
              <a:t>Attention Is All You Need</a:t>
            </a:r>
          </a:p>
        </p:txBody>
      </p:sp>
    </p:spTree>
    <p:extLst>
      <p:ext uri="{BB962C8B-B14F-4D97-AF65-F5344CB8AC3E}">
        <p14:creationId xmlns:p14="http://schemas.microsoft.com/office/powerpoint/2010/main" val="301954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1C329-D294-65FD-F84C-6788588A3EB6}"/>
              </a:ext>
            </a:extLst>
          </p:cNvPr>
          <p:cNvSpPr>
            <a:spLocks noGrp="1"/>
          </p:cNvSpPr>
          <p:nvPr>
            <p:ph type="title"/>
          </p:nvPr>
        </p:nvSpPr>
        <p:spPr/>
        <p:txBody>
          <a:bodyPr/>
          <a:lstStyle/>
          <a:p>
            <a:r>
              <a:rPr lang="en-US" b="1" u="sng" dirty="0">
                <a:solidFill>
                  <a:srgbClr val="FF0000"/>
                </a:solidFill>
              </a:rPr>
              <a:t>Introduction</a:t>
            </a:r>
          </a:p>
        </p:txBody>
      </p:sp>
      <p:sp>
        <p:nvSpPr>
          <p:cNvPr id="3" name="Content Placeholder 2">
            <a:extLst>
              <a:ext uri="{FF2B5EF4-FFF2-40B4-BE49-F238E27FC236}">
                <a16:creationId xmlns:a16="http://schemas.microsoft.com/office/drawing/2014/main" id="{7B8D428D-841C-485F-DC99-9D5EC5B56900}"/>
              </a:ext>
            </a:extLst>
          </p:cNvPr>
          <p:cNvSpPr>
            <a:spLocks noGrp="1"/>
          </p:cNvSpPr>
          <p:nvPr>
            <p:ph idx="1"/>
          </p:nvPr>
        </p:nvSpPr>
        <p:spPr/>
        <p:txBody>
          <a:bodyPr/>
          <a:lstStyle/>
          <a:p>
            <a:r>
              <a:rPr lang="en-US" dirty="0"/>
              <a:t>Earlier, the dominant sequence transduction model were based on Recurrent Neural Networks(RNN). </a:t>
            </a:r>
          </a:p>
          <a:p>
            <a:r>
              <a:rPr lang="en-US" dirty="0"/>
              <a:t>But sequential computation prevents parallel processing.</a:t>
            </a:r>
          </a:p>
          <a:p>
            <a:r>
              <a:rPr lang="en-US" dirty="0"/>
              <a:t>Long range dependencies are difficult to learn.</a:t>
            </a:r>
          </a:p>
          <a:p>
            <a:r>
              <a:rPr lang="en-US" dirty="0"/>
              <a:t>Thus, the authors proposed replacing recurrence entirely with attention mechanisms.</a:t>
            </a:r>
          </a:p>
          <a:p>
            <a:r>
              <a:rPr lang="en-US" dirty="0"/>
              <a:t>The key idea was : Instead of processing tokens one by one, each token can directly attend to all other tokens in the sequence.</a:t>
            </a:r>
          </a:p>
          <a:p>
            <a:endParaRPr lang="en-US" dirty="0"/>
          </a:p>
        </p:txBody>
      </p:sp>
    </p:spTree>
    <p:extLst>
      <p:ext uri="{BB962C8B-B14F-4D97-AF65-F5344CB8AC3E}">
        <p14:creationId xmlns:p14="http://schemas.microsoft.com/office/powerpoint/2010/main" val="877753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D65A9-89DA-4324-6F99-E1D7B7EFF58D}"/>
              </a:ext>
            </a:extLst>
          </p:cNvPr>
          <p:cNvSpPr>
            <a:spLocks noGrp="1"/>
          </p:cNvSpPr>
          <p:nvPr>
            <p:ph type="title"/>
          </p:nvPr>
        </p:nvSpPr>
        <p:spPr/>
        <p:txBody>
          <a:bodyPr/>
          <a:lstStyle/>
          <a:p>
            <a:r>
              <a:rPr lang="en-US" b="1" u="sng" dirty="0">
                <a:solidFill>
                  <a:srgbClr val="FF0000"/>
                </a:solidFill>
              </a:rPr>
              <a:t>Example</a:t>
            </a:r>
          </a:p>
        </p:txBody>
      </p:sp>
      <p:sp>
        <p:nvSpPr>
          <p:cNvPr id="3" name="Content Placeholder 2">
            <a:extLst>
              <a:ext uri="{FF2B5EF4-FFF2-40B4-BE49-F238E27FC236}">
                <a16:creationId xmlns:a16="http://schemas.microsoft.com/office/drawing/2014/main" id="{3292F115-09D8-ED5F-7797-B757FEF9DC68}"/>
              </a:ext>
            </a:extLst>
          </p:cNvPr>
          <p:cNvSpPr>
            <a:spLocks noGrp="1"/>
          </p:cNvSpPr>
          <p:nvPr>
            <p:ph idx="1"/>
          </p:nvPr>
        </p:nvSpPr>
        <p:spPr/>
        <p:txBody>
          <a:bodyPr/>
          <a:lstStyle/>
          <a:p>
            <a:r>
              <a:rPr lang="en-US" b="1" dirty="0"/>
              <a:t>“The animal didn’t cross the street because it was tired.”</a:t>
            </a:r>
          </a:p>
          <a:p>
            <a:endParaRPr lang="en-US" dirty="0"/>
          </a:p>
          <a:p>
            <a:endParaRPr lang="en-US" dirty="0"/>
          </a:p>
          <a:p>
            <a:r>
              <a:rPr lang="en-US" dirty="0"/>
              <a:t>Attention allows the word “it” to look at all the previous words at the same time and determines the mist relevant context.</a:t>
            </a:r>
          </a:p>
        </p:txBody>
      </p:sp>
    </p:spTree>
    <p:extLst>
      <p:ext uri="{BB962C8B-B14F-4D97-AF65-F5344CB8AC3E}">
        <p14:creationId xmlns:p14="http://schemas.microsoft.com/office/powerpoint/2010/main" val="3511215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6C14F-0E65-B28A-9FD1-4ABB1BD44CCA}"/>
              </a:ext>
            </a:extLst>
          </p:cNvPr>
          <p:cNvSpPr>
            <a:spLocks noGrp="1"/>
          </p:cNvSpPr>
          <p:nvPr>
            <p:ph type="title"/>
          </p:nvPr>
        </p:nvSpPr>
        <p:spPr/>
        <p:txBody>
          <a:bodyPr>
            <a:normAutofit fontScale="90000"/>
          </a:bodyPr>
          <a:lstStyle/>
          <a:p>
            <a:r>
              <a:rPr lang="en-US" dirty="0"/>
              <a:t> </a:t>
            </a:r>
            <a:br>
              <a:rPr lang="en-US" dirty="0"/>
            </a:br>
            <a:r>
              <a:rPr lang="en-US" b="1" u="sng" dirty="0">
                <a:solidFill>
                  <a:srgbClr val="FF0000"/>
                </a:solidFill>
              </a:rPr>
              <a:t>A High-Level Look</a:t>
            </a:r>
            <a:br>
              <a:rPr lang="en-US" dirty="0"/>
            </a:br>
            <a:r>
              <a:rPr lang="en-US" dirty="0"/>
              <a:t>In machine translation application, it would take a sentence in one language and output its translation in another.</a:t>
            </a:r>
          </a:p>
        </p:txBody>
      </p:sp>
      <p:pic>
        <p:nvPicPr>
          <p:cNvPr id="1026" name="Picture 2">
            <a:extLst>
              <a:ext uri="{FF2B5EF4-FFF2-40B4-BE49-F238E27FC236}">
                <a16:creationId xmlns:a16="http://schemas.microsoft.com/office/drawing/2014/main" id="{AAFC8E63-2035-DC1D-DD28-CCCD77DFBCE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629694"/>
            <a:ext cx="105156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811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92396-A41A-16DA-7770-F7254C00DE9A}"/>
              </a:ext>
            </a:extLst>
          </p:cNvPr>
          <p:cNvSpPr>
            <a:spLocks noGrp="1"/>
          </p:cNvSpPr>
          <p:nvPr>
            <p:ph type="title"/>
          </p:nvPr>
        </p:nvSpPr>
        <p:spPr/>
        <p:txBody>
          <a:bodyPr/>
          <a:lstStyle/>
          <a:p>
            <a:r>
              <a:rPr lang="en-US" dirty="0"/>
              <a:t>Inside the transformer model, the are two components : Encoder and Decoder</a:t>
            </a:r>
          </a:p>
        </p:txBody>
      </p:sp>
      <p:pic>
        <p:nvPicPr>
          <p:cNvPr id="2050" name="Picture 2">
            <a:extLst>
              <a:ext uri="{FF2B5EF4-FFF2-40B4-BE49-F238E27FC236}">
                <a16:creationId xmlns:a16="http://schemas.microsoft.com/office/drawing/2014/main" id="{6AC58BEA-E90B-B6FB-5853-12AA29A55E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25946" y="1825625"/>
            <a:ext cx="694010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485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66374-9E0E-A98D-BFD5-B9CEC8FB62D8}"/>
              </a:ext>
            </a:extLst>
          </p:cNvPr>
          <p:cNvSpPr>
            <a:spLocks noGrp="1"/>
          </p:cNvSpPr>
          <p:nvPr>
            <p:ph type="title"/>
          </p:nvPr>
        </p:nvSpPr>
        <p:spPr/>
        <p:txBody>
          <a:bodyPr>
            <a:noAutofit/>
          </a:bodyPr>
          <a:lstStyle/>
          <a:p>
            <a:pPr algn="ctr"/>
            <a:r>
              <a:rPr lang="en-US" sz="2800" dirty="0"/>
              <a:t>The encoding and decoding component is a stack of 6 encoders. </a:t>
            </a:r>
          </a:p>
        </p:txBody>
      </p:sp>
      <p:pic>
        <p:nvPicPr>
          <p:cNvPr id="3074" name="Picture 2">
            <a:extLst>
              <a:ext uri="{FF2B5EF4-FFF2-40B4-BE49-F238E27FC236}">
                <a16:creationId xmlns:a16="http://schemas.microsoft.com/office/drawing/2014/main" id="{FEF16362-A4F6-C9BB-D4FF-69543748EC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73960" y="4048682"/>
            <a:ext cx="8372475" cy="26574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7314686-A1B7-AE48-38A1-33B72A27D3C9}"/>
              </a:ext>
            </a:extLst>
          </p:cNvPr>
          <p:cNvSpPr txBox="1"/>
          <p:nvPr/>
        </p:nvSpPr>
        <p:spPr>
          <a:xfrm>
            <a:off x="2740937" y="1484690"/>
            <a:ext cx="6097508" cy="923330"/>
          </a:xfrm>
          <a:prstGeom prst="rect">
            <a:avLst/>
          </a:prstGeom>
          <a:noFill/>
        </p:spPr>
        <p:txBody>
          <a:bodyPr wrap="square">
            <a:spAutoFit/>
          </a:bodyPr>
          <a:lstStyle/>
          <a:p>
            <a:r>
              <a:rPr lang="en-US" b="0" i="0" dirty="0">
                <a:solidFill>
                  <a:srgbClr val="222222"/>
                </a:solidFill>
                <a:effectLst/>
                <a:latin typeface="Helvetica" panose="020B0604020202020204" pitchFamily="34" charset="0"/>
              </a:rPr>
              <a:t>1. The encoder’s inputs first flow through a self-attention layer – a layer that helps the encoder look at other words in the input sentence as it encodes a specific word.</a:t>
            </a:r>
            <a:endParaRPr lang="en-US" dirty="0"/>
          </a:p>
        </p:txBody>
      </p:sp>
      <p:sp>
        <p:nvSpPr>
          <p:cNvPr id="7" name="TextBox 6">
            <a:extLst>
              <a:ext uri="{FF2B5EF4-FFF2-40B4-BE49-F238E27FC236}">
                <a16:creationId xmlns:a16="http://schemas.microsoft.com/office/drawing/2014/main" id="{FA932234-AAE2-957F-3AEC-72E273DD9355}"/>
              </a:ext>
            </a:extLst>
          </p:cNvPr>
          <p:cNvSpPr txBox="1"/>
          <p:nvPr/>
        </p:nvSpPr>
        <p:spPr>
          <a:xfrm>
            <a:off x="2740937" y="2408020"/>
            <a:ext cx="6097508" cy="646331"/>
          </a:xfrm>
          <a:prstGeom prst="rect">
            <a:avLst/>
          </a:prstGeom>
          <a:noFill/>
        </p:spPr>
        <p:txBody>
          <a:bodyPr wrap="square">
            <a:spAutoFit/>
          </a:bodyPr>
          <a:lstStyle/>
          <a:p>
            <a:r>
              <a:rPr lang="en-US" b="0" i="0" dirty="0">
                <a:solidFill>
                  <a:srgbClr val="222222"/>
                </a:solidFill>
                <a:effectLst/>
                <a:latin typeface="Helvetica" panose="020B0604020202020204" pitchFamily="34" charset="0"/>
              </a:rPr>
              <a:t>2. The outputs of the self-attention layer are fed to a feed-forward neural network.</a:t>
            </a:r>
            <a:endParaRPr lang="en-US" dirty="0"/>
          </a:p>
        </p:txBody>
      </p:sp>
      <p:sp>
        <p:nvSpPr>
          <p:cNvPr id="9" name="TextBox 8">
            <a:extLst>
              <a:ext uri="{FF2B5EF4-FFF2-40B4-BE49-F238E27FC236}">
                <a16:creationId xmlns:a16="http://schemas.microsoft.com/office/drawing/2014/main" id="{5FB355B5-243B-3C94-2AF7-501E4829BE08}"/>
              </a:ext>
            </a:extLst>
          </p:cNvPr>
          <p:cNvSpPr txBox="1"/>
          <p:nvPr/>
        </p:nvSpPr>
        <p:spPr>
          <a:xfrm>
            <a:off x="2740937" y="3054351"/>
            <a:ext cx="6097508" cy="923330"/>
          </a:xfrm>
          <a:prstGeom prst="rect">
            <a:avLst/>
          </a:prstGeom>
          <a:noFill/>
        </p:spPr>
        <p:txBody>
          <a:bodyPr wrap="square">
            <a:spAutoFit/>
          </a:bodyPr>
          <a:lstStyle/>
          <a:p>
            <a:r>
              <a:rPr lang="en-US" b="0" i="0" dirty="0">
                <a:solidFill>
                  <a:srgbClr val="222222"/>
                </a:solidFill>
                <a:effectLst/>
                <a:latin typeface="Helvetica" panose="020B0604020202020204" pitchFamily="34" charset="0"/>
              </a:rPr>
              <a:t>3. The decoder has both those layers, but between them is an attention layer that helps the decoder focus on relevant parts of the input sentence</a:t>
            </a:r>
            <a:endParaRPr lang="en-US" dirty="0"/>
          </a:p>
        </p:txBody>
      </p:sp>
    </p:spTree>
    <p:extLst>
      <p:ext uri="{BB962C8B-B14F-4D97-AF65-F5344CB8AC3E}">
        <p14:creationId xmlns:p14="http://schemas.microsoft.com/office/powerpoint/2010/main" val="1365197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DB2E3-11A3-5ECB-4E9B-BBEA9ABF2A5A}"/>
              </a:ext>
            </a:extLst>
          </p:cNvPr>
          <p:cNvSpPr>
            <a:spLocks noGrp="1"/>
          </p:cNvSpPr>
          <p:nvPr>
            <p:ph type="title"/>
          </p:nvPr>
        </p:nvSpPr>
        <p:spPr/>
        <p:txBody>
          <a:bodyPr>
            <a:normAutofit fontScale="90000"/>
          </a:bodyPr>
          <a:lstStyle/>
          <a:p>
            <a:r>
              <a:rPr lang="en-US" b="1" u="sng" dirty="0">
                <a:solidFill>
                  <a:srgbClr val="FF0000"/>
                </a:solidFill>
              </a:rPr>
              <a:t>Input Embeddings</a:t>
            </a:r>
            <a:br>
              <a:rPr lang="en-US" dirty="0"/>
            </a:br>
            <a:br>
              <a:rPr lang="en-US" dirty="0"/>
            </a:br>
            <a:r>
              <a:rPr lang="en-US" sz="3600" dirty="0"/>
              <a:t>Words are converted to vectors. </a:t>
            </a:r>
          </a:p>
        </p:txBody>
      </p:sp>
      <p:pic>
        <p:nvPicPr>
          <p:cNvPr id="4098" name="Picture 2">
            <a:extLst>
              <a:ext uri="{FF2B5EF4-FFF2-40B4-BE49-F238E27FC236}">
                <a16:creationId xmlns:a16="http://schemas.microsoft.com/office/drawing/2014/main" id="{3BB2E350-35EB-BC63-0BAA-3094569B61C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36310" y="2957512"/>
            <a:ext cx="7848600" cy="9429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4E6F59D-0741-0ECE-35C1-C589B15E122B}"/>
              </a:ext>
            </a:extLst>
          </p:cNvPr>
          <p:cNvSpPr txBox="1"/>
          <p:nvPr/>
        </p:nvSpPr>
        <p:spPr>
          <a:xfrm>
            <a:off x="2967274" y="4036289"/>
            <a:ext cx="6097508" cy="646331"/>
          </a:xfrm>
          <a:prstGeom prst="rect">
            <a:avLst/>
          </a:prstGeom>
          <a:noFill/>
        </p:spPr>
        <p:txBody>
          <a:bodyPr wrap="square">
            <a:spAutoFit/>
          </a:bodyPr>
          <a:lstStyle/>
          <a:p>
            <a:r>
              <a:rPr lang="en-US" b="0" i="0" dirty="0">
                <a:effectLst/>
                <a:latin typeface="Helvetica" panose="020B0604020202020204" pitchFamily="34" charset="0"/>
              </a:rPr>
              <a:t>Each word is embedded into a vector of size 512. Those vectors are represented with these simple boxes.</a:t>
            </a:r>
            <a:endParaRPr lang="en-US" dirty="0"/>
          </a:p>
        </p:txBody>
      </p:sp>
      <p:sp>
        <p:nvSpPr>
          <p:cNvPr id="7" name="TextBox 6">
            <a:extLst>
              <a:ext uri="{FF2B5EF4-FFF2-40B4-BE49-F238E27FC236}">
                <a16:creationId xmlns:a16="http://schemas.microsoft.com/office/drawing/2014/main" id="{13A2EBA5-844D-073E-4C81-D70DBCBAEC88}"/>
              </a:ext>
            </a:extLst>
          </p:cNvPr>
          <p:cNvSpPr txBox="1"/>
          <p:nvPr/>
        </p:nvSpPr>
        <p:spPr>
          <a:xfrm>
            <a:off x="2967274" y="4770400"/>
            <a:ext cx="6097508" cy="646331"/>
          </a:xfrm>
          <a:prstGeom prst="rect">
            <a:avLst/>
          </a:prstGeom>
          <a:noFill/>
        </p:spPr>
        <p:txBody>
          <a:bodyPr wrap="square">
            <a:spAutoFit/>
          </a:bodyPr>
          <a:lstStyle/>
          <a:p>
            <a:r>
              <a:rPr lang="en-US" b="0" i="0" dirty="0">
                <a:effectLst/>
                <a:latin typeface="Helvetica" panose="020B0604020202020204" pitchFamily="34" charset="0"/>
              </a:rPr>
              <a:t>The embedding only happens in the bottom-most encoder. </a:t>
            </a:r>
            <a:endParaRPr lang="en-US" dirty="0"/>
          </a:p>
        </p:txBody>
      </p:sp>
      <p:sp>
        <p:nvSpPr>
          <p:cNvPr id="9" name="TextBox 8">
            <a:extLst>
              <a:ext uri="{FF2B5EF4-FFF2-40B4-BE49-F238E27FC236}">
                <a16:creationId xmlns:a16="http://schemas.microsoft.com/office/drawing/2014/main" id="{374508B0-EA7F-DCB1-84D2-C9683126E195}"/>
              </a:ext>
            </a:extLst>
          </p:cNvPr>
          <p:cNvSpPr txBox="1"/>
          <p:nvPr/>
        </p:nvSpPr>
        <p:spPr>
          <a:xfrm>
            <a:off x="2967274" y="5504511"/>
            <a:ext cx="6097508" cy="646331"/>
          </a:xfrm>
          <a:prstGeom prst="rect">
            <a:avLst/>
          </a:prstGeom>
          <a:noFill/>
        </p:spPr>
        <p:txBody>
          <a:bodyPr wrap="square">
            <a:spAutoFit/>
          </a:bodyPr>
          <a:lstStyle/>
          <a:p>
            <a:r>
              <a:rPr lang="en-US" b="0" i="0" dirty="0">
                <a:effectLst/>
                <a:latin typeface="Helvetica" panose="020B0604020202020204" pitchFamily="34" charset="0"/>
              </a:rPr>
              <a:t>To give the model a sense of the order of the words, we add positional encoding vectors </a:t>
            </a:r>
            <a:endParaRPr lang="en-US" dirty="0"/>
          </a:p>
        </p:txBody>
      </p:sp>
    </p:spTree>
    <p:extLst>
      <p:ext uri="{BB962C8B-B14F-4D97-AF65-F5344CB8AC3E}">
        <p14:creationId xmlns:p14="http://schemas.microsoft.com/office/powerpoint/2010/main" val="2786844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DA407-CAE8-D59F-DF47-281947666D3B}"/>
              </a:ext>
            </a:extLst>
          </p:cNvPr>
          <p:cNvSpPr>
            <a:spLocks noGrp="1"/>
          </p:cNvSpPr>
          <p:nvPr>
            <p:ph type="title"/>
          </p:nvPr>
        </p:nvSpPr>
        <p:spPr/>
        <p:txBody>
          <a:bodyPr/>
          <a:lstStyle/>
          <a:p>
            <a:r>
              <a:rPr lang="en-US" b="1" u="sng" dirty="0">
                <a:solidFill>
                  <a:srgbClr val="FF0000"/>
                </a:solidFill>
              </a:rPr>
              <a:t>Positional Encoding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090DBB0-9B4D-7130-0B5B-B12B159D02AD}"/>
                  </a:ext>
                </a:extLst>
              </p:cNvPr>
              <p:cNvSpPr>
                <a:spLocks noGrp="1"/>
              </p:cNvSpPr>
              <p:nvPr>
                <p:ph idx="1"/>
              </p:nvPr>
            </p:nvSpPr>
            <p:spPr/>
            <p:txBody>
              <a:bodyPr>
                <a:normAutofit fontScale="47500" lnSpcReduction="20000"/>
              </a:bodyPr>
              <a:lstStyle/>
              <a:p>
                <a:r>
                  <a:rPr lang="en-US" sz="4200" b="1" dirty="0"/>
                  <a:t>Since transformers have no recurrence, token order must be provided explicitly.</a:t>
                </a:r>
              </a:p>
              <a:p>
                <a:pPr fontAlgn="base"/>
                <a:r>
                  <a:rPr lang="en-US" sz="4200" b="1" dirty="0"/>
                  <a:t>The authors used sinusoidal functions for encoding as they allow the model to learn and compute the relative position between the tokens independent of the sequence length. </a:t>
                </a:r>
              </a:p>
              <a:p>
                <a:pPr fontAlgn="base"/>
                <a:r>
                  <a:rPr lang="en-US" dirty="0"/>
                  <a:t>For each position (</a:t>
                </a:r>
                <a14:m>
                  <m:oMath xmlns:m="http://schemas.openxmlformats.org/officeDocument/2006/math">
                    <m:r>
                      <a:rPr lang="en-US" i="1"/>
                      <m:t>𝑝𝑜𝑠</m:t>
                    </m:r>
                  </m:oMath>
                </a14:m>
                <a:r>
                  <a:rPr lang="en-US" dirty="0"/>
                  <a:t>) in the sequence and each dimension </a:t>
                </a:r>
                <a14:m>
                  <m:oMath xmlns:m="http://schemas.openxmlformats.org/officeDocument/2006/math">
                    <m:r>
                      <a:rPr lang="en-US" i="1"/>
                      <m:t>𝑖</m:t>
                    </m:r>
                  </m:oMath>
                </a14:m>
                <a:r>
                  <a:rPr lang="en-US" dirty="0"/>
                  <a:t> in the positional encoding vector, the following formula is used:</a:t>
                </a:r>
              </a:p>
              <a:p>
                <a:pPr fontAlgn="base"/>
                <a:r>
                  <a:rPr lang="en-US" b="1" dirty="0"/>
                  <a:t>Even-indexed dimensions: </a:t>
                </a:r>
                <a14:m>
                  <m:oMath xmlns:m="http://schemas.openxmlformats.org/officeDocument/2006/math">
                    <m:r>
                      <a:rPr lang="en-US" i="1"/>
                      <m:t>𝑃</m:t>
                    </m:r>
                    <m:sSub>
                      <m:sSubPr>
                        <m:ctrlPr>
                          <a:rPr lang="en-US" i="1"/>
                        </m:ctrlPr>
                      </m:sSubPr>
                      <m:e>
                        <m:r>
                          <a:rPr lang="en-US" i="1"/>
                          <m:t>𝐸</m:t>
                        </m:r>
                      </m:e>
                      <m:sub>
                        <m:r>
                          <a:rPr lang="en-US" i="1"/>
                          <m:t>𝑝𝑜𝑠</m:t>
                        </m:r>
                        <m:r>
                          <a:rPr lang="en-US"/>
                          <m:t>,2</m:t>
                        </m:r>
                        <m:r>
                          <a:rPr lang="en-US" i="1"/>
                          <m:t>𝑖</m:t>
                        </m:r>
                      </m:sub>
                    </m:sSub>
                    <m:r>
                      <a:rPr lang="en-US"/>
                      <m:t>=</m:t>
                    </m:r>
                    <m:func>
                      <m:funcPr>
                        <m:ctrlPr>
                          <a:rPr lang="en-US" i="1"/>
                        </m:ctrlPr>
                      </m:funcPr>
                      <m:fName>
                        <m:r>
                          <m:rPr>
                            <m:sty m:val="p"/>
                          </m:rPr>
                          <a:rPr lang="en-US"/>
                          <m:t>sin</m:t>
                        </m:r>
                      </m:fName>
                      <m:e>
                        <m:d>
                          <m:dPr>
                            <m:ctrlPr>
                              <a:rPr lang="en-US" i="1"/>
                            </m:ctrlPr>
                          </m:dPr>
                          <m:e>
                            <m:f>
                              <m:fPr>
                                <m:ctrlPr>
                                  <a:rPr lang="en-US" i="1"/>
                                </m:ctrlPr>
                              </m:fPr>
                              <m:num>
                                <m:r>
                                  <a:rPr lang="en-US" i="1"/>
                                  <m:t>𝑝𝑜𝑠</m:t>
                                </m:r>
                              </m:num>
                              <m:den>
                                <m:r>
                                  <a:rPr lang="en-US"/>
                                  <m:t>1000</m:t>
                                </m:r>
                                <m:sSup>
                                  <m:sSupPr>
                                    <m:ctrlPr>
                                      <a:rPr lang="en-US" i="1"/>
                                    </m:ctrlPr>
                                  </m:sSupPr>
                                  <m:e>
                                    <m:r>
                                      <a:rPr lang="en-US"/>
                                      <m:t>0</m:t>
                                    </m:r>
                                  </m:e>
                                  <m:sup>
                                    <m:f>
                                      <m:fPr>
                                        <m:ctrlPr>
                                          <a:rPr lang="en-US" i="1"/>
                                        </m:ctrlPr>
                                      </m:fPr>
                                      <m:num>
                                        <m:r>
                                          <a:rPr lang="en-US"/>
                                          <m:t>2</m:t>
                                        </m:r>
                                        <m:r>
                                          <a:rPr lang="en-US" i="1"/>
                                          <m:t>𝑖</m:t>
                                        </m:r>
                                      </m:num>
                                      <m:den>
                                        <m:sSub>
                                          <m:sSubPr>
                                            <m:ctrlPr>
                                              <a:rPr lang="en-US" i="1"/>
                                            </m:ctrlPr>
                                          </m:sSubPr>
                                          <m:e>
                                            <m:r>
                                              <a:rPr lang="en-US" i="1"/>
                                              <m:t>𝑑</m:t>
                                            </m:r>
                                          </m:e>
                                          <m:sub>
                                            <m:r>
                                              <m:rPr>
                                                <m:nor/>
                                              </m:rPr>
                                              <a:rPr lang="en-US" i="1"/>
                                              <m:t>model</m:t>
                                            </m:r>
                                          </m:sub>
                                        </m:sSub>
                                      </m:den>
                                    </m:f>
                                  </m:sup>
                                </m:sSup>
                              </m:den>
                            </m:f>
                          </m:e>
                        </m:d>
                      </m:e>
                    </m:func>
                  </m:oMath>
                </a14:m>
                <a:endParaRPr lang="en-US" dirty="0"/>
              </a:p>
              <a:p>
                <a:pPr fontAlgn="base"/>
                <a:r>
                  <a:rPr lang="en-US" b="1" dirty="0"/>
                  <a:t>Odd-indexed dimensions: </a:t>
                </a:r>
                <a14:m>
                  <m:oMath xmlns:m="http://schemas.openxmlformats.org/officeDocument/2006/math">
                    <m:r>
                      <a:rPr lang="en-US" i="1"/>
                      <m:t>𝑃</m:t>
                    </m:r>
                    <m:sSub>
                      <m:sSubPr>
                        <m:ctrlPr>
                          <a:rPr lang="en-US" i="1"/>
                        </m:ctrlPr>
                      </m:sSubPr>
                      <m:e>
                        <m:r>
                          <a:rPr lang="en-US" i="1"/>
                          <m:t>𝐸</m:t>
                        </m:r>
                      </m:e>
                      <m:sub>
                        <m:r>
                          <a:rPr lang="en-US" i="1"/>
                          <m:t>𝑝𝑜𝑠</m:t>
                        </m:r>
                        <m:r>
                          <a:rPr lang="en-US"/>
                          <m:t>,2</m:t>
                        </m:r>
                        <m:r>
                          <a:rPr lang="en-US" i="1"/>
                          <m:t>𝑖</m:t>
                        </m:r>
                        <m:r>
                          <a:rPr lang="en-US"/>
                          <m:t>+1</m:t>
                        </m:r>
                      </m:sub>
                    </m:sSub>
                    <m:r>
                      <a:rPr lang="en-US"/>
                      <m:t>=</m:t>
                    </m:r>
                    <m:func>
                      <m:funcPr>
                        <m:ctrlPr>
                          <a:rPr lang="en-US" i="1"/>
                        </m:ctrlPr>
                      </m:funcPr>
                      <m:fName>
                        <m:r>
                          <m:rPr>
                            <m:sty m:val="p"/>
                          </m:rPr>
                          <a:rPr lang="en-US"/>
                          <m:t>cos</m:t>
                        </m:r>
                      </m:fName>
                      <m:e>
                        <m:d>
                          <m:dPr>
                            <m:ctrlPr>
                              <a:rPr lang="en-US" i="1"/>
                            </m:ctrlPr>
                          </m:dPr>
                          <m:e>
                            <m:f>
                              <m:fPr>
                                <m:ctrlPr>
                                  <a:rPr lang="en-US" i="1"/>
                                </m:ctrlPr>
                              </m:fPr>
                              <m:num>
                                <m:r>
                                  <a:rPr lang="en-US" i="1"/>
                                  <m:t>𝑝𝑜𝑠</m:t>
                                </m:r>
                              </m:num>
                              <m:den>
                                <m:r>
                                  <a:rPr lang="en-US"/>
                                  <m:t>1000</m:t>
                                </m:r>
                                <m:sSup>
                                  <m:sSupPr>
                                    <m:ctrlPr>
                                      <a:rPr lang="en-US" i="1"/>
                                    </m:ctrlPr>
                                  </m:sSupPr>
                                  <m:e>
                                    <m:r>
                                      <a:rPr lang="en-US"/>
                                      <m:t>0</m:t>
                                    </m:r>
                                  </m:e>
                                  <m:sup>
                                    <m:f>
                                      <m:fPr>
                                        <m:ctrlPr>
                                          <a:rPr lang="en-US" i="1"/>
                                        </m:ctrlPr>
                                      </m:fPr>
                                      <m:num>
                                        <m:r>
                                          <a:rPr lang="en-US"/>
                                          <m:t>2</m:t>
                                        </m:r>
                                        <m:r>
                                          <a:rPr lang="en-US" i="1"/>
                                          <m:t>𝑖</m:t>
                                        </m:r>
                                      </m:num>
                                      <m:den>
                                        <m:sSub>
                                          <m:sSubPr>
                                            <m:ctrlPr>
                                              <a:rPr lang="en-US" i="1"/>
                                            </m:ctrlPr>
                                          </m:sSubPr>
                                          <m:e>
                                            <m:r>
                                              <a:rPr lang="en-US" i="1"/>
                                              <m:t>𝑑</m:t>
                                            </m:r>
                                          </m:e>
                                          <m:sub>
                                            <m:r>
                                              <m:rPr>
                                                <m:nor/>
                                              </m:rPr>
                                              <a:rPr lang="en-US" i="1"/>
                                              <m:t>model</m:t>
                                            </m:r>
                                          </m:sub>
                                        </m:sSub>
                                      </m:den>
                                    </m:f>
                                  </m:sup>
                                </m:sSup>
                              </m:den>
                            </m:f>
                          </m:e>
                        </m:d>
                      </m:e>
                    </m:func>
                  </m:oMath>
                </a14:m>
                <a:endParaRPr lang="en-US" dirty="0"/>
              </a:p>
              <a:p>
                <a:pPr fontAlgn="base"/>
                <a:r>
                  <a:rPr lang="en-US" b="1" dirty="0"/>
                  <a:t>Where:</a:t>
                </a:r>
                <a:endParaRPr lang="en-US" dirty="0"/>
              </a:p>
              <a:p>
                <a:pPr fontAlgn="base"/>
                <a14:m>
                  <m:oMath xmlns:m="http://schemas.openxmlformats.org/officeDocument/2006/math">
                    <m:r>
                      <a:rPr lang="en-US" i="1"/>
                      <m:t>𝑃</m:t>
                    </m:r>
                    <m:sSub>
                      <m:sSubPr>
                        <m:ctrlPr>
                          <a:rPr lang="en-US" i="1"/>
                        </m:ctrlPr>
                      </m:sSubPr>
                      <m:e>
                        <m:r>
                          <a:rPr lang="en-US" i="1"/>
                          <m:t>𝐸</m:t>
                        </m:r>
                      </m:e>
                      <m:sub>
                        <m:r>
                          <a:rPr lang="en-US" i="1"/>
                          <m:t>𝑝𝑜𝑠</m:t>
                        </m:r>
                        <m:r>
                          <a:rPr lang="en-US"/>
                          <m:t>,2</m:t>
                        </m:r>
                        <m:r>
                          <a:rPr lang="en-US" i="1"/>
                          <m:t>𝑖</m:t>
                        </m:r>
                      </m:sub>
                    </m:sSub>
                  </m:oMath>
                </a14:m>
                <a:r>
                  <a:rPr lang="en-US" dirty="0"/>
                  <a:t>: The positional encoding at position </a:t>
                </a:r>
                <a14:m>
                  <m:oMath xmlns:m="http://schemas.openxmlformats.org/officeDocument/2006/math">
                    <m:r>
                      <a:rPr lang="en-US" i="1"/>
                      <m:t>𝑝𝑜𝑠</m:t>
                    </m:r>
                  </m:oMath>
                </a14:m>
                <a:r>
                  <a:rPr lang="en-US" dirty="0"/>
                  <a:t> for the </a:t>
                </a:r>
                <a14:m>
                  <m:oMath xmlns:m="http://schemas.openxmlformats.org/officeDocument/2006/math">
                    <m:r>
                      <a:rPr lang="en-US"/>
                      <m:t>2</m:t>
                    </m:r>
                    <m:sSup>
                      <m:sSupPr>
                        <m:ctrlPr>
                          <a:rPr lang="en-US" i="1"/>
                        </m:ctrlPr>
                      </m:sSupPr>
                      <m:e>
                        <m:r>
                          <a:rPr lang="en-US" i="1"/>
                          <m:t>𝑖</m:t>
                        </m:r>
                      </m:e>
                      <m:sup>
                        <m:r>
                          <a:rPr lang="en-US" i="1"/>
                          <m:t>𝑡h</m:t>
                        </m:r>
                      </m:sup>
                    </m:sSup>
                  </m:oMath>
                </a14:m>
                <a:r>
                  <a:rPr lang="en-US" dirty="0"/>
                  <a:t> dimension.</a:t>
                </a:r>
              </a:p>
              <a:p>
                <a:pPr fontAlgn="base"/>
                <a14:m>
                  <m:oMath xmlns:m="http://schemas.openxmlformats.org/officeDocument/2006/math">
                    <m:r>
                      <a:rPr lang="en-US" i="1"/>
                      <m:t>𝑝𝑜𝑠</m:t>
                    </m:r>
                  </m:oMath>
                </a14:m>
                <a:r>
                  <a:rPr lang="en-US" dirty="0"/>
                  <a:t>: The position of the token in the sequence (starting from 0).</a:t>
                </a:r>
              </a:p>
              <a:p>
                <a:pPr fontAlgn="base"/>
                <a14:m>
                  <m:oMath xmlns:m="http://schemas.openxmlformats.org/officeDocument/2006/math">
                    <m:r>
                      <a:rPr lang="en-US" i="1"/>
                      <m:t>𝑖</m:t>
                    </m:r>
                  </m:oMath>
                </a14:m>
                <a:r>
                  <a:rPr lang="en-US" dirty="0"/>
                  <a:t> : The index of the dimension within the positional encoding vector (for each </a:t>
                </a:r>
                <a14:m>
                  <m:oMath xmlns:m="http://schemas.openxmlformats.org/officeDocument/2006/math">
                    <m:r>
                      <a:rPr lang="en-US" i="1"/>
                      <m:t>𝑖</m:t>
                    </m:r>
                  </m:oMath>
                </a14:m>
                <a:r>
                  <a:rPr lang="en-US" dirty="0"/>
                  <a:t>, we have two formulas: one for </a:t>
                </a:r>
                <a14:m>
                  <m:oMath xmlns:m="http://schemas.openxmlformats.org/officeDocument/2006/math">
                    <m:r>
                      <a:rPr lang="en-US"/>
                      <m:t>2</m:t>
                    </m:r>
                    <m:r>
                      <a:rPr lang="en-US" i="1"/>
                      <m:t>𝑖</m:t>
                    </m:r>
                  </m:oMath>
                </a14:m>
                <a:r>
                  <a:rPr lang="en-US" dirty="0"/>
                  <a:t> (sine) and another for </a:t>
                </a:r>
                <a14:m>
                  <m:oMath xmlns:m="http://schemas.openxmlformats.org/officeDocument/2006/math">
                    <m:r>
                      <a:rPr lang="en-US"/>
                      <m:t>2</m:t>
                    </m:r>
                    <m:r>
                      <a:rPr lang="en-US" i="1"/>
                      <m:t>𝑖</m:t>
                    </m:r>
                    <m:r>
                      <a:rPr lang="en-US"/>
                      <m:t>+1</m:t>
                    </m:r>
                  </m:oMath>
                </a14:m>
                <a:r>
                  <a:rPr lang="en-US" dirty="0"/>
                  <a:t> (cosine)).</a:t>
                </a:r>
              </a:p>
              <a:p>
                <a:pPr fontAlgn="base"/>
                <a14:m>
                  <m:oMath xmlns:m="http://schemas.openxmlformats.org/officeDocument/2006/math">
                    <m:sSub>
                      <m:sSubPr>
                        <m:ctrlPr>
                          <a:rPr lang="en-US"/>
                        </m:ctrlPr>
                      </m:sSubPr>
                      <m:e>
                        <m:r>
                          <a:rPr lang="en-US" i="1"/>
                          <m:t>𝑑</m:t>
                        </m:r>
                      </m:e>
                      <m:sub>
                        <m:r>
                          <m:rPr>
                            <m:nor/>
                          </m:rPr>
                          <a:rPr lang="en-US" i="1"/>
                          <m:t>model</m:t>
                        </m:r>
                      </m:sub>
                    </m:sSub>
                  </m:oMath>
                </a14:m>
                <a:r>
                  <a:rPr lang="en-US" dirty="0"/>
                  <a:t>: The dimensionality of the model (the embedding size = 512, 1024).</a:t>
                </a:r>
              </a:p>
              <a:p>
                <a:pPr fontAlgn="base"/>
                <a:r>
                  <a:rPr lang="en-US" dirty="0"/>
                  <a:t>The exponential term </a:t>
                </a:r>
                <a14:m>
                  <m:oMath xmlns:m="http://schemas.openxmlformats.org/officeDocument/2006/math">
                    <m:r>
                      <a:rPr lang="en-US"/>
                      <m:t>1000</m:t>
                    </m:r>
                    <m:sSup>
                      <m:sSupPr>
                        <m:ctrlPr>
                          <a:rPr lang="en-US" i="1"/>
                        </m:ctrlPr>
                      </m:sSupPr>
                      <m:e>
                        <m:r>
                          <a:rPr lang="en-US"/>
                          <m:t>0</m:t>
                        </m:r>
                      </m:e>
                      <m:sup>
                        <m:f>
                          <m:fPr>
                            <m:ctrlPr>
                              <a:rPr lang="en-US" i="1"/>
                            </m:ctrlPr>
                          </m:fPr>
                          <m:num>
                            <m:r>
                              <a:rPr lang="en-US"/>
                              <m:t>2</m:t>
                            </m:r>
                            <m:r>
                              <a:rPr lang="en-US" i="1"/>
                              <m:t>𝑖</m:t>
                            </m:r>
                          </m:num>
                          <m:den>
                            <m:sSub>
                              <m:sSubPr>
                                <m:ctrlPr>
                                  <a:rPr lang="en-US" i="1"/>
                                </m:ctrlPr>
                              </m:sSubPr>
                              <m:e>
                                <m:r>
                                  <a:rPr lang="en-US" i="1"/>
                                  <m:t>𝑑</m:t>
                                </m:r>
                              </m:e>
                              <m:sub>
                                <m:r>
                                  <m:rPr>
                                    <m:nor/>
                                  </m:rPr>
                                  <a:rPr lang="en-US" i="1"/>
                                  <m:t>model</m:t>
                                </m:r>
                              </m:sub>
                            </m:sSub>
                          </m:den>
                        </m:f>
                      </m:sup>
                    </m:sSup>
                  </m:oMath>
                </a14:m>
                <a:r>
                  <a:rPr lang="en-US" dirty="0"/>
                  <a:t> : This controls how the sine wave's frequency changes with the dimension.</a:t>
                </a:r>
              </a:p>
            </p:txBody>
          </p:sp>
        </mc:Choice>
        <mc:Fallback>
          <p:sp>
            <p:nvSpPr>
              <p:cNvPr id="3" name="Content Placeholder 2">
                <a:extLst>
                  <a:ext uri="{FF2B5EF4-FFF2-40B4-BE49-F238E27FC236}">
                    <a16:creationId xmlns:a16="http://schemas.microsoft.com/office/drawing/2014/main" id="{E090DBB0-9B4D-7130-0B5B-B12B159D02AD}"/>
                  </a:ext>
                </a:extLst>
              </p:cNvPr>
              <p:cNvSpPr>
                <a:spLocks noGrp="1" noRot="1" noChangeAspect="1" noMove="1" noResize="1" noEditPoints="1" noAdjustHandles="1" noChangeArrowheads="1" noChangeShapeType="1" noTextEdit="1"/>
              </p:cNvSpPr>
              <p:nvPr>
                <p:ph idx="1"/>
              </p:nvPr>
            </p:nvSpPr>
            <p:spPr>
              <a:blipFill>
                <a:blip r:embed="rId2"/>
                <a:stretch>
                  <a:fillRect l="-522" t="-2381"/>
                </a:stretch>
              </a:blipFill>
            </p:spPr>
            <p:txBody>
              <a:bodyPr/>
              <a:lstStyle/>
              <a:p>
                <a:r>
                  <a:rPr lang="en-US">
                    <a:noFill/>
                  </a:rPr>
                  <a:t> </a:t>
                </a:r>
              </a:p>
            </p:txBody>
          </p:sp>
        </mc:Fallback>
      </mc:AlternateContent>
    </p:spTree>
    <p:extLst>
      <p:ext uri="{BB962C8B-B14F-4D97-AF65-F5344CB8AC3E}">
        <p14:creationId xmlns:p14="http://schemas.microsoft.com/office/powerpoint/2010/main" val="4060260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58D6-C8D7-0F33-FB39-3307B041D0BF}"/>
              </a:ext>
            </a:extLst>
          </p:cNvPr>
          <p:cNvSpPr>
            <a:spLocks noGrp="1"/>
          </p:cNvSpPr>
          <p:nvPr>
            <p:ph type="title"/>
          </p:nvPr>
        </p:nvSpPr>
        <p:spPr/>
        <p:txBody>
          <a:bodyPr/>
          <a:lstStyle/>
          <a:p>
            <a:r>
              <a:rPr lang="en-US" b="1" u="sng" dirty="0">
                <a:solidFill>
                  <a:srgbClr val="FF0000"/>
                </a:solidFill>
              </a:rPr>
              <a:t>Self attention</a:t>
            </a:r>
          </a:p>
        </p:txBody>
      </p:sp>
      <p:sp>
        <p:nvSpPr>
          <p:cNvPr id="3" name="Content Placeholder 2">
            <a:extLst>
              <a:ext uri="{FF2B5EF4-FFF2-40B4-BE49-F238E27FC236}">
                <a16:creationId xmlns:a16="http://schemas.microsoft.com/office/drawing/2014/main" id="{F07B4ED4-BD06-A5C4-726E-584491D93F08}"/>
              </a:ext>
            </a:extLst>
          </p:cNvPr>
          <p:cNvSpPr>
            <a:spLocks noGrp="1"/>
          </p:cNvSpPr>
          <p:nvPr>
            <p:ph idx="1"/>
          </p:nvPr>
        </p:nvSpPr>
        <p:spPr>
          <a:xfrm>
            <a:off x="1453836" y="1628633"/>
            <a:ext cx="9564849" cy="3676697"/>
          </a:xfrm>
        </p:spPr>
        <p:txBody>
          <a:bodyPr/>
          <a:lstStyle/>
          <a:p>
            <a:pPr marL="0" indent="0">
              <a:buNone/>
            </a:pPr>
            <a:r>
              <a:rPr lang="en-US" dirty="0"/>
              <a:t>Calculate Q,K,V  vector for every token. The dimensions of these vectors are 64.</a:t>
            </a:r>
          </a:p>
          <a:p>
            <a:pPr marL="0" indent="0">
              <a:buNone/>
            </a:pPr>
            <a:r>
              <a:rPr lang="en-US" dirty="0"/>
              <a:t>WQ, WK, WV are weight</a:t>
            </a:r>
          </a:p>
          <a:p>
            <a:pPr marL="0" indent="0">
              <a:buNone/>
            </a:pPr>
            <a:r>
              <a:rPr lang="en-US" dirty="0"/>
              <a:t>Matrices we trained.</a:t>
            </a:r>
          </a:p>
        </p:txBody>
      </p:sp>
      <p:pic>
        <p:nvPicPr>
          <p:cNvPr id="5124" name="Picture 4">
            <a:extLst>
              <a:ext uri="{FF2B5EF4-FFF2-40B4-BE49-F238E27FC236}">
                <a16:creationId xmlns:a16="http://schemas.microsoft.com/office/drawing/2014/main" id="{B2B08769-DFE1-D53D-9F42-548AB086E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2232" y="2151842"/>
            <a:ext cx="3750822" cy="4247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235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E6413-9150-A0C6-F8C1-6FC8CC33ED1C}"/>
              </a:ext>
            </a:extLst>
          </p:cNvPr>
          <p:cNvSpPr>
            <a:spLocks noGrp="1"/>
          </p:cNvSpPr>
          <p:nvPr>
            <p:ph type="title"/>
          </p:nvPr>
        </p:nvSpPr>
        <p:spPr/>
        <p:txBody>
          <a:bodyPr/>
          <a:lstStyle/>
          <a:p>
            <a:r>
              <a:rPr lang="en-US" b="1" u="sng" dirty="0">
                <a:solidFill>
                  <a:srgbClr val="FF0000"/>
                </a:solidFill>
              </a:rPr>
              <a:t>Scaled Dot Product Attention</a:t>
            </a:r>
          </a:p>
        </p:txBody>
      </p:sp>
      <p:pic>
        <p:nvPicPr>
          <p:cNvPr id="6146" name="Picture 2">
            <a:extLst>
              <a:ext uri="{FF2B5EF4-FFF2-40B4-BE49-F238E27FC236}">
                <a16:creationId xmlns:a16="http://schemas.microsoft.com/office/drawing/2014/main" id="{AF0D586B-987F-CFE9-B357-CF3D1C6FF19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43087" y="2339181"/>
            <a:ext cx="8505825" cy="33242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1D9435A-F555-D66C-AD7F-1D6E874C99DD}"/>
              </a:ext>
            </a:extLst>
          </p:cNvPr>
          <p:cNvSpPr txBox="1"/>
          <p:nvPr/>
        </p:nvSpPr>
        <p:spPr>
          <a:xfrm>
            <a:off x="838200" y="1877516"/>
            <a:ext cx="4277838" cy="461665"/>
          </a:xfrm>
          <a:prstGeom prst="rect">
            <a:avLst/>
          </a:prstGeom>
          <a:noFill/>
        </p:spPr>
        <p:txBody>
          <a:bodyPr wrap="none" rtlCol="0">
            <a:spAutoFit/>
          </a:bodyPr>
          <a:lstStyle/>
          <a:p>
            <a:r>
              <a:rPr lang="en-US" sz="2400" b="1" dirty="0"/>
              <a:t>d_k = dimension of key vector</a:t>
            </a:r>
          </a:p>
        </p:txBody>
      </p:sp>
      <p:sp>
        <p:nvSpPr>
          <p:cNvPr id="5" name="TextBox 4">
            <a:extLst>
              <a:ext uri="{FF2B5EF4-FFF2-40B4-BE49-F238E27FC236}">
                <a16:creationId xmlns:a16="http://schemas.microsoft.com/office/drawing/2014/main" id="{AE740E83-9B58-07B7-CEA0-E2DAF4F0F700}"/>
              </a:ext>
            </a:extLst>
          </p:cNvPr>
          <p:cNvSpPr txBox="1"/>
          <p:nvPr/>
        </p:nvSpPr>
        <p:spPr>
          <a:xfrm>
            <a:off x="7161290" y="1415851"/>
            <a:ext cx="5459239" cy="923330"/>
          </a:xfrm>
          <a:prstGeom prst="rect">
            <a:avLst/>
          </a:prstGeom>
          <a:noFill/>
        </p:spPr>
        <p:txBody>
          <a:bodyPr wrap="square" rtlCol="0">
            <a:spAutoFit/>
          </a:bodyPr>
          <a:lstStyle/>
          <a:p>
            <a:r>
              <a:rPr lang="en-US" b="1" dirty="0"/>
              <a:t>Why scaling ?</a:t>
            </a:r>
          </a:p>
          <a:p>
            <a:r>
              <a:rPr lang="en-US" b="1" dirty="0"/>
              <a:t>Without scaling large dot products can cause extremely small gradients after softmax.</a:t>
            </a:r>
          </a:p>
        </p:txBody>
      </p:sp>
    </p:spTree>
    <p:extLst>
      <p:ext uri="{BB962C8B-B14F-4D97-AF65-F5344CB8AC3E}">
        <p14:creationId xmlns:p14="http://schemas.microsoft.com/office/powerpoint/2010/main" val="2618750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7F7C1-B1F3-35D9-1503-EECA98FFBFD4}"/>
              </a:ext>
            </a:extLst>
          </p:cNvPr>
          <p:cNvSpPr>
            <a:spLocks noGrp="1"/>
          </p:cNvSpPr>
          <p:nvPr>
            <p:ph type="title"/>
          </p:nvPr>
        </p:nvSpPr>
        <p:spPr/>
        <p:txBody>
          <a:bodyPr/>
          <a:lstStyle/>
          <a:p>
            <a:r>
              <a:rPr lang="en-US" b="1" u="sng" dirty="0">
                <a:solidFill>
                  <a:srgbClr val="FF0000"/>
                </a:solidFill>
              </a:rPr>
              <a:t>Multi-Head Attention</a:t>
            </a:r>
          </a:p>
        </p:txBody>
      </p:sp>
      <p:sp>
        <p:nvSpPr>
          <p:cNvPr id="4" name="TextBox 3">
            <a:extLst>
              <a:ext uri="{FF2B5EF4-FFF2-40B4-BE49-F238E27FC236}">
                <a16:creationId xmlns:a16="http://schemas.microsoft.com/office/drawing/2014/main" id="{1BD7F900-208C-6EC7-EDB0-45E01F390626}"/>
              </a:ext>
            </a:extLst>
          </p:cNvPr>
          <p:cNvSpPr txBox="1"/>
          <p:nvPr/>
        </p:nvSpPr>
        <p:spPr>
          <a:xfrm>
            <a:off x="8066637" y="1027906"/>
            <a:ext cx="2869949" cy="4401205"/>
          </a:xfrm>
          <a:prstGeom prst="rect">
            <a:avLst/>
          </a:prstGeom>
          <a:noFill/>
        </p:spPr>
        <p:txBody>
          <a:bodyPr wrap="square" rtlCol="0">
            <a:spAutoFit/>
          </a:bodyPr>
          <a:lstStyle/>
          <a:p>
            <a:r>
              <a:rPr lang="en-US" sz="2000" b="1" dirty="0"/>
              <a:t>Instead of one attention operation, the transformer uses multiple heads.</a:t>
            </a:r>
          </a:p>
          <a:p>
            <a:endParaRPr lang="en-US" sz="2000" b="1" dirty="0"/>
          </a:p>
          <a:p>
            <a:r>
              <a:rPr lang="en-US" sz="2000" b="1" dirty="0"/>
              <a:t>In the paper, the number of heads = 8</a:t>
            </a:r>
          </a:p>
          <a:p>
            <a:endParaRPr lang="en-US" sz="2000" b="1" dirty="0"/>
          </a:p>
          <a:p>
            <a:r>
              <a:rPr lang="en-US" sz="2000" b="1" dirty="0"/>
              <a:t>Each head learns different relationships like grammar, subject-verb agreement,</a:t>
            </a:r>
          </a:p>
          <a:p>
            <a:r>
              <a:rPr lang="en-US" sz="2000" b="1" dirty="0"/>
              <a:t>Long range dependencies.</a:t>
            </a:r>
          </a:p>
        </p:txBody>
      </p:sp>
      <p:pic>
        <p:nvPicPr>
          <p:cNvPr id="7170" name="Picture 2">
            <a:extLst>
              <a:ext uri="{FF2B5EF4-FFF2-40B4-BE49-F238E27FC236}">
                <a16:creationId xmlns:a16="http://schemas.microsoft.com/office/drawing/2014/main" id="{B4C80DA9-B304-CAD0-2C63-F3DE7BDD68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61855" y="1596451"/>
            <a:ext cx="736466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8765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A3C46-904A-7AC4-E931-747E05E1627E}"/>
              </a:ext>
            </a:extLst>
          </p:cNvPr>
          <p:cNvSpPr>
            <a:spLocks noGrp="1"/>
          </p:cNvSpPr>
          <p:nvPr>
            <p:ph type="title"/>
          </p:nvPr>
        </p:nvSpPr>
        <p:spPr/>
        <p:txBody>
          <a:bodyPr/>
          <a:lstStyle/>
          <a:p>
            <a:r>
              <a:rPr lang="en-US" b="1" u="sng" dirty="0">
                <a:solidFill>
                  <a:srgbClr val="FF0000"/>
                </a:solidFill>
              </a:rPr>
              <a:t>Multi-Head Attention</a:t>
            </a:r>
            <a:endParaRPr lang="en-US" dirty="0"/>
          </a:p>
        </p:txBody>
      </p:sp>
      <p:pic>
        <p:nvPicPr>
          <p:cNvPr id="8194" name="Picture 2">
            <a:extLst>
              <a:ext uri="{FF2B5EF4-FFF2-40B4-BE49-F238E27FC236}">
                <a16:creationId xmlns:a16="http://schemas.microsoft.com/office/drawing/2014/main" id="{0A57D5E9-9773-4A7F-42F2-6E84A0CDEB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256457"/>
            <a:ext cx="6429629" cy="342157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EEDFF989-E87E-8AA6-5D5F-9292FB2FD4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1718" y="1027906"/>
            <a:ext cx="6169630" cy="37975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CE71BF-605E-F5F3-5423-869F8B62A77B}"/>
              </a:ext>
            </a:extLst>
          </p:cNvPr>
          <p:cNvSpPr txBox="1"/>
          <p:nvPr/>
        </p:nvSpPr>
        <p:spPr>
          <a:xfrm>
            <a:off x="2806573" y="5423026"/>
            <a:ext cx="5404919" cy="646331"/>
          </a:xfrm>
          <a:prstGeom prst="rect">
            <a:avLst/>
          </a:prstGeom>
          <a:noFill/>
        </p:spPr>
        <p:txBody>
          <a:bodyPr wrap="square" rtlCol="0">
            <a:spAutoFit/>
          </a:bodyPr>
          <a:lstStyle/>
          <a:p>
            <a:r>
              <a:rPr lang="en-US" b="1" dirty="0">
                <a:solidFill>
                  <a:srgbClr val="C00000"/>
                </a:solidFill>
              </a:rPr>
              <a:t>Advantages : 1. Parallel learning</a:t>
            </a:r>
          </a:p>
          <a:p>
            <a:r>
              <a:rPr lang="en-US" b="1" dirty="0">
                <a:solidFill>
                  <a:srgbClr val="C00000"/>
                </a:solidFill>
              </a:rPr>
              <a:t>                            2. Better context understanding</a:t>
            </a:r>
          </a:p>
        </p:txBody>
      </p:sp>
    </p:spTree>
    <p:extLst>
      <p:ext uri="{BB962C8B-B14F-4D97-AF65-F5344CB8AC3E}">
        <p14:creationId xmlns:p14="http://schemas.microsoft.com/office/powerpoint/2010/main" val="3372837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338FE-B14F-862C-FD51-69A3D7FFEDDD}"/>
              </a:ext>
            </a:extLst>
          </p:cNvPr>
          <p:cNvSpPr>
            <a:spLocks noGrp="1"/>
          </p:cNvSpPr>
          <p:nvPr>
            <p:ph type="title"/>
          </p:nvPr>
        </p:nvSpPr>
        <p:spPr/>
        <p:txBody>
          <a:bodyPr/>
          <a:lstStyle/>
          <a:p>
            <a:r>
              <a:rPr lang="en-US" b="1" u="sng" dirty="0">
                <a:solidFill>
                  <a:srgbClr val="C00000"/>
                </a:solidFill>
              </a:rPr>
              <a:t>Feed forward network</a:t>
            </a:r>
          </a:p>
        </p:txBody>
      </p:sp>
      <p:cxnSp>
        <p:nvCxnSpPr>
          <p:cNvPr id="7" name="Straight Arrow Connector 6">
            <a:extLst>
              <a:ext uri="{FF2B5EF4-FFF2-40B4-BE49-F238E27FC236}">
                <a16:creationId xmlns:a16="http://schemas.microsoft.com/office/drawing/2014/main" id="{0DFF5577-5ADD-BBA2-67F9-059A8F9703EB}"/>
              </a:ext>
            </a:extLst>
          </p:cNvPr>
          <p:cNvCxnSpPr/>
          <p:nvPr/>
        </p:nvCxnSpPr>
        <p:spPr>
          <a:xfrm>
            <a:off x="1102950" y="3060071"/>
            <a:ext cx="15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C73612C-AA33-AFEF-E8D7-F013BCD173FC}"/>
              </a:ext>
            </a:extLst>
          </p:cNvPr>
          <p:cNvSpPr txBox="1"/>
          <p:nvPr/>
        </p:nvSpPr>
        <p:spPr>
          <a:xfrm>
            <a:off x="1179497" y="3080018"/>
            <a:ext cx="1566249" cy="400110"/>
          </a:xfrm>
          <a:prstGeom prst="rect">
            <a:avLst/>
          </a:prstGeom>
          <a:noFill/>
        </p:spPr>
        <p:txBody>
          <a:bodyPr wrap="square" rtlCol="0">
            <a:spAutoFit/>
          </a:bodyPr>
          <a:lstStyle/>
          <a:p>
            <a:r>
              <a:rPr lang="en-US" sz="2000" dirty="0"/>
              <a:t>W</a:t>
            </a:r>
            <a:r>
              <a:rPr lang="en-US" sz="1100" dirty="0"/>
              <a:t>up </a:t>
            </a:r>
            <a:r>
              <a:rPr lang="en-US" sz="2000" dirty="0"/>
              <a:t>Z+B</a:t>
            </a:r>
            <a:r>
              <a:rPr lang="en-US" sz="1100" dirty="0"/>
              <a:t>up</a:t>
            </a:r>
            <a:endParaRPr lang="en-US" sz="1600" dirty="0"/>
          </a:p>
        </p:txBody>
      </p:sp>
      <p:sp>
        <p:nvSpPr>
          <p:cNvPr id="9" name="TextBox 8">
            <a:extLst>
              <a:ext uri="{FF2B5EF4-FFF2-40B4-BE49-F238E27FC236}">
                <a16:creationId xmlns:a16="http://schemas.microsoft.com/office/drawing/2014/main" id="{A60F3502-4041-B7C1-370A-3E6B31B00D52}"/>
              </a:ext>
            </a:extLst>
          </p:cNvPr>
          <p:cNvSpPr txBox="1"/>
          <p:nvPr/>
        </p:nvSpPr>
        <p:spPr>
          <a:xfrm>
            <a:off x="1579829" y="4343241"/>
            <a:ext cx="4413565" cy="1538883"/>
          </a:xfrm>
          <a:prstGeom prst="rect">
            <a:avLst/>
          </a:prstGeom>
          <a:noFill/>
        </p:spPr>
        <p:txBody>
          <a:bodyPr wrap="square" rtlCol="0">
            <a:spAutoFit/>
          </a:bodyPr>
          <a:lstStyle/>
          <a:p>
            <a:r>
              <a:rPr lang="en-US" dirty="0"/>
              <a:t>Where </a:t>
            </a:r>
            <a:r>
              <a:rPr lang="en-US" sz="2000" dirty="0"/>
              <a:t>W</a:t>
            </a:r>
            <a:r>
              <a:rPr lang="en-US" dirty="0"/>
              <a:t>up  and </a:t>
            </a:r>
            <a:r>
              <a:rPr lang="en-US" sz="2000" dirty="0"/>
              <a:t>W</a:t>
            </a:r>
            <a:r>
              <a:rPr lang="en-US" dirty="0"/>
              <a:t>down are  weight matrices with dimensions 2048 x 512 and 512 x 2048, B</a:t>
            </a:r>
            <a:r>
              <a:rPr lang="en-US" sz="1100" dirty="0"/>
              <a:t>up</a:t>
            </a:r>
            <a:r>
              <a:rPr lang="en-US" dirty="0"/>
              <a:t> and B</a:t>
            </a:r>
            <a:r>
              <a:rPr lang="en-US" sz="1100" dirty="0"/>
              <a:t>down</a:t>
            </a:r>
            <a:r>
              <a:rPr lang="en-US" dirty="0"/>
              <a:t> are the bias vectors. I</a:t>
            </a:r>
            <a:r>
              <a:rPr lang="en-US" sz="1100" dirty="0"/>
              <a:t>up</a:t>
            </a:r>
            <a:r>
              <a:rPr lang="en-US" sz="2000" dirty="0"/>
              <a:t> </a:t>
            </a:r>
            <a:r>
              <a:rPr lang="en-US" dirty="0"/>
              <a:t>and I</a:t>
            </a:r>
            <a:r>
              <a:rPr lang="en-US" sz="1100" dirty="0"/>
              <a:t>down</a:t>
            </a:r>
            <a:r>
              <a:rPr lang="en-US" dirty="0"/>
              <a:t> are intermediate vectors.</a:t>
            </a:r>
          </a:p>
        </p:txBody>
      </p:sp>
      <p:sp>
        <p:nvSpPr>
          <p:cNvPr id="10" name="TextBox 9">
            <a:extLst>
              <a:ext uri="{FF2B5EF4-FFF2-40B4-BE49-F238E27FC236}">
                <a16:creationId xmlns:a16="http://schemas.microsoft.com/office/drawing/2014/main" id="{F01744BA-6EFC-903F-EB8C-D4814ADBC052}"/>
              </a:ext>
            </a:extLst>
          </p:cNvPr>
          <p:cNvSpPr txBox="1"/>
          <p:nvPr/>
        </p:nvSpPr>
        <p:spPr>
          <a:xfrm>
            <a:off x="1302126" y="2659962"/>
            <a:ext cx="1566249" cy="369332"/>
          </a:xfrm>
          <a:prstGeom prst="rect">
            <a:avLst/>
          </a:prstGeom>
          <a:noFill/>
        </p:spPr>
        <p:txBody>
          <a:bodyPr wrap="square" rtlCol="0">
            <a:spAutoFit/>
          </a:bodyPr>
          <a:lstStyle/>
          <a:p>
            <a:r>
              <a:rPr lang="en-US" dirty="0"/>
              <a:t>Linear</a:t>
            </a:r>
          </a:p>
        </p:txBody>
      </p:sp>
      <p:sp>
        <p:nvSpPr>
          <p:cNvPr id="11" name="TextBox 10">
            <a:extLst>
              <a:ext uri="{FF2B5EF4-FFF2-40B4-BE49-F238E27FC236}">
                <a16:creationId xmlns:a16="http://schemas.microsoft.com/office/drawing/2014/main" id="{A4858FBA-040E-FBF2-8925-7BD56F6AFBFC}"/>
              </a:ext>
            </a:extLst>
          </p:cNvPr>
          <p:cNvSpPr txBox="1"/>
          <p:nvPr/>
        </p:nvSpPr>
        <p:spPr>
          <a:xfrm>
            <a:off x="2623750" y="2860017"/>
            <a:ext cx="583950" cy="369332"/>
          </a:xfrm>
          <a:prstGeom prst="rect">
            <a:avLst/>
          </a:prstGeom>
          <a:noFill/>
        </p:spPr>
        <p:txBody>
          <a:bodyPr wrap="square" rtlCol="0">
            <a:spAutoFit/>
          </a:bodyPr>
          <a:lstStyle/>
          <a:p>
            <a:r>
              <a:rPr lang="en-US" dirty="0"/>
              <a:t>I</a:t>
            </a:r>
            <a:r>
              <a:rPr lang="en-US" sz="1100" dirty="0"/>
              <a:t>up</a:t>
            </a:r>
            <a:endParaRPr lang="en-US" dirty="0"/>
          </a:p>
        </p:txBody>
      </p:sp>
      <p:sp>
        <p:nvSpPr>
          <p:cNvPr id="12" name="TextBox 11">
            <a:extLst>
              <a:ext uri="{FF2B5EF4-FFF2-40B4-BE49-F238E27FC236}">
                <a16:creationId xmlns:a16="http://schemas.microsoft.com/office/drawing/2014/main" id="{362C7C50-39AE-3AFD-D0BC-C742E1640ADF}"/>
              </a:ext>
            </a:extLst>
          </p:cNvPr>
          <p:cNvSpPr txBox="1"/>
          <p:nvPr/>
        </p:nvSpPr>
        <p:spPr>
          <a:xfrm>
            <a:off x="6968086" y="2505445"/>
            <a:ext cx="1566249" cy="369332"/>
          </a:xfrm>
          <a:prstGeom prst="rect">
            <a:avLst/>
          </a:prstGeom>
          <a:noFill/>
        </p:spPr>
        <p:txBody>
          <a:bodyPr wrap="square" rtlCol="0">
            <a:spAutoFit/>
          </a:bodyPr>
          <a:lstStyle/>
          <a:p>
            <a:r>
              <a:rPr lang="en-US" dirty="0"/>
              <a:t>Linear</a:t>
            </a:r>
          </a:p>
        </p:txBody>
      </p:sp>
      <p:cxnSp>
        <p:nvCxnSpPr>
          <p:cNvPr id="13" name="Straight Arrow Connector 12">
            <a:extLst>
              <a:ext uri="{FF2B5EF4-FFF2-40B4-BE49-F238E27FC236}">
                <a16:creationId xmlns:a16="http://schemas.microsoft.com/office/drawing/2014/main" id="{C054D706-F6D7-6DE1-D9C4-1DE01C7AC7F3}"/>
              </a:ext>
            </a:extLst>
          </p:cNvPr>
          <p:cNvCxnSpPr/>
          <p:nvPr/>
        </p:nvCxnSpPr>
        <p:spPr>
          <a:xfrm>
            <a:off x="3101865" y="3080018"/>
            <a:ext cx="15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389AFFB2-33C3-D931-B948-F8C3F940686E}"/>
              </a:ext>
            </a:extLst>
          </p:cNvPr>
          <p:cNvSpPr txBox="1"/>
          <p:nvPr/>
        </p:nvSpPr>
        <p:spPr>
          <a:xfrm>
            <a:off x="3115808" y="2600686"/>
            <a:ext cx="1566249" cy="369332"/>
          </a:xfrm>
          <a:prstGeom prst="rect">
            <a:avLst/>
          </a:prstGeom>
          <a:noFill/>
        </p:spPr>
        <p:txBody>
          <a:bodyPr wrap="square" rtlCol="0">
            <a:spAutoFit/>
          </a:bodyPr>
          <a:lstStyle/>
          <a:p>
            <a:r>
              <a:rPr lang="en-US" dirty="0"/>
              <a:t>ReLU</a:t>
            </a:r>
          </a:p>
        </p:txBody>
      </p:sp>
      <p:sp>
        <p:nvSpPr>
          <p:cNvPr id="17" name="TextBox 16">
            <a:extLst>
              <a:ext uri="{FF2B5EF4-FFF2-40B4-BE49-F238E27FC236}">
                <a16:creationId xmlns:a16="http://schemas.microsoft.com/office/drawing/2014/main" id="{86522C1F-7A7F-BF48-2CD8-2942905F3F47}"/>
              </a:ext>
            </a:extLst>
          </p:cNvPr>
          <p:cNvSpPr txBox="1"/>
          <p:nvPr/>
        </p:nvSpPr>
        <p:spPr>
          <a:xfrm>
            <a:off x="9121365" y="4084555"/>
            <a:ext cx="3236615" cy="1200329"/>
          </a:xfrm>
          <a:prstGeom prst="rect">
            <a:avLst/>
          </a:prstGeom>
          <a:noFill/>
        </p:spPr>
        <p:txBody>
          <a:bodyPr wrap="square" rtlCol="0">
            <a:spAutoFit/>
          </a:bodyPr>
          <a:lstStyle/>
          <a:p>
            <a:r>
              <a:rPr lang="en-US" dirty="0"/>
              <a:t>ReLU (Rectified Linear Unit) is defined as the maximum of 0 and the input x:</a:t>
            </a:r>
            <a:br>
              <a:rPr lang="en-US" dirty="0"/>
            </a:br>
            <a:r>
              <a:rPr lang="en-US" dirty="0"/>
              <a:t>f(x) = max(0, x)</a:t>
            </a:r>
          </a:p>
        </p:txBody>
      </p:sp>
      <p:sp>
        <p:nvSpPr>
          <p:cNvPr id="18" name="TextBox 17">
            <a:extLst>
              <a:ext uri="{FF2B5EF4-FFF2-40B4-BE49-F238E27FC236}">
                <a16:creationId xmlns:a16="http://schemas.microsoft.com/office/drawing/2014/main" id="{7BE2B49A-8F39-F7ED-5FF8-7ABE68C1E66F}"/>
              </a:ext>
            </a:extLst>
          </p:cNvPr>
          <p:cNvSpPr txBox="1"/>
          <p:nvPr/>
        </p:nvSpPr>
        <p:spPr>
          <a:xfrm>
            <a:off x="1002773" y="3416963"/>
            <a:ext cx="1566249" cy="369332"/>
          </a:xfrm>
          <a:prstGeom prst="rect">
            <a:avLst/>
          </a:prstGeom>
          <a:noFill/>
        </p:spPr>
        <p:txBody>
          <a:bodyPr wrap="square" rtlCol="0">
            <a:spAutoFit/>
          </a:bodyPr>
          <a:lstStyle/>
          <a:p>
            <a:r>
              <a:rPr lang="en-US" dirty="0"/>
              <a:t>Up projection</a:t>
            </a:r>
          </a:p>
        </p:txBody>
      </p:sp>
      <p:sp>
        <p:nvSpPr>
          <p:cNvPr id="19" name="TextBox 18">
            <a:extLst>
              <a:ext uri="{FF2B5EF4-FFF2-40B4-BE49-F238E27FC236}">
                <a16:creationId xmlns:a16="http://schemas.microsoft.com/office/drawing/2014/main" id="{43BB5652-0982-37FC-5ACF-25269F9D16EF}"/>
              </a:ext>
            </a:extLst>
          </p:cNvPr>
          <p:cNvSpPr txBox="1"/>
          <p:nvPr/>
        </p:nvSpPr>
        <p:spPr>
          <a:xfrm>
            <a:off x="6668567" y="3247379"/>
            <a:ext cx="1960468" cy="369332"/>
          </a:xfrm>
          <a:prstGeom prst="rect">
            <a:avLst/>
          </a:prstGeom>
          <a:noFill/>
        </p:spPr>
        <p:txBody>
          <a:bodyPr wrap="square" rtlCol="0">
            <a:spAutoFit/>
          </a:bodyPr>
          <a:lstStyle/>
          <a:p>
            <a:r>
              <a:rPr lang="en-US" dirty="0"/>
              <a:t>Down projection</a:t>
            </a:r>
          </a:p>
        </p:txBody>
      </p:sp>
      <p:sp>
        <p:nvSpPr>
          <p:cNvPr id="23" name="TextBox 22">
            <a:extLst>
              <a:ext uri="{FF2B5EF4-FFF2-40B4-BE49-F238E27FC236}">
                <a16:creationId xmlns:a16="http://schemas.microsoft.com/office/drawing/2014/main" id="{928BD01B-707B-A97B-BEEB-FAB5122071F0}"/>
              </a:ext>
            </a:extLst>
          </p:cNvPr>
          <p:cNvSpPr txBox="1"/>
          <p:nvPr/>
        </p:nvSpPr>
        <p:spPr>
          <a:xfrm>
            <a:off x="689479" y="2868392"/>
            <a:ext cx="626589" cy="368929"/>
          </a:xfrm>
          <a:prstGeom prst="rect">
            <a:avLst/>
          </a:prstGeom>
          <a:noFill/>
        </p:spPr>
        <p:txBody>
          <a:bodyPr wrap="square" rtlCol="0">
            <a:spAutoFit/>
          </a:bodyPr>
          <a:lstStyle/>
          <a:p>
            <a:r>
              <a:rPr lang="en-US" dirty="0"/>
              <a:t>Z</a:t>
            </a:r>
            <a:r>
              <a:rPr lang="en-US" sz="1050" dirty="0"/>
              <a:t>i</a:t>
            </a:r>
            <a:endParaRPr lang="en-US" dirty="0"/>
          </a:p>
        </p:txBody>
      </p:sp>
      <p:sp>
        <p:nvSpPr>
          <p:cNvPr id="24" name="TextBox 23">
            <a:extLst>
              <a:ext uri="{FF2B5EF4-FFF2-40B4-BE49-F238E27FC236}">
                <a16:creationId xmlns:a16="http://schemas.microsoft.com/office/drawing/2014/main" id="{7A64DE26-8C54-70AF-D408-7588175D75F0}"/>
              </a:ext>
            </a:extLst>
          </p:cNvPr>
          <p:cNvSpPr txBox="1"/>
          <p:nvPr/>
        </p:nvSpPr>
        <p:spPr>
          <a:xfrm>
            <a:off x="4627344" y="2736905"/>
            <a:ext cx="1960468" cy="646331"/>
          </a:xfrm>
          <a:prstGeom prst="rect">
            <a:avLst/>
          </a:prstGeom>
          <a:noFill/>
        </p:spPr>
        <p:txBody>
          <a:bodyPr wrap="square" rtlCol="0">
            <a:spAutoFit/>
          </a:bodyPr>
          <a:lstStyle/>
          <a:p>
            <a:r>
              <a:rPr lang="en-US" dirty="0"/>
              <a:t>Vector containing neurons</a:t>
            </a:r>
          </a:p>
        </p:txBody>
      </p:sp>
      <p:pic>
        <p:nvPicPr>
          <p:cNvPr id="10242" name="Picture 2" descr="ReLU Activation Function in Deep Learning - GeeksforGeeks">
            <a:extLst>
              <a:ext uri="{FF2B5EF4-FFF2-40B4-BE49-F238E27FC236}">
                <a16:creationId xmlns:a16="http://schemas.microsoft.com/office/drawing/2014/main" id="{35F8008F-0FAE-B2F2-9CA2-67BF3076A3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3105" y="4084555"/>
            <a:ext cx="2838260" cy="2025478"/>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Arrow Connector 24">
            <a:extLst>
              <a:ext uri="{FF2B5EF4-FFF2-40B4-BE49-F238E27FC236}">
                <a16:creationId xmlns:a16="http://schemas.microsoft.com/office/drawing/2014/main" id="{C15A9CD2-2619-F45B-33A6-1AC3AD901341}"/>
              </a:ext>
            </a:extLst>
          </p:cNvPr>
          <p:cNvCxnSpPr/>
          <p:nvPr/>
        </p:nvCxnSpPr>
        <p:spPr>
          <a:xfrm>
            <a:off x="6740069" y="2970018"/>
            <a:ext cx="15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573879F-D87F-676A-BCB9-925BD31B81EC}"/>
              </a:ext>
            </a:extLst>
          </p:cNvPr>
          <p:cNvSpPr txBox="1"/>
          <p:nvPr/>
        </p:nvSpPr>
        <p:spPr>
          <a:xfrm>
            <a:off x="6968086" y="2952082"/>
            <a:ext cx="1566249" cy="400110"/>
          </a:xfrm>
          <a:prstGeom prst="rect">
            <a:avLst/>
          </a:prstGeom>
          <a:noFill/>
        </p:spPr>
        <p:txBody>
          <a:bodyPr wrap="square" rtlCol="0">
            <a:spAutoFit/>
          </a:bodyPr>
          <a:lstStyle/>
          <a:p>
            <a:r>
              <a:rPr lang="en-US" sz="2000" dirty="0"/>
              <a:t>W</a:t>
            </a:r>
            <a:r>
              <a:rPr lang="en-US" sz="1100" dirty="0"/>
              <a:t>down </a:t>
            </a:r>
            <a:r>
              <a:rPr lang="en-US" sz="2000" dirty="0"/>
              <a:t>Z+B</a:t>
            </a:r>
            <a:r>
              <a:rPr lang="en-US" sz="900" dirty="0"/>
              <a:t>down</a:t>
            </a:r>
            <a:endParaRPr lang="en-US" sz="1600" dirty="0"/>
          </a:p>
        </p:txBody>
      </p:sp>
      <p:sp>
        <p:nvSpPr>
          <p:cNvPr id="28" name="TextBox 27">
            <a:extLst>
              <a:ext uri="{FF2B5EF4-FFF2-40B4-BE49-F238E27FC236}">
                <a16:creationId xmlns:a16="http://schemas.microsoft.com/office/drawing/2014/main" id="{479FBD3F-32CF-1094-1C04-CEC0A82E380A}"/>
              </a:ext>
            </a:extLst>
          </p:cNvPr>
          <p:cNvSpPr txBox="1"/>
          <p:nvPr/>
        </p:nvSpPr>
        <p:spPr>
          <a:xfrm>
            <a:off x="8426216" y="2874777"/>
            <a:ext cx="825731" cy="369332"/>
          </a:xfrm>
          <a:prstGeom prst="rect">
            <a:avLst/>
          </a:prstGeom>
          <a:noFill/>
        </p:spPr>
        <p:txBody>
          <a:bodyPr wrap="square" rtlCol="0">
            <a:spAutoFit/>
          </a:bodyPr>
          <a:lstStyle/>
          <a:p>
            <a:r>
              <a:rPr lang="en-US" dirty="0"/>
              <a:t>I</a:t>
            </a:r>
            <a:r>
              <a:rPr lang="en-US" sz="1050" dirty="0"/>
              <a:t>down</a:t>
            </a:r>
          </a:p>
        </p:txBody>
      </p:sp>
      <p:cxnSp>
        <p:nvCxnSpPr>
          <p:cNvPr id="37" name="Straight Connector 36">
            <a:extLst>
              <a:ext uri="{FF2B5EF4-FFF2-40B4-BE49-F238E27FC236}">
                <a16:creationId xmlns:a16="http://schemas.microsoft.com/office/drawing/2014/main" id="{38641D16-C609-ECBE-FCC8-D060FF7FB1A4}"/>
              </a:ext>
            </a:extLst>
          </p:cNvPr>
          <p:cNvCxnSpPr/>
          <p:nvPr/>
        </p:nvCxnSpPr>
        <p:spPr>
          <a:xfrm flipV="1">
            <a:off x="1102950" y="2166730"/>
            <a:ext cx="0" cy="893341"/>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32846789-0786-0BE5-820D-AAA939A34A37}"/>
              </a:ext>
            </a:extLst>
          </p:cNvPr>
          <p:cNvCxnSpPr>
            <a:cxnSpLocks/>
          </p:cNvCxnSpPr>
          <p:nvPr/>
        </p:nvCxnSpPr>
        <p:spPr>
          <a:xfrm>
            <a:off x="1102950" y="2176670"/>
            <a:ext cx="853325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1813ED4B-F96B-361F-58C2-2C9FEA2293CF}"/>
              </a:ext>
            </a:extLst>
          </p:cNvPr>
          <p:cNvCxnSpPr/>
          <p:nvPr/>
        </p:nvCxnSpPr>
        <p:spPr>
          <a:xfrm>
            <a:off x="8945219" y="3080018"/>
            <a:ext cx="48701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B352FC82-DCB4-2346-4506-3F0653AA5161}"/>
              </a:ext>
            </a:extLst>
          </p:cNvPr>
          <p:cNvSpPr/>
          <p:nvPr/>
        </p:nvSpPr>
        <p:spPr>
          <a:xfrm>
            <a:off x="9432236" y="2898973"/>
            <a:ext cx="407935" cy="40011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EF956C30-6842-2148-2E09-438B9A25AEAA}"/>
              </a:ext>
            </a:extLst>
          </p:cNvPr>
          <p:cNvCxnSpPr>
            <a:endCxn id="42" idx="0"/>
          </p:cNvCxnSpPr>
          <p:nvPr/>
        </p:nvCxnSpPr>
        <p:spPr>
          <a:xfrm>
            <a:off x="9636203" y="2166730"/>
            <a:ext cx="1" cy="7322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CCC8F24C-6FA7-5806-3869-F8160B41F98A}"/>
              </a:ext>
            </a:extLst>
          </p:cNvPr>
          <p:cNvCxnSpPr/>
          <p:nvPr/>
        </p:nvCxnSpPr>
        <p:spPr>
          <a:xfrm>
            <a:off x="9833115" y="3099028"/>
            <a:ext cx="48701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9ECE8A15-0139-652F-354D-8A74E170E4EE}"/>
              </a:ext>
            </a:extLst>
          </p:cNvPr>
          <p:cNvSpPr txBox="1"/>
          <p:nvPr/>
        </p:nvSpPr>
        <p:spPr>
          <a:xfrm>
            <a:off x="10355258" y="2202855"/>
            <a:ext cx="1119611" cy="1754326"/>
          </a:xfrm>
          <a:prstGeom prst="rect">
            <a:avLst/>
          </a:prstGeom>
          <a:noFill/>
        </p:spPr>
        <p:txBody>
          <a:bodyPr wrap="square" rtlCol="0">
            <a:spAutoFit/>
          </a:bodyPr>
          <a:lstStyle/>
          <a:p>
            <a:r>
              <a:rPr lang="en-US" dirty="0"/>
              <a:t>Encoder output vector for the specific token</a:t>
            </a:r>
          </a:p>
        </p:txBody>
      </p:sp>
      <p:sp>
        <p:nvSpPr>
          <p:cNvPr id="48" name="Cross 47">
            <a:extLst>
              <a:ext uri="{FF2B5EF4-FFF2-40B4-BE49-F238E27FC236}">
                <a16:creationId xmlns:a16="http://schemas.microsoft.com/office/drawing/2014/main" id="{6C8E497C-CEF3-F51A-5E98-08E0BE1BBADF}"/>
              </a:ext>
            </a:extLst>
          </p:cNvPr>
          <p:cNvSpPr/>
          <p:nvPr/>
        </p:nvSpPr>
        <p:spPr>
          <a:xfrm>
            <a:off x="9484739" y="2949433"/>
            <a:ext cx="302927" cy="309973"/>
          </a:xfrm>
          <a:prstGeom prst="plus">
            <a:avLst>
              <a:gd name="adj" fmla="val 4347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2491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2B94F-07A6-7CE3-9040-DB05DC399914}"/>
              </a:ext>
            </a:extLst>
          </p:cNvPr>
          <p:cNvSpPr>
            <a:spLocks noGrp="1"/>
          </p:cNvSpPr>
          <p:nvPr>
            <p:ph type="title"/>
          </p:nvPr>
        </p:nvSpPr>
        <p:spPr/>
        <p:txBody>
          <a:bodyPr/>
          <a:lstStyle/>
          <a:p>
            <a:r>
              <a:rPr lang="en-US" b="1" u="sng" dirty="0">
                <a:solidFill>
                  <a:srgbClr val="C00000"/>
                </a:solidFill>
              </a:rPr>
              <a:t>Residual connections and Layer Normalization</a:t>
            </a:r>
          </a:p>
        </p:txBody>
      </p:sp>
      <p:sp>
        <p:nvSpPr>
          <p:cNvPr id="3" name="Content Placeholder 2">
            <a:extLst>
              <a:ext uri="{FF2B5EF4-FFF2-40B4-BE49-F238E27FC236}">
                <a16:creationId xmlns:a16="http://schemas.microsoft.com/office/drawing/2014/main" id="{CAE6E7E5-12DB-46B3-EDCF-6D0296166B01}"/>
              </a:ext>
            </a:extLst>
          </p:cNvPr>
          <p:cNvSpPr>
            <a:spLocks noGrp="1"/>
          </p:cNvSpPr>
          <p:nvPr>
            <p:ph idx="1"/>
          </p:nvPr>
        </p:nvSpPr>
        <p:spPr/>
        <p:txBody>
          <a:bodyPr/>
          <a:lstStyle/>
          <a:p>
            <a:r>
              <a:rPr lang="en-US" dirty="0"/>
              <a:t>Residual connection : y = x + F(x)</a:t>
            </a:r>
          </a:p>
          <a:p>
            <a:r>
              <a:rPr lang="en-US" dirty="0"/>
              <a:t>Layer Normalization : 1. Calculate Mean: </a:t>
            </a:r>
          </a:p>
          <a:p>
            <a:r>
              <a:rPr lang="en-US" dirty="0"/>
              <a:t>                                              2. Calculate Variance: </a:t>
            </a:r>
          </a:p>
          <a:p>
            <a:r>
              <a:rPr lang="en-US" dirty="0"/>
              <a:t>                                              3. Normalize:</a:t>
            </a:r>
          </a:p>
          <a:p>
            <a:r>
              <a:rPr lang="en-US" dirty="0"/>
              <a:t>                                              4. Scale and Shift:  </a:t>
            </a:r>
          </a:p>
          <a:p>
            <a:r>
              <a:rPr lang="en-US" dirty="0"/>
              <a:t> The </a:t>
            </a:r>
            <a:r>
              <a:rPr lang="el-GR" dirty="0"/>
              <a:t>γ</a:t>
            </a:r>
            <a:r>
              <a:rPr lang="en-US" dirty="0"/>
              <a:t> and </a:t>
            </a:r>
            <a:r>
              <a:rPr lang="el-GR" dirty="0"/>
              <a:t>β</a:t>
            </a:r>
            <a:r>
              <a:rPr lang="en-US" dirty="0"/>
              <a:t> parameters are learnable weights that allow the model to retain expressive power.</a:t>
            </a:r>
          </a:p>
        </p:txBody>
      </p:sp>
      <p:pic>
        <p:nvPicPr>
          <p:cNvPr id="5" name="Picture 4">
            <a:extLst>
              <a:ext uri="{FF2B5EF4-FFF2-40B4-BE49-F238E27FC236}">
                <a16:creationId xmlns:a16="http://schemas.microsoft.com/office/drawing/2014/main" id="{DD5CA3EB-4FC5-AEF8-4559-BB8A67C9771B}"/>
              </a:ext>
            </a:extLst>
          </p:cNvPr>
          <p:cNvPicPr>
            <a:picLocks noChangeAspect="1"/>
          </p:cNvPicPr>
          <p:nvPr/>
        </p:nvPicPr>
        <p:blipFill>
          <a:blip r:embed="rId2"/>
          <a:stretch>
            <a:fillRect/>
          </a:stretch>
        </p:blipFill>
        <p:spPr>
          <a:xfrm>
            <a:off x="7502719" y="2270738"/>
            <a:ext cx="1720793" cy="578300"/>
          </a:xfrm>
          <a:prstGeom prst="rect">
            <a:avLst/>
          </a:prstGeom>
        </p:spPr>
      </p:pic>
      <p:pic>
        <p:nvPicPr>
          <p:cNvPr id="7" name="Picture 6">
            <a:extLst>
              <a:ext uri="{FF2B5EF4-FFF2-40B4-BE49-F238E27FC236}">
                <a16:creationId xmlns:a16="http://schemas.microsoft.com/office/drawing/2014/main" id="{BCCFEECA-B459-1DDF-5DAE-84A66ABE1444}"/>
              </a:ext>
            </a:extLst>
          </p:cNvPr>
          <p:cNvPicPr>
            <a:picLocks noChangeAspect="1"/>
          </p:cNvPicPr>
          <p:nvPr/>
        </p:nvPicPr>
        <p:blipFill>
          <a:blip r:embed="rId3"/>
          <a:stretch>
            <a:fillRect/>
          </a:stretch>
        </p:blipFill>
        <p:spPr>
          <a:xfrm>
            <a:off x="7961127" y="2925965"/>
            <a:ext cx="1676634" cy="428685"/>
          </a:xfrm>
          <a:prstGeom prst="rect">
            <a:avLst/>
          </a:prstGeom>
        </p:spPr>
      </p:pic>
      <p:pic>
        <p:nvPicPr>
          <p:cNvPr id="9" name="Picture 8">
            <a:extLst>
              <a:ext uri="{FF2B5EF4-FFF2-40B4-BE49-F238E27FC236}">
                <a16:creationId xmlns:a16="http://schemas.microsoft.com/office/drawing/2014/main" id="{203B25EC-BD0E-00E6-638C-A259F9473585}"/>
              </a:ext>
            </a:extLst>
          </p:cNvPr>
          <p:cNvPicPr>
            <a:picLocks noChangeAspect="1"/>
          </p:cNvPicPr>
          <p:nvPr/>
        </p:nvPicPr>
        <p:blipFill>
          <a:blip r:embed="rId4"/>
          <a:stretch>
            <a:fillRect/>
          </a:stretch>
        </p:blipFill>
        <p:spPr>
          <a:xfrm>
            <a:off x="6692092" y="3479648"/>
            <a:ext cx="3658111" cy="390580"/>
          </a:xfrm>
          <a:prstGeom prst="rect">
            <a:avLst/>
          </a:prstGeom>
        </p:spPr>
      </p:pic>
      <p:pic>
        <p:nvPicPr>
          <p:cNvPr id="11" name="Picture 10">
            <a:extLst>
              <a:ext uri="{FF2B5EF4-FFF2-40B4-BE49-F238E27FC236}">
                <a16:creationId xmlns:a16="http://schemas.microsoft.com/office/drawing/2014/main" id="{5EA981B6-B69B-C03D-68F1-1A2CF6A732E8}"/>
              </a:ext>
            </a:extLst>
          </p:cNvPr>
          <p:cNvPicPr>
            <a:picLocks noChangeAspect="1"/>
          </p:cNvPicPr>
          <p:nvPr/>
        </p:nvPicPr>
        <p:blipFill>
          <a:blip r:embed="rId5"/>
          <a:stretch>
            <a:fillRect/>
          </a:stretch>
        </p:blipFill>
        <p:spPr>
          <a:xfrm>
            <a:off x="7625672" y="3985260"/>
            <a:ext cx="895475" cy="323895"/>
          </a:xfrm>
          <a:prstGeom prst="rect">
            <a:avLst/>
          </a:prstGeom>
        </p:spPr>
      </p:pic>
    </p:spTree>
    <p:extLst>
      <p:ext uri="{BB962C8B-B14F-4D97-AF65-F5344CB8AC3E}">
        <p14:creationId xmlns:p14="http://schemas.microsoft.com/office/powerpoint/2010/main" val="130447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5BD08-5054-E620-7133-034D49E1C5EF}"/>
              </a:ext>
            </a:extLst>
          </p:cNvPr>
          <p:cNvSpPr>
            <a:spLocks noGrp="1"/>
          </p:cNvSpPr>
          <p:nvPr>
            <p:ph type="title"/>
          </p:nvPr>
        </p:nvSpPr>
        <p:spPr/>
        <p:txBody>
          <a:bodyPr/>
          <a:lstStyle/>
          <a:p>
            <a:r>
              <a:rPr lang="en-US" b="1" u="sng" dirty="0">
                <a:solidFill>
                  <a:srgbClr val="C00000"/>
                </a:solidFill>
              </a:rPr>
              <a:t>Complete Encoder Structure</a:t>
            </a:r>
          </a:p>
        </p:txBody>
      </p:sp>
      <p:pic>
        <p:nvPicPr>
          <p:cNvPr id="11266" name="Picture 2">
            <a:extLst>
              <a:ext uri="{FF2B5EF4-FFF2-40B4-BE49-F238E27FC236}">
                <a16:creationId xmlns:a16="http://schemas.microsoft.com/office/drawing/2014/main" id="{36B16D56-7189-056B-D268-EB84C0BF620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70060" y="1825625"/>
            <a:ext cx="465188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3292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EBC40-4B4C-63DE-8FCF-4C08D87A2BB5}"/>
              </a:ext>
            </a:extLst>
          </p:cNvPr>
          <p:cNvSpPr>
            <a:spLocks noGrp="1"/>
          </p:cNvSpPr>
          <p:nvPr>
            <p:ph type="title"/>
          </p:nvPr>
        </p:nvSpPr>
        <p:spPr/>
        <p:txBody>
          <a:bodyPr/>
          <a:lstStyle/>
          <a:p>
            <a:r>
              <a:rPr lang="en-US" b="1" u="sng" dirty="0">
                <a:solidFill>
                  <a:srgbClr val="C00000"/>
                </a:solidFill>
              </a:rPr>
              <a:t>Decoder Layer</a:t>
            </a:r>
          </a:p>
        </p:txBody>
      </p:sp>
      <p:sp>
        <p:nvSpPr>
          <p:cNvPr id="3" name="Content Placeholder 2">
            <a:extLst>
              <a:ext uri="{FF2B5EF4-FFF2-40B4-BE49-F238E27FC236}">
                <a16:creationId xmlns:a16="http://schemas.microsoft.com/office/drawing/2014/main" id="{3C0A56D1-B128-EFE9-BE3A-6E5BF3136DD6}"/>
              </a:ext>
            </a:extLst>
          </p:cNvPr>
          <p:cNvSpPr>
            <a:spLocks noGrp="1"/>
          </p:cNvSpPr>
          <p:nvPr>
            <p:ph idx="1"/>
          </p:nvPr>
        </p:nvSpPr>
        <p:spPr/>
        <p:txBody>
          <a:bodyPr/>
          <a:lstStyle/>
          <a:p>
            <a:r>
              <a:rPr lang="en-US" dirty="0"/>
              <a:t>The decoder layer has three components : </a:t>
            </a:r>
          </a:p>
          <a:p>
            <a:r>
              <a:rPr lang="en-US" dirty="0"/>
              <a:t>1. </a:t>
            </a:r>
            <a:r>
              <a:rPr lang="en-US" b="1" dirty="0">
                <a:solidFill>
                  <a:srgbClr val="C00000"/>
                </a:solidFill>
              </a:rPr>
              <a:t>Masked Self Attention </a:t>
            </a:r>
            <a:r>
              <a:rPr lang="en-US" dirty="0"/>
              <a:t>: The output embedding is shifted by one position. Thus, when the model attempts to predict the word at position t , it only has access to position 1 to t – 1. Combined with causal masking, which blocks attention mechanism from looking ahead, shifting ensures that the model learns real language patterns rather than just copying data.</a:t>
            </a:r>
          </a:p>
        </p:txBody>
      </p:sp>
    </p:spTree>
    <p:extLst>
      <p:ext uri="{BB962C8B-B14F-4D97-AF65-F5344CB8AC3E}">
        <p14:creationId xmlns:p14="http://schemas.microsoft.com/office/powerpoint/2010/main" val="1376575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63996-DAB7-558B-B1BC-C0E8CD510D27}"/>
              </a:ext>
            </a:extLst>
          </p:cNvPr>
          <p:cNvSpPr>
            <a:spLocks noGrp="1"/>
          </p:cNvSpPr>
          <p:nvPr>
            <p:ph type="title"/>
          </p:nvPr>
        </p:nvSpPr>
        <p:spPr/>
        <p:txBody>
          <a:bodyPr/>
          <a:lstStyle/>
          <a:p>
            <a:r>
              <a:rPr lang="en-US" b="1" u="sng" dirty="0">
                <a:solidFill>
                  <a:srgbClr val="C00000"/>
                </a:solidFill>
              </a:rPr>
              <a:t>Decoder Layer</a:t>
            </a:r>
            <a:endParaRPr lang="en-US" dirty="0"/>
          </a:p>
        </p:txBody>
      </p:sp>
      <p:sp>
        <p:nvSpPr>
          <p:cNvPr id="3" name="Content Placeholder 2">
            <a:extLst>
              <a:ext uri="{FF2B5EF4-FFF2-40B4-BE49-F238E27FC236}">
                <a16:creationId xmlns:a16="http://schemas.microsoft.com/office/drawing/2014/main" id="{C24A720C-103D-D113-C0A6-A621487220A3}"/>
              </a:ext>
            </a:extLst>
          </p:cNvPr>
          <p:cNvSpPr>
            <a:spLocks noGrp="1"/>
          </p:cNvSpPr>
          <p:nvPr>
            <p:ph idx="1"/>
          </p:nvPr>
        </p:nvSpPr>
        <p:spPr/>
        <p:txBody>
          <a:bodyPr>
            <a:normAutofit fontScale="92500" lnSpcReduction="10000"/>
          </a:bodyPr>
          <a:lstStyle/>
          <a:p>
            <a:pPr fontAlgn="base"/>
            <a:r>
              <a:rPr lang="en-US" dirty="0"/>
              <a:t>2</a:t>
            </a:r>
            <a:r>
              <a:rPr lang="en-US" b="1" dirty="0"/>
              <a:t>.</a:t>
            </a:r>
            <a:r>
              <a:rPr lang="en-US" b="1" dirty="0">
                <a:solidFill>
                  <a:srgbClr val="C00000"/>
                </a:solidFill>
              </a:rPr>
              <a:t> Encoder – Decoder Attention </a:t>
            </a:r>
            <a:r>
              <a:rPr lang="en-US" dirty="0"/>
              <a:t>: </a:t>
            </a:r>
            <a:r>
              <a:rPr lang="en-US" sz="2200" dirty="0"/>
              <a:t>The encoder start by processing the input sequence. </a:t>
            </a:r>
          </a:p>
          <a:p>
            <a:pPr fontAlgn="base"/>
            <a:r>
              <a:rPr lang="en-US" sz="2200" dirty="0"/>
              <a:t>The output of the top encoder is then transformed into a set of attention vectors K and V. </a:t>
            </a:r>
          </a:p>
          <a:p>
            <a:pPr fontAlgn="base"/>
            <a:r>
              <a:rPr lang="en-US" sz="2200" dirty="0"/>
              <a:t>These are to be used by each decoder in its “encoder-decoder attention” layer which helps the decoder focus on appropriate places in the input sequence. </a:t>
            </a:r>
          </a:p>
          <a:p>
            <a:pPr fontAlgn="base"/>
            <a:r>
              <a:rPr lang="en-US" sz="2200" dirty="0"/>
              <a:t>The following steps repeat the process until a special symbol is reached indicating the transformer decoder has completed its output. </a:t>
            </a:r>
          </a:p>
          <a:p>
            <a:pPr fontAlgn="base"/>
            <a:r>
              <a:rPr lang="en-US" sz="2200" dirty="0"/>
              <a:t>The output of each step is fed to the bottom decoder in the next time step, and the decoders bubble up their decoding results just like the encoders did. And just like we did with the encoder inputs, we embed and add positional encoding to those decoder inputs to indicate the position of each word.</a:t>
            </a:r>
          </a:p>
          <a:p>
            <a:pPr marL="0" indent="0">
              <a:buNone/>
            </a:pPr>
            <a:br>
              <a:rPr lang="en-US" dirty="0"/>
            </a:br>
            <a:endParaRPr lang="en-US" dirty="0"/>
          </a:p>
        </p:txBody>
      </p:sp>
    </p:spTree>
    <p:extLst>
      <p:ext uri="{BB962C8B-B14F-4D97-AF65-F5344CB8AC3E}">
        <p14:creationId xmlns:p14="http://schemas.microsoft.com/office/powerpoint/2010/main" val="3712975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AA8BF-1C1C-3B7B-C447-4CF4B10E6916}"/>
              </a:ext>
            </a:extLst>
          </p:cNvPr>
          <p:cNvSpPr>
            <a:spLocks noGrp="1"/>
          </p:cNvSpPr>
          <p:nvPr>
            <p:ph type="title"/>
          </p:nvPr>
        </p:nvSpPr>
        <p:spPr/>
        <p:txBody>
          <a:bodyPr/>
          <a:lstStyle/>
          <a:p>
            <a:r>
              <a:rPr lang="en-US" b="1" u="sng" dirty="0">
                <a:solidFill>
                  <a:srgbClr val="C00000"/>
                </a:solidFill>
              </a:rPr>
              <a:t>Decoder Layer</a:t>
            </a:r>
            <a:endParaRPr lang="en-US" dirty="0"/>
          </a:p>
        </p:txBody>
      </p:sp>
      <p:pic>
        <p:nvPicPr>
          <p:cNvPr id="13314" name="Picture 2">
            <a:extLst>
              <a:ext uri="{FF2B5EF4-FFF2-40B4-BE49-F238E27FC236}">
                <a16:creationId xmlns:a16="http://schemas.microsoft.com/office/drawing/2014/main" id="{8245A181-4BC3-12C2-DD9F-3EFD4B9D912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5732" y="1825625"/>
            <a:ext cx="7920536"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C4FF586-8818-E1BE-C81A-8B741B2CC4EB}"/>
              </a:ext>
            </a:extLst>
          </p:cNvPr>
          <p:cNvSpPr txBox="1"/>
          <p:nvPr/>
        </p:nvSpPr>
        <p:spPr>
          <a:xfrm>
            <a:off x="9621078" y="1690688"/>
            <a:ext cx="2276061" cy="3416320"/>
          </a:xfrm>
          <a:prstGeom prst="rect">
            <a:avLst/>
          </a:prstGeom>
          <a:noFill/>
        </p:spPr>
        <p:txBody>
          <a:bodyPr wrap="square" rtlCol="0">
            <a:spAutoFit/>
          </a:bodyPr>
          <a:lstStyle/>
          <a:p>
            <a:r>
              <a:rPr lang="en-US" b="1" dirty="0"/>
              <a:t>The “Encoder-Decoder Attention” layer works just like multiheaded self-attention, except it creates its Queries matrix from the layer below it and takes the Keys and Values matrix from the output of the encoder stack.</a:t>
            </a:r>
          </a:p>
        </p:txBody>
      </p:sp>
    </p:spTree>
    <p:extLst>
      <p:ext uri="{BB962C8B-B14F-4D97-AF65-F5344CB8AC3E}">
        <p14:creationId xmlns:p14="http://schemas.microsoft.com/office/powerpoint/2010/main" val="239795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01A55-14D0-798E-2495-CD6EEC3E63E0}"/>
              </a:ext>
            </a:extLst>
          </p:cNvPr>
          <p:cNvSpPr>
            <a:spLocks noGrp="1"/>
          </p:cNvSpPr>
          <p:nvPr>
            <p:ph type="title"/>
          </p:nvPr>
        </p:nvSpPr>
        <p:spPr/>
        <p:txBody>
          <a:bodyPr/>
          <a:lstStyle/>
          <a:p>
            <a:r>
              <a:rPr lang="en-US" b="1" u="sng" dirty="0">
                <a:solidFill>
                  <a:srgbClr val="C00000"/>
                </a:solidFill>
              </a:rPr>
              <a:t>Decoder Layer</a:t>
            </a:r>
            <a:endParaRPr lang="en-US" dirty="0"/>
          </a:p>
        </p:txBody>
      </p:sp>
      <p:pic>
        <p:nvPicPr>
          <p:cNvPr id="14338" name="Picture 2">
            <a:extLst>
              <a:ext uri="{FF2B5EF4-FFF2-40B4-BE49-F238E27FC236}">
                <a16:creationId xmlns:a16="http://schemas.microsoft.com/office/drawing/2014/main" id="{9AAE3EEE-CD50-1378-468E-732D1CA379D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5732" y="1825625"/>
            <a:ext cx="792053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103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8C83D-2CB0-6B83-939F-21D79E543456}"/>
              </a:ext>
            </a:extLst>
          </p:cNvPr>
          <p:cNvSpPr>
            <a:spLocks noGrp="1"/>
          </p:cNvSpPr>
          <p:nvPr>
            <p:ph type="title"/>
          </p:nvPr>
        </p:nvSpPr>
        <p:spPr/>
        <p:txBody>
          <a:bodyPr/>
          <a:lstStyle/>
          <a:p>
            <a:r>
              <a:rPr lang="en-US" sz="3600" b="1" u="sng" dirty="0">
                <a:solidFill>
                  <a:srgbClr val="FF0000"/>
                </a:solidFill>
              </a:rPr>
              <a:t>The Final Linear and Softmax Layer</a:t>
            </a:r>
            <a:br>
              <a:rPr lang="en-US" b="1" dirty="0"/>
            </a:br>
            <a:endParaRPr lang="en-US" dirty="0"/>
          </a:p>
        </p:txBody>
      </p:sp>
      <p:pic>
        <p:nvPicPr>
          <p:cNvPr id="15362" name="Picture 2">
            <a:extLst>
              <a:ext uri="{FF2B5EF4-FFF2-40B4-BE49-F238E27FC236}">
                <a16:creationId xmlns:a16="http://schemas.microsoft.com/office/drawing/2014/main" id="{C78243D5-FAC6-64B8-C2EB-0C451742AD1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8872" y="1447938"/>
            <a:ext cx="6740307"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EF62016-5C36-62F1-F1B2-4F104E7C8436}"/>
              </a:ext>
            </a:extLst>
          </p:cNvPr>
          <p:cNvSpPr txBox="1"/>
          <p:nvPr/>
        </p:nvSpPr>
        <p:spPr>
          <a:xfrm>
            <a:off x="7235687" y="854765"/>
            <a:ext cx="4850296" cy="5909310"/>
          </a:xfrm>
          <a:prstGeom prst="rect">
            <a:avLst/>
          </a:prstGeom>
          <a:noFill/>
        </p:spPr>
        <p:txBody>
          <a:bodyPr wrap="square" rtlCol="0">
            <a:spAutoFit/>
          </a:bodyPr>
          <a:lstStyle/>
          <a:p>
            <a:pPr fontAlgn="base"/>
            <a:r>
              <a:rPr lang="en-US" dirty="0"/>
              <a:t>The decoder stack outputs a vector of floats, which is turned into a word by final Linear layer followed by a Softmax Layer.</a:t>
            </a:r>
          </a:p>
          <a:p>
            <a:pPr fontAlgn="base"/>
            <a:r>
              <a:rPr lang="en-US" dirty="0"/>
              <a:t> The Linear layer is a simple fully connected neural network that projects the decoder output vector into logits vector.</a:t>
            </a:r>
          </a:p>
          <a:p>
            <a:pPr fontAlgn="base"/>
            <a:r>
              <a:rPr lang="en-US" dirty="0">
                <a:effectLst/>
              </a:rPr>
              <a:t>Let’s assume that our model knows 10,000 unique English words (our model’s “output vocabulary”) that it’s learned from its training dataset. This would make the logits vector 10,000 cells wide – each cell corresponding to the score of a unique word. That is how we interpret the output of the model followed by the Linear layer.</a:t>
            </a:r>
          </a:p>
          <a:p>
            <a:pPr fontAlgn="base"/>
            <a:r>
              <a:rPr lang="en-US" dirty="0">
                <a:effectLst/>
              </a:rPr>
              <a:t>The softmax layer then turns those scores into probabilities (all positive, all add up to 1.0). The cell with the highest probability is chosen, and the word associated with it is produced as the output for this time step.</a:t>
            </a:r>
          </a:p>
          <a:p>
            <a:br>
              <a:rPr lang="en-US" dirty="0">
                <a:effectLst/>
              </a:rPr>
            </a:br>
            <a:endParaRPr lang="en-US" dirty="0"/>
          </a:p>
        </p:txBody>
      </p:sp>
    </p:spTree>
    <p:extLst>
      <p:ext uri="{BB962C8B-B14F-4D97-AF65-F5344CB8AC3E}">
        <p14:creationId xmlns:p14="http://schemas.microsoft.com/office/powerpoint/2010/main" val="2223546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921E9-8C41-83AD-3C0A-13831A48AC45}"/>
              </a:ext>
            </a:extLst>
          </p:cNvPr>
          <p:cNvSpPr>
            <a:spLocks noGrp="1"/>
          </p:cNvSpPr>
          <p:nvPr>
            <p:ph type="title"/>
          </p:nvPr>
        </p:nvSpPr>
        <p:spPr/>
        <p:txBody>
          <a:bodyPr/>
          <a:lstStyle/>
          <a:p>
            <a:r>
              <a:rPr lang="en-US" b="1" u="sng" dirty="0">
                <a:solidFill>
                  <a:srgbClr val="FF0000"/>
                </a:solidFill>
              </a:rPr>
              <a:t>Training Details</a:t>
            </a:r>
          </a:p>
        </p:txBody>
      </p:sp>
      <p:sp>
        <p:nvSpPr>
          <p:cNvPr id="3" name="Content Placeholder 2">
            <a:extLst>
              <a:ext uri="{FF2B5EF4-FFF2-40B4-BE49-F238E27FC236}">
                <a16:creationId xmlns:a16="http://schemas.microsoft.com/office/drawing/2014/main" id="{BF3D966C-3E36-BC64-7BB2-B6E567C16117}"/>
              </a:ext>
            </a:extLst>
          </p:cNvPr>
          <p:cNvSpPr>
            <a:spLocks noGrp="1"/>
          </p:cNvSpPr>
          <p:nvPr>
            <p:ph idx="1"/>
          </p:nvPr>
        </p:nvSpPr>
        <p:spPr/>
        <p:txBody>
          <a:bodyPr/>
          <a:lstStyle/>
          <a:p>
            <a:r>
              <a:rPr lang="en-US" dirty="0"/>
              <a:t>Dataset : Machine translation ( English to German, English to French)</a:t>
            </a:r>
          </a:p>
          <a:p>
            <a:r>
              <a:rPr lang="en-US" dirty="0"/>
              <a:t>Parameters : Layers = 6, Heads = 8, Embedding dimension = 512</a:t>
            </a:r>
          </a:p>
          <a:p>
            <a:r>
              <a:rPr lang="en-US" dirty="0"/>
              <a:t>Dimension of up projection and down projection weight matrix = 2048, Drop out = 0.1, Batch size = 25,000 tokens.</a:t>
            </a:r>
          </a:p>
          <a:p>
            <a:r>
              <a:rPr lang="en-US" dirty="0"/>
              <a:t>Optimizer : Adam</a:t>
            </a:r>
          </a:p>
          <a:p>
            <a:r>
              <a:rPr lang="en-US" dirty="0"/>
              <a:t>Warmup steps : 4000</a:t>
            </a:r>
          </a:p>
        </p:txBody>
      </p:sp>
    </p:spTree>
    <p:extLst>
      <p:ext uri="{BB962C8B-B14F-4D97-AF65-F5344CB8AC3E}">
        <p14:creationId xmlns:p14="http://schemas.microsoft.com/office/powerpoint/2010/main" val="1233269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79AC5-7A0A-F44D-EBB7-BD87510A83EC}"/>
              </a:ext>
            </a:extLst>
          </p:cNvPr>
          <p:cNvSpPr>
            <a:spLocks noGrp="1"/>
          </p:cNvSpPr>
          <p:nvPr>
            <p:ph type="title"/>
          </p:nvPr>
        </p:nvSpPr>
        <p:spPr>
          <a:xfrm>
            <a:off x="957470" y="354612"/>
            <a:ext cx="10515600" cy="1325563"/>
          </a:xfrm>
        </p:spPr>
        <p:txBody>
          <a:bodyPr/>
          <a:lstStyle/>
          <a:p>
            <a:r>
              <a:rPr lang="en-US" b="1" u="sng" dirty="0">
                <a:solidFill>
                  <a:srgbClr val="FF0000"/>
                </a:solidFill>
              </a:rPr>
              <a:t>Experimental Results</a:t>
            </a:r>
          </a:p>
        </p:txBody>
      </p:sp>
      <p:sp>
        <p:nvSpPr>
          <p:cNvPr id="3" name="Content Placeholder 2">
            <a:extLst>
              <a:ext uri="{FF2B5EF4-FFF2-40B4-BE49-F238E27FC236}">
                <a16:creationId xmlns:a16="http://schemas.microsoft.com/office/drawing/2014/main" id="{2ED8B00F-CA34-53D7-58D9-1614EDF9CC45}"/>
              </a:ext>
            </a:extLst>
          </p:cNvPr>
          <p:cNvSpPr>
            <a:spLocks noGrp="1"/>
          </p:cNvSpPr>
          <p:nvPr>
            <p:ph idx="1"/>
          </p:nvPr>
        </p:nvSpPr>
        <p:spPr/>
        <p:txBody>
          <a:bodyPr/>
          <a:lstStyle/>
          <a:p>
            <a:r>
              <a:rPr lang="en-US" dirty="0"/>
              <a:t>English to German : BLEU score : 28.4 </a:t>
            </a:r>
          </a:p>
          <a:p>
            <a:r>
              <a:rPr lang="en-US" dirty="0"/>
              <a:t>English to French : BLEU score : 41.8</a:t>
            </a:r>
          </a:p>
          <a:p>
            <a:r>
              <a:rPr lang="en-US" dirty="0"/>
              <a:t>The Transformer outperformed previous recurrent and convolutional architectures while requiring less training time.</a:t>
            </a:r>
          </a:p>
        </p:txBody>
      </p:sp>
      <p:sp>
        <p:nvSpPr>
          <p:cNvPr id="4" name="TextBox 3">
            <a:extLst>
              <a:ext uri="{FF2B5EF4-FFF2-40B4-BE49-F238E27FC236}">
                <a16:creationId xmlns:a16="http://schemas.microsoft.com/office/drawing/2014/main" id="{F868BC84-33C4-DBFB-DC98-3AA94B68EC17}"/>
              </a:ext>
            </a:extLst>
          </p:cNvPr>
          <p:cNvSpPr txBox="1"/>
          <p:nvPr/>
        </p:nvSpPr>
        <p:spPr>
          <a:xfrm>
            <a:off x="1033670" y="3836504"/>
            <a:ext cx="5854147" cy="1200329"/>
          </a:xfrm>
          <a:prstGeom prst="rect">
            <a:avLst/>
          </a:prstGeom>
          <a:noFill/>
        </p:spPr>
        <p:txBody>
          <a:bodyPr wrap="square" rtlCol="0">
            <a:spAutoFit/>
          </a:bodyPr>
          <a:lstStyle/>
          <a:p>
            <a:r>
              <a:rPr lang="en-US" b="1" dirty="0"/>
              <a:t>BLEU</a:t>
            </a:r>
            <a:r>
              <a:rPr lang="en-US" dirty="0"/>
              <a:t> : Bilingual Evaluation Understudy is an automated algorithm used to evaluate the quality of text translated by machines by comparing it to professional human translation.</a:t>
            </a:r>
          </a:p>
        </p:txBody>
      </p:sp>
    </p:spTree>
    <p:extLst>
      <p:ext uri="{BB962C8B-B14F-4D97-AF65-F5344CB8AC3E}">
        <p14:creationId xmlns:p14="http://schemas.microsoft.com/office/powerpoint/2010/main" val="2864011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9B856-40D8-67FC-4C68-F293F0FD0C29}"/>
              </a:ext>
            </a:extLst>
          </p:cNvPr>
          <p:cNvSpPr>
            <a:spLocks noGrp="1"/>
          </p:cNvSpPr>
          <p:nvPr>
            <p:ph type="title"/>
          </p:nvPr>
        </p:nvSpPr>
        <p:spPr/>
        <p:txBody>
          <a:bodyPr/>
          <a:lstStyle/>
          <a:p>
            <a:r>
              <a:rPr lang="en-US" b="1" u="sng" dirty="0">
                <a:solidFill>
                  <a:srgbClr val="FF0000"/>
                </a:solidFill>
              </a:rPr>
              <a:t>Advantages of Transformers : </a:t>
            </a:r>
          </a:p>
        </p:txBody>
      </p:sp>
      <p:sp>
        <p:nvSpPr>
          <p:cNvPr id="3" name="Content Placeholder 2">
            <a:extLst>
              <a:ext uri="{FF2B5EF4-FFF2-40B4-BE49-F238E27FC236}">
                <a16:creationId xmlns:a16="http://schemas.microsoft.com/office/drawing/2014/main" id="{945A7F72-3476-A9A5-604C-1BAFEC70B4C6}"/>
              </a:ext>
            </a:extLst>
          </p:cNvPr>
          <p:cNvSpPr>
            <a:spLocks noGrp="1"/>
          </p:cNvSpPr>
          <p:nvPr>
            <p:ph idx="1"/>
          </p:nvPr>
        </p:nvSpPr>
        <p:spPr/>
        <p:txBody>
          <a:bodyPr/>
          <a:lstStyle/>
          <a:p>
            <a:r>
              <a:rPr lang="en-US" dirty="0"/>
              <a:t>1. All tokens are processed simultaneously.</a:t>
            </a:r>
          </a:p>
          <a:p>
            <a:r>
              <a:rPr lang="en-US" dirty="0"/>
              <a:t>2. Long range dependencies.</a:t>
            </a:r>
          </a:p>
          <a:p>
            <a:pPr marL="0" indent="0">
              <a:buNone/>
            </a:pPr>
            <a:r>
              <a:rPr lang="en-US" sz="4400" b="1" u="sng" dirty="0">
                <a:solidFill>
                  <a:srgbClr val="FF0000"/>
                </a:solidFill>
              </a:rPr>
              <a:t>Disadvantages of Transformers :</a:t>
            </a:r>
          </a:p>
          <a:p>
            <a:pPr marL="0" indent="0">
              <a:buNone/>
            </a:pPr>
            <a:r>
              <a:rPr lang="en-US" sz="4400" dirty="0"/>
              <a:t> </a:t>
            </a:r>
            <a:r>
              <a:rPr lang="en-US" dirty="0"/>
              <a:t>1. Quadratic complexity.</a:t>
            </a:r>
          </a:p>
          <a:p>
            <a:pPr marL="0" indent="0">
              <a:buNone/>
            </a:pPr>
            <a:r>
              <a:rPr lang="en-US" dirty="0"/>
              <a:t>      High memory consumption.</a:t>
            </a:r>
          </a:p>
          <a:p>
            <a:pPr marL="0" indent="0">
              <a:buNone/>
            </a:pPr>
            <a:r>
              <a:rPr lang="en-US" dirty="0"/>
              <a:t> 2. Requires positional encoding.</a:t>
            </a:r>
          </a:p>
          <a:p>
            <a:pPr marL="0" indent="0">
              <a:buNone/>
            </a:pPr>
            <a:endParaRPr lang="en-US" dirty="0"/>
          </a:p>
        </p:txBody>
      </p:sp>
    </p:spTree>
    <p:extLst>
      <p:ext uri="{BB962C8B-B14F-4D97-AF65-F5344CB8AC3E}">
        <p14:creationId xmlns:p14="http://schemas.microsoft.com/office/powerpoint/2010/main" val="2520292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FCB8-81E5-2153-DEF3-112F266B953C}"/>
              </a:ext>
            </a:extLst>
          </p:cNvPr>
          <p:cNvSpPr>
            <a:spLocks noGrp="1"/>
          </p:cNvSpPr>
          <p:nvPr>
            <p:ph type="title"/>
          </p:nvPr>
        </p:nvSpPr>
        <p:spPr/>
        <p:txBody>
          <a:bodyPr/>
          <a:lstStyle/>
          <a:p>
            <a:r>
              <a:rPr lang="en-US" b="1" u="sng" dirty="0">
                <a:solidFill>
                  <a:srgbClr val="FF0000"/>
                </a:solidFill>
              </a:rPr>
              <a:t>References</a:t>
            </a:r>
          </a:p>
        </p:txBody>
      </p:sp>
      <p:sp>
        <p:nvSpPr>
          <p:cNvPr id="3" name="Content Placeholder 2">
            <a:extLst>
              <a:ext uri="{FF2B5EF4-FFF2-40B4-BE49-F238E27FC236}">
                <a16:creationId xmlns:a16="http://schemas.microsoft.com/office/drawing/2014/main" id="{3E07F176-852D-5910-9F5B-8408AFC5D292}"/>
              </a:ext>
            </a:extLst>
          </p:cNvPr>
          <p:cNvSpPr>
            <a:spLocks noGrp="1"/>
          </p:cNvSpPr>
          <p:nvPr>
            <p:ph idx="1"/>
          </p:nvPr>
        </p:nvSpPr>
        <p:spPr/>
        <p:txBody>
          <a:bodyPr/>
          <a:lstStyle/>
          <a:p>
            <a:r>
              <a:rPr lang="en-US" dirty="0"/>
              <a:t>1.  </a:t>
            </a:r>
            <a:r>
              <a:rPr lang="en-US" b="1" i="1" dirty="0"/>
              <a:t>Attention Is All You Need</a:t>
            </a:r>
            <a:r>
              <a:rPr lang="en-US" dirty="0"/>
              <a:t> by Ashish Vaswani, Noam Shazeer, Niki Parmar, Jakob Uszkoreit, Llion James, Aidan N. Gomez, Lukasz Kaiser, Illia Polosukhin</a:t>
            </a:r>
          </a:p>
          <a:p>
            <a:r>
              <a:rPr lang="en-US" dirty="0"/>
              <a:t>2. </a:t>
            </a:r>
            <a:r>
              <a:rPr lang="en-US" b="1" i="1" dirty="0"/>
              <a:t>The Illustrated Transformer</a:t>
            </a:r>
            <a:r>
              <a:rPr lang="en-US" dirty="0"/>
              <a:t> by Jay Alammar</a:t>
            </a:r>
          </a:p>
        </p:txBody>
      </p:sp>
    </p:spTree>
    <p:extLst>
      <p:ext uri="{BB962C8B-B14F-4D97-AF65-F5344CB8AC3E}">
        <p14:creationId xmlns:p14="http://schemas.microsoft.com/office/powerpoint/2010/main" val="2763939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DF252F-E3AD-B4A3-9B96-261D8DD66ECA}"/>
              </a:ext>
            </a:extLst>
          </p:cNvPr>
          <p:cNvSpPr>
            <a:spLocks noGrp="1"/>
          </p:cNvSpPr>
          <p:nvPr>
            <p:ph idx="1"/>
          </p:nvPr>
        </p:nvSpPr>
        <p:spPr/>
        <p:txBody>
          <a:bodyPr>
            <a:normAutofit/>
          </a:bodyPr>
          <a:lstStyle/>
          <a:p>
            <a:pPr marL="0" indent="0">
              <a:buNone/>
            </a:pPr>
            <a:r>
              <a:rPr lang="en-US" sz="8800" dirty="0">
                <a:solidFill>
                  <a:srgbClr val="FF0000"/>
                </a:solidFill>
              </a:rPr>
              <a:t>           THANK YOU</a:t>
            </a:r>
          </a:p>
        </p:txBody>
      </p:sp>
    </p:spTree>
    <p:extLst>
      <p:ext uri="{BB962C8B-B14F-4D97-AF65-F5344CB8AC3E}">
        <p14:creationId xmlns:p14="http://schemas.microsoft.com/office/powerpoint/2010/main" val="1560940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184</TotalTime>
  <Words>1383</Words>
  <Application>Microsoft Office PowerPoint</Application>
  <PresentationFormat>Widescreen</PresentationFormat>
  <Paragraphs>116</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Helvetica</vt:lpstr>
      <vt:lpstr>Office Theme</vt:lpstr>
      <vt:lpstr>Attention Is All You Need</vt:lpstr>
      <vt:lpstr>Introduction</vt:lpstr>
      <vt:lpstr>Example</vt:lpstr>
      <vt:lpstr>  A High-Level Look In machine translation application, it would take a sentence in one language and output its translation in another.</vt:lpstr>
      <vt:lpstr>Inside the transformer model, the are two components : Encoder and Decoder</vt:lpstr>
      <vt:lpstr>The encoding and decoding component is a stack of 6 encoders. </vt:lpstr>
      <vt:lpstr>Input Embeddings  Words are converted to vectors. </vt:lpstr>
      <vt:lpstr>Positional Encoding</vt:lpstr>
      <vt:lpstr>Self attention</vt:lpstr>
      <vt:lpstr>Scaled Dot Product Attention</vt:lpstr>
      <vt:lpstr>Multi-Head Attention</vt:lpstr>
      <vt:lpstr>Multi-Head Attention</vt:lpstr>
      <vt:lpstr>Feed forward network</vt:lpstr>
      <vt:lpstr>Residual connections and Layer Normalization</vt:lpstr>
      <vt:lpstr>Complete Encoder Structure</vt:lpstr>
      <vt:lpstr>Decoder Layer</vt:lpstr>
      <vt:lpstr>Decoder Layer</vt:lpstr>
      <vt:lpstr>Decoder Layer</vt:lpstr>
      <vt:lpstr>Decoder Layer</vt:lpstr>
      <vt:lpstr>The Final Linear and Softmax Layer </vt:lpstr>
      <vt:lpstr>Training Details</vt:lpstr>
      <vt:lpstr>Experimental Results</vt:lpstr>
      <vt:lpstr>Advantages of Transformers :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Aruddha Basu</dc:creator>
  <cp:lastModifiedBy>Rahul Tripathy</cp:lastModifiedBy>
  <cp:revision>1</cp:revision>
  <dcterms:created xsi:type="dcterms:W3CDTF">2026-06-04T10:42:52Z</dcterms:created>
  <dcterms:modified xsi:type="dcterms:W3CDTF">2026-06-04T13:47:36Z</dcterms:modified>
</cp:coreProperties>
</file>