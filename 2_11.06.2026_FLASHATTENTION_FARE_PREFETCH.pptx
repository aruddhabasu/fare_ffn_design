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5" r:id="rId10"/>
    <p:sldId id="271" r:id="rId11"/>
    <p:sldId id="267" r:id="rId12"/>
    <p:sldId id="266" r:id="rId13"/>
    <p:sldId id="272" r:id="rId14"/>
    <p:sldId id="273" r:id="rId15"/>
    <p:sldId id="274" r:id="rId16"/>
    <p:sldId id="275" r:id="rId17"/>
    <p:sldId id="268" r:id="rId18"/>
    <p:sldId id="269" r:id="rId19"/>
    <p:sldId id="270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FBD6"/>
    <a:srgbClr val="B6A8B8"/>
    <a:srgbClr val="FD8481"/>
    <a:srgbClr val="FDC281"/>
    <a:srgbClr val="8EE4F0"/>
    <a:srgbClr val="C3B7C5"/>
    <a:srgbClr val="82A2FC"/>
    <a:srgbClr val="FF5050"/>
    <a:srgbClr val="E98CFC"/>
    <a:srgbClr val="C7D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5ADA-C8AB-8EFF-DABC-89E5E5BC1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30CFF-6D70-3389-C04D-3818ACD0C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2958B-093D-2351-B76A-8C83C1B1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0F881-0B75-6483-B518-68075C22E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A07EF-FD93-31DB-5B09-7E5399BD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1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B5DA-788C-D0FF-670A-EA8C24F0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FA42B-4A1C-D3D2-9E8D-1BC2D611E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DA0BB-0616-4A9D-F607-F8730F47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158D6-AFA4-07C6-7BF9-D192AEEA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AFF9C-657D-274E-E46C-E8666BE5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77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16047-F95C-3699-4388-85C8771B0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1A017-E853-66CF-6BBE-9210B7F5D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73304-DB17-121B-1CD5-56AE4B3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595BD-2350-EEA0-07DB-C4D8E553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ED2BE-78F7-794C-0685-CDF82357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96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36106-6D53-4819-1EB8-038316B7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C4717-39BE-CDF3-2E85-670272D8C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4A5BA-C21E-6448-6B8E-E32767E9F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62C8B-A4A7-C5F8-4C73-E6CC9FEC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A8B3A-ADD2-C4E5-9E28-FC2D04B9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320CD-97F1-D049-69D2-AB1546F9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9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9CD1-C8CC-42F0-934F-0277C1ED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0CE9B-A974-9FEF-24B8-E8335CF04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27592-8EEA-3CFE-FEA1-8407C806F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11592-5145-803D-2BE4-618E01823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29A68-6A24-075A-183C-B33F1E93D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72995-B42A-EBA3-BFE5-1C474A8D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72F02-84C2-F806-284E-F8F50EF3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41AF9-3C65-6758-CB64-F8DA0C5A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71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A3AE-C248-C758-B600-CE49A52E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BDFF5-7622-FF55-6405-B158587E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087CA-D5D9-0F93-32A8-D8E82F96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08D6D-61D3-D4D1-BED6-D05C230C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4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C16A9-F5DF-1B6F-0011-7A04BCF9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9A16D-63F0-60EA-94ED-CD299C44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B0586-1296-3D60-A399-4775D7A2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52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18708-9A03-E839-E86D-76F8C315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14A56-6B91-BE5B-FF4E-1A4A7137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CD942-1DB4-6A66-2785-D4287512B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53CB0-FCC5-E4A7-B538-3D2B3520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549D6-E601-C499-5AE7-A3A6D7A8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BC04F-AFE5-D7AA-EB68-9B2866FC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955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91FEB-3A1A-3F61-2CCB-722458DA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512FC-E22E-1547-8C83-2FC3CCF2BE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57997-CF5A-607F-F594-369227B4B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44C6A-816D-BD20-17CD-F82823CC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84406-2CB3-63D8-82D6-B1FD8564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94B7B-599C-D1C7-177A-582B9BE0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990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4F51-57FC-3370-C18A-BE4B17FE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6CF51-12B2-EC84-B844-8BD700806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39D0C-D4D6-F1FA-C146-27954D99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19869-1DD6-6EF9-9680-13BF525C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7393A-228E-296E-AB1E-12694950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6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CE0CCB-3156-9E70-8416-88E0FDD32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AB0A5-AF21-9849-F3B8-338294A7E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82C5-D341-69F6-C829-90EBEE41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5E95A-8C9D-C6C1-EB8C-EC9E60DB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4295F-D4C1-7611-B240-D0CD9FAD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55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2CD15-E9E8-08F9-B5A6-296D837E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896EE-532E-87CF-EA56-B10F26D70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CEC65-D3CA-34D7-3704-753E95FEE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1AE3D-A949-446B-9A84-C0257F968390}" type="datetimeFigureOut">
              <a:rPr lang="en-US" smtClean="0"/>
              <a:t>11-Jun-26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52D38-BDD0-22A8-941D-52A5EF822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2B29F-F9A1-2FAE-96F3-06A65E239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37859-A365-4C4A-A4B3-848A002FE6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83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6F60-9141-2035-16A8-489265E497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FLASHATTENTION: Fast and Memory-Efficient Exact Attention with IO-Awareness</a:t>
            </a:r>
          </a:p>
        </p:txBody>
      </p:sp>
    </p:spTree>
    <p:extLst>
      <p:ext uri="{BB962C8B-B14F-4D97-AF65-F5344CB8AC3E}">
        <p14:creationId xmlns:p14="http://schemas.microsoft.com/office/powerpoint/2010/main" val="68304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E2B5-4B54-B58E-2BB5-41DE3BB7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90033-84B0-48E3-62B1-51F791770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time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memory complexity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self-attention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quadratic</a:t>
            </a:r>
            <a:r>
              <a:rPr lang="en-US" dirty="0"/>
              <a:t> in sequence length.</a:t>
            </a:r>
          </a:p>
          <a:p>
            <a:r>
              <a:rPr lang="en-US" dirty="0"/>
              <a:t>Solution : </a:t>
            </a:r>
            <a:r>
              <a:rPr lang="en-US" dirty="0">
                <a:solidFill>
                  <a:srgbClr val="FF0000"/>
                </a:solidFill>
              </a:rPr>
              <a:t>FLASHATTENTION</a:t>
            </a:r>
            <a:r>
              <a:rPr lang="en-US" dirty="0"/>
              <a:t> : computes </a:t>
            </a:r>
            <a:r>
              <a:rPr lang="en-US" dirty="0">
                <a:solidFill>
                  <a:srgbClr val="FF0000"/>
                </a:solidFill>
              </a:rPr>
              <a:t>exact attention </a:t>
            </a:r>
            <a:r>
              <a:rPr lang="en-US" dirty="0"/>
              <a:t>with far </a:t>
            </a:r>
            <a:r>
              <a:rPr lang="en-US" dirty="0">
                <a:solidFill>
                  <a:srgbClr val="FF0000"/>
                </a:solidFill>
              </a:rPr>
              <a:t>fewer memory accesses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u="sng" dirty="0"/>
              <a:t>Goal</a:t>
            </a:r>
            <a:r>
              <a:rPr lang="en-US" dirty="0"/>
              <a:t> : 1. </a:t>
            </a:r>
            <a:r>
              <a:rPr lang="en-US" dirty="0">
                <a:solidFill>
                  <a:srgbClr val="FF0000"/>
                </a:solidFill>
              </a:rPr>
              <a:t>Compute Softmax </a:t>
            </a:r>
            <a:r>
              <a:rPr lang="en-US" dirty="0"/>
              <a:t>operation </a:t>
            </a:r>
            <a:r>
              <a:rPr lang="en-US" dirty="0">
                <a:solidFill>
                  <a:srgbClr val="FF0000"/>
                </a:solidFill>
              </a:rPr>
              <a:t>without accessing whole i/p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u="sng" dirty="0"/>
              <a:t>Solution</a:t>
            </a:r>
            <a:r>
              <a:rPr lang="en-US" dirty="0"/>
              <a:t> :  </a:t>
            </a:r>
            <a:r>
              <a:rPr lang="en-US" dirty="0">
                <a:solidFill>
                  <a:srgbClr val="FF0000"/>
                </a:solidFill>
              </a:rPr>
              <a:t>Tiling</a:t>
            </a:r>
            <a:r>
              <a:rPr lang="en-US" dirty="0"/>
              <a:t> : </a:t>
            </a:r>
            <a:r>
              <a:rPr lang="en-US" dirty="0">
                <a:solidFill>
                  <a:srgbClr val="FF0000"/>
                </a:solidFill>
              </a:rPr>
              <a:t>Incrementally performing softmax </a:t>
            </a:r>
            <a:r>
              <a:rPr lang="en-US" dirty="0"/>
              <a:t>in several passes by splitting the i/p into different blocks.</a:t>
            </a:r>
          </a:p>
          <a:p>
            <a:pPr marL="0" indent="0">
              <a:buNone/>
            </a:pPr>
            <a:r>
              <a:rPr lang="en-US" dirty="0"/>
              <a:t> 2. </a:t>
            </a:r>
            <a:r>
              <a:rPr lang="en-US" dirty="0">
                <a:solidFill>
                  <a:srgbClr val="FF0000"/>
                </a:solidFill>
              </a:rPr>
              <a:t>Not storing intermediate attention matrix </a:t>
            </a:r>
            <a:r>
              <a:rPr lang="en-US" dirty="0"/>
              <a:t>for backward pass. </a:t>
            </a:r>
          </a:p>
          <a:p>
            <a:pPr marL="0" indent="0">
              <a:buNone/>
            </a:pPr>
            <a:r>
              <a:rPr lang="en-US" b="1" u="sng" dirty="0"/>
              <a:t>Solution</a:t>
            </a:r>
            <a:r>
              <a:rPr lang="en-US" dirty="0"/>
              <a:t> : </a:t>
            </a:r>
            <a:r>
              <a:rPr lang="en-US" dirty="0">
                <a:solidFill>
                  <a:srgbClr val="FF0000"/>
                </a:solidFill>
              </a:rPr>
              <a:t>Store Softmax normalization factor </a:t>
            </a:r>
            <a:r>
              <a:rPr lang="en-US" dirty="0"/>
              <a:t>to recompute softmax in backward pass.</a:t>
            </a:r>
          </a:p>
        </p:txBody>
      </p:sp>
    </p:spTree>
    <p:extLst>
      <p:ext uri="{BB962C8B-B14F-4D97-AF65-F5344CB8AC3E}">
        <p14:creationId xmlns:p14="http://schemas.microsoft.com/office/powerpoint/2010/main" val="62596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F067-A9AC-893D-7ECC-8BC9DFEA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661716-B4B7-A2C1-CB72-F7B7981EB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0496" y="2234160"/>
            <a:ext cx="5611008" cy="3534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2813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362F-FA63-D4E1-DAD8-AEAABAC6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37" y="3429000"/>
            <a:ext cx="10515600" cy="1325563"/>
          </a:xfrm>
        </p:spPr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Advantages of FLASHATTENTION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4CD5-9812-F15B-33D5-D0BA8E046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53893"/>
            <a:ext cx="10515600" cy="1623070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>
                <a:solidFill>
                  <a:srgbClr val="FF0000"/>
                </a:solidFill>
              </a:rPr>
              <a:t>More FLOP </a:t>
            </a:r>
            <a:r>
              <a:rPr lang="en-US" dirty="0"/>
              <a:t>count.</a:t>
            </a:r>
          </a:p>
          <a:p>
            <a:r>
              <a:rPr lang="en-US" dirty="0"/>
              <a:t>2. Far </a:t>
            </a:r>
            <a:r>
              <a:rPr lang="en-US" dirty="0">
                <a:solidFill>
                  <a:srgbClr val="FF0000"/>
                </a:solidFill>
              </a:rPr>
              <a:t>fewer memory accesses </a:t>
            </a:r>
            <a:r>
              <a:rPr lang="en-US" dirty="0"/>
              <a:t>than self attention.</a:t>
            </a:r>
          </a:p>
          <a:p>
            <a:r>
              <a:rPr lang="en-US" dirty="0"/>
              <a:t>3. </a:t>
            </a:r>
            <a:r>
              <a:rPr lang="en-US" dirty="0">
                <a:solidFill>
                  <a:srgbClr val="FF0000"/>
                </a:solidFill>
              </a:rPr>
              <a:t>Faster </a:t>
            </a:r>
            <a:r>
              <a:rPr lang="en-US" dirty="0"/>
              <a:t>in wall-clock time.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A9E33-60AD-A3A0-CC71-5C0602FA151A}"/>
              </a:ext>
            </a:extLst>
          </p:cNvPr>
          <p:cNvSpPr txBox="1"/>
          <p:nvPr/>
        </p:nvSpPr>
        <p:spPr>
          <a:xfrm>
            <a:off x="6563761" y="615636"/>
            <a:ext cx="3014801" cy="369332"/>
          </a:xfrm>
          <a:prstGeom prst="rect">
            <a:avLst/>
          </a:prstGeom>
          <a:solidFill>
            <a:srgbClr val="64FCF8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b="1" dirty="0"/>
              <a:t>Divide matrices into tiles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7733EA-E98E-FDFF-4A59-21B8AA38C64F}"/>
              </a:ext>
            </a:extLst>
          </p:cNvPr>
          <p:cNvCxnSpPr>
            <a:cxnSpLocks/>
          </p:cNvCxnSpPr>
          <p:nvPr/>
        </p:nvCxnSpPr>
        <p:spPr>
          <a:xfrm>
            <a:off x="7956488" y="984968"/>
            <a:ext cx="6035" cy="201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6B2B561-8ADE-6C11-17BB-6F497304FA38}"/>
              </a:ext>
            </a:extLst>
          </p:cNvPr>
          <p:cNvSpPr txBox="1"/>
          <p:nvPr/>
        </p:nvSpPr>
        <p:spPr>
          <a:xfrm>
            <a:off x="6174460" y="1169634"/>
            <a:ext cx="4113293" cy="369332"/>
          </a:xfrm>
          <a:prstGeom prst="rect">
            <a:avLst/>
          </a:prstGeom>
          <a:solidFill>
            <a:srgbClr val="FDC28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b="1" dirty="0"/>
              <a:t>Computation on each tile separately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94BE1B-5A58-1381-685E-DBE04D8FDD91}"/>
              </a:ext>
            </a:extLst>
          </p:cNvPr>
          <p:cNvSpPr txBox="1"/>
          <p:nvPr/>
        </p:nvSpPr>
        <p:spPr>
          <a:xfrm>
            <a:off x="6601771" y="1703838"/>
            <a:ext cx="2689676" cy="369332"/>
          </a:xfrm>
          <a:prstGeom prst="rect">
            <a:avLst/>
          </a:prstGeom>
          <a:solidFill>
            <a:srgbClr val="E98CF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b="1" dirty="0"/>
              <a:t>Error introduced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DD72E-E0AC-0B8B-9F8B-5CD660C7F9DA}"/>
              </a:ext>
            </a:extLst>
          </p:cNvPr>
          <p:cNvSpPr txBox="1"/>
          <p:nvPr/>
        </p:nvSpPr>
        <p:spPr>
          <a:xfrm>
            <a:off x="6341356" y="2348078"/>
            <a:ext cx="3363365" cy="646331"/>
          </a:xfrm>
          <a:prstGeom prst="rect">
            <a:avLst/>
          </a:prstGeom>
          <a:solidFill>
            <a:srgbClr val="C7DF9F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Additional computation  to compensate error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7C2371-2CA9-F283-037D-267C7FFBF68E}"/>
              </a:ext>
            </a:extLst>
          </p:cNvPr>
          <p:cNvCxnSpPr/>
          <p:nvPr/>
        </p:nvCxnSpPr>
        <p:spPr>
          <a:xfrm>
            <a:off x="7962523" y="1514404"/>
            <a:ext cx="0" cy="201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F28C41-E5A9-7CFC-12FB-9D1270A0D989}"/>
              </a:ext>
            </a:extLst>
          </p:cNvPr>
          <p:cNvCxnSpPr/>
          <p:nvPr/>
        </p:nvCxnSpPr>
        <p:spPr>
          <a:xfrm>
            <a:off x="7956488" y="2096840"/>
            <a:ext cx="0" cy="201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42060B-4672-DC37-5DA2-790ECD8342A5}"/>
              </a:ext>
            </a:extLst>
          </p:cNvPr>
          <p:cNvCxnSpPr/>
          <p:nvPr/>
        </p:nvCxnSpPr>
        <p:spPr>
          <a:xfrm>
            <a:off x="7962523" y="984968"/>
            <a:ext cx="0" cy="201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27860CB-DB5A-5F22-085D-FA0DD0178222}"/>
              </a:ext>
            </a:extLst>
          </p:cNvPr>
          <p:cNvSpPr txBox="1"/>
          <p:nvPr/>
        </p:nvSpPr>
        <p:spPr>
          <a:xfrm>
            <a:off x="1430448" y="984968"/>
            <a:ext cx="3121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Main Idea</a:t>
            </a:r>
          </a:p>
        </p:txBody>
      </p:sp>
    </p:spTree>
    <p:extLst>
      <p:ext uri="{BB962C8B-B14F-4D97-AF65-F5344CB8AC3E}">
        <p14:creationId xmlns:p14="http://schemas.microsoft.com/office/powerpoint/2010/main" val="47329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A4CA-2ED0-8D63-6F6D-4DF40765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231" y="184084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FARE : A Fine-grained Pipelined Reconfigurable FlashAttention Kernel</a:t>
            </a:r>
          </a:p>
        </p:txBody>
      </p:sp>
    </p:spTree>
    <p:extLst>
      <p:ext uri="{BB962C8B-B14F-4D97-AF65-F5344CB8AC3E}">
        <p14:creationId xmlns:p14="http://schemas.microsoft.com/office/powerpoint/2010/main" val="52813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C73A-1499-5AF5-A313-A7C6BEF8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Introduction</a:t>
            </a:r>
            <a:br>
              <a:rPr lang="en-US" b="1" u="sng" dirty="0">
                <a:solidFill>
                  <a:srgbClr val="FF0000"/>
                </a:solidFill>
              </a:rPr>
            </a:b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547B-DD9A-F700-EAFD-08826C8CC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FlashAttention </a:t>
            </a:r>
            <a:r>
              <a:rPr lang="en-US" dirty="0">
                <a:solidFill>
                  <a:srgbClr val="FF0000"/>
                </a:solidFill>
              </a:rPr>
              <a:t>lacks reconfigurability</a:t>
            </a:r>
            <a:r>
              <a:rPr lang="en-US" dirty="0"/>
              <a:t>.</a:t>
            </a:r>
          </a:p>
          <a:p>
            <a:r>
              <a:rPr lang="en-US" dirty="0"/>
              <a:t>Due to </a:t>
            </a:r>
            <a:r>
              <a:rPr lang="en-US" dirty="0">
                <a:solidFill>
                  <a:srgbClr val="FF0000"/>
                </a:solidFill>
              </a:rPr>
              <a:t>hardware limitations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different stages </a:t>
            </a:r>
            <a:r>
              <a:rPr lang="en-US" dirty="0"/>
              <a:t>of attention mechanism </a:t>
            </a:r>
            <a:r>
              <a:rPr lang="en-US" dirty="0">
                <a:solidFill>
                  <a:srgbClr val="FF0000"/>
                </a:solidFill>
              </a:rPr>
              <a:t>cannot be executed in parallel </a:t>
            </a:r>
            <a:r>
              <a:rPr lang="en-US" dirty="0"/>
              <a:t>for different inputs by pipelining.</a:t>
            </a:r>
          </a:p>
          <a:p>
            <a:r>
              <a:rPr lang="en-US" dirty="0">
                <a:solidFill>
                  <a:srgbClr val="FF0000"/>
                </a:solidFill>
              </a:rPr>
              <a:t>FARE</a:t>
            </a:r>
            <a:r>
              <a:rPr lang="en-US" dirty="0"/>
              <a:t> allows us to do that.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A00F-4ADD-69B1-1222-24EA09152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Overview of FARE for FlashAttention Execution and related Equations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7BFA6B-B07A-D4F9-8E72-31ECC5D3F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404" y="1690688"/>
            <a:ext cx="5596501" cy="29579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E17CE-55F5-D031-F6A3-C34F8D8EE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230" y="2112228"/>
            <a:ext cx="4115374" cy="21148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6637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356A82-E050-90AA-3290-E88B2D704C58}"/>
              </a:ext>
            </a:extLst>
          </p:cNvPr>
          <p:cNvSpPr txBox="1"/>
          <p:nvPr/>
        </p:nvSpPr>
        <p:spPr>
          <a:xfrm>
            <a:off x="45267" y="2064653"/>
            <a:ext cx="1511929" cy="900246"/>
          </a:xfrm>
          <a:prstGeom prst="rect">
            <a:avLst/>
          </a:prstGeom>
          <a:solidFill>
            <a:srgbClr val="C7DF9F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Q Matrix of dimension N X d is divided into Tr number of blocks, each with dimension Br X 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7048B-23E1-4ED1-82D1-58330F77F967}"/>
              </a:ext>
            </a:extLst>
          </p:cNvPr>
          <p:cNvSpPr txBox="1"/>
          <p:nvPr/>
        </p:nvSpPr>
        <p:spPr>
          <a:xfrm>
            <a:off x="2299580" y="854622"/>
            <a:ext cx="1774479" cy="577081"/>
          </a:xfrm>
          <a:prstGeom prst="rect">
            <a:avLst/>
          </a:prstGeom>
          <a:solidFill>
            <a:srgbClr val="FDC28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K matrix of dimension N X d is divided into Tc blocks each with dimension Bc X 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1B8C8-9646-F846-3188-34A2B2359844}"/>
              </a:ext>
            </a:extLst>
          </p:cNvPr>
          <p:cNvSpPr txBox="1"/>
          <p:nvPr/>
        </p:nvSpPr>
        <p:spPr>
          <a:xfrm>
            <a:off x="2580240" y="2387818"/>
            <a:ext cx="977774" cy="253916"/>
          </a:xfrm>
          <a:prstGeom prst="rect">
            <a:avLst/>
          </a:prstGeom>
          <a:solidFill>
            <a:srgbClr val="8EE4F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Systolic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C8FBD-B0F7-5B55-E97D-93E59C14434A}"/>
              </a:ext>
            </a:extLst>
          </p:cNvPr>
          <p:cNvSpPr txBox="1"/>
          <p:nvPr/>
        </p:nvSpPr>
        <p:spPr>
          <a:xfrm>
            <a:off x="2580240" y="1638099"/>
            <a:ext cx="977774" cy="253916"/>
          </a:xfrm>
          <a:prstGeom prst="rect">
            <a:avLst/>
          </a:prstGeom>
          <a:solidFill>
            <a:srgbClr val="E98CF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Transpose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9AE9A7-FEA4-6DD5-F20A-C4ADB7542AEA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557196" y="2514776"/>
            <a:ext cx="10230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E09030-F91D-EA0C-6431-391C79B203A7}"/>
              </a:ext>
            </a:extLst>
          </p:cNvPr>
          <p:cNvCxnSpPr>
            <a:cxnSpLocks/>
          </p:cNvCxnSpPr>
          <p:nvPr/>
        </p:nvCxnSpPr>
        <p:spPr>
          <a:xfrm flipH="1">
            <a:off x="3069128" y="1431703"/>
            <a:ext cx="1" cy="2241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D72D45-E533-1D5F-83C6-3A5E3D6D2058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>
            <a:off x="3069127" y="1892015"/>
            <a:ext cx="0" cy="495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FF3C59-EBA4-5367-32FF-FE510EC2E859}"/>
              </a:ext>
            </a:extLst>
          </p:cNvPr>
          <p:cNvCxnSpPr/>
          <p:nvPr/>
        </p:nvCxnSpPr>
        <p:spPr>
          <a:xfrm>
            <a:off x="3558014" y="2514776"/>
            <a:ext cx="10230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151CA3D-5D3F-778E-D421-6143E8F1F739}"/>
              </a:ext>
            </a:extLst>
          </p:cNvPr>
          <p:cNvSpPr txBox="1"/>
          <p:nvPr/>
        </p:nvSpPr>
        <p:spPr>
          <a:xfrm>
            <a:off x="3526462" y="1998025"/>
            <a:ext cx="1185993" cy="253916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Sij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202236-66A8-AB06-228A-5F87521C240E}"/>
              </a:ext>
            </a:extLst>
          </p:cNvPr>
          <p:cNvSpPr txBox="1"/>
          <p:nvPr/>
        </p:nvSpPr>
        <p:spPr>
          <a:xfrm>
            <a:off x="4584058" y="2387818"/>
            <a:ext cx="977774" cy="253916"/>
          </a:xfrm>
          <a:prstGeom prst="rect">
            <a:avLst/>
          </a:prstGeom>
          <a:solidFill>
            <a:srgbClr val="8EE4F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RowMax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05AC0E-E256-EF41-4487-699FE2B8D825}"/>
              </a:ext>
            </a:extLst>
          </p:cNvPr>
          <p:cNvCxnSpPr/>
          <p:nvPr/>
        </p:nvCxnSpPr>
        <p:spPr>
          <a:xfrm>
            <a:off x="5558832" y="2514776"/>
            <a:ext cx="10230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E4233F-99CB-8E45-DC0F-238014454DF4}"/>
              </a:ext>
            </a:extLst>
          </p:cNvPr>
          <p:cNvSpPr txBox="1"/>
          <p:nvPr/>
        </p:nvSpPr>
        <p:spPr>
          <a:xfrm>
            <a:off x="6633170" y="2424246"/>
            <a:ext cx="977774" cy="253916"/>
          </a:xfrm>
          <a:prstGeom prst="rect">
            <a:avLst/>
          </a:prstGeom>
          <a:solidFill>
            <a:srgbClr val="8EE4F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RowSub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6BA256E-C4A6-D44C-394A-04E0A8681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121" y="2019574"/>
            <a:ext cx="1152686" cy="2000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C0E0C00-FDAE-9893-9C6A-18FC0D3CF8C1}"/>
              </a:ext>
            </a:extLst>
          </p:cNvPr>
          <p:cNvSpPr txBox="1"/>
          <p:nvPr/>
        </p:nvSpPr>
        <p:spPr>
          <a:xfrm>
            <a:off x="8093807" y="2422065"/>
            <a:ext cx="977774" cy="253916"/>
          </a:xfrm>
          <a:prstGeom prst="rect">
            <a:avLst/>
          </a:prstGeom>
          <a:solidFill>
            <a:srgbClr val="8EE4F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RowExp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5701F6D-6DDD-4DDA-100B-B3AFB44038C5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7610944" y="2549023"/>
            <a:ext cx="482863" cy="2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2C1BEA0-9747-C398-30DD-1AE8DF6F6C84}"/>
              </a:ext>
            </a:extLst>
          </p:cNvPr>
          <p:cNvCxnSpPr/>
          <p:nvPr/>
        </p:nvCxnSpPr>
        <p:spPr>
          <a:xfrm>
            <a:off x="9071581" y="2511091"/>
            <a:ext cx="10230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868FEF34-1903-03F7-E8B8-99AE2907A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581" y="1807442"/>
            <a:ext cx="1190791" cy="25721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FD6E813-1822-9DA7-CA0E-C839CEBBB9E1}"/>
              </a:ext>
            </a:extLst>
          </p:cNvPr>
          <p:cNvSpPr txBox="1"/>
          <p:nvPr/>
        </p:nvSpPr>
        <p:spPr>
          <a:xfrm>
            <a:off x="10145917" y="2426975"/>
            <a:ext cx="977774" cy="253916"/>
          </a:xfrm>
          <a:prstGeom prst="rect">
            <a:avLst/>
          </a:prstGeom>
          <a:solidFill>
            <a:srgbClr val="8EE4F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RowSum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ED34F9-1EED-36A1-F378-DBCF27A42DDF}"/>
              </a:ext>
            </a:extLst>
          </p:cNvPr>
          <p:cNvSpPr txBox="1"/>
          <p:nvPr/>
        </p:nvSpPr>
        <p:spPr>
          <a:xfrm>
            <a:off x="3571393" y="2218013"/>
            <a:ext cx="977774" cy="253916"/>
          </a:xfrm>
          <a:prstGeom prst="rect">
            <a:avLst/>
          </a:prstGeom>
          <a:solidFill>
            <a:srgbClr val="82A2F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Dim : Br X Bc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5C1D1C-C2FC-D243-A53F-D3D95394F0B8}"/>
              </a:ext>
            </a:extLst>
          </p:cNvPr>
          <p:cNvSpPr txBox="1"/>
          <p:nvPr/>
        </p:nvSpPr>
        <p:spPr>
          <a:xfrm>
            <a:off x="5649055" y="2206686"/>
            <a:ext cx="977774" cy="253916"/>
          </a:xfrm>
          <a:prstGeom prst="rect">
            <a:avLst/>
          </a:prstGeom>
          <a:solidFill>
            <a:srgbClr val="82A2F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Dim : Br X1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342786-109B-FF0E-CB97-0E8EC72EEDB5}"/>
              </a:ext>
            </a:extLst>
          </p:cNvPr>
          <p:cNvSpPr txBox="1"/>
          <p:nvPr/>
        </p:nvSpPr>
        <p:spPr>
          <a:xfrm>
            <a:off x="7417506" y="2143971"/>
            <a:ext cx="977774" cy="253916"/>
          </a:xfrm>
          <a:prstGeom prst="rect">
            <a:avLst/>
          </a:prstGeom>
          <a:solidFill>
            <a:srgbClr val="82A2F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Dim : Br X Bc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A08978-2DE8-63AB-75E1-A5064A0F5C5B}"/>
              </a:ext>
            </a:extLst>
          </p:cNvPr>
          <p:cNvSpPr txBox="1"/>
          <p:nvPr/>
        </p:nvSpPr>
        <p:spPr>
          <a:xfrm>
            <a:off x="9094216" y="2121857"/>
            <a:ext cx="977774" cy="253916"/>
          </a:xfrm>
          <a:prstGeom prst="rect">
            <a:avLst/>
          </a:prstGeom>
          <a:solidFill>
            <a:srgbClr val="82A2F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Dim : Br X Bc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CEC491E-00E0-ED9E-9515-A529C0929293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0634804" y="2680891"/>
            <a:ext cx="0" cy="3249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54684F3A-083C-BFC6-4934-05969DE49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5902" y="5092729"/>
            <a:ext cx="1086002" cy="27626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3141479-5E54-73F9-8F23-8B99AB00D186}"/>
              </a:ext>
            </a:extLst>
          </p:cNvPr>
          <p:cNvSpPr txBox="1"/>
          <p:nvPr/>
        </p:nvSpPr>
        <p:spPr>
          <a:xfrm>
            <a:off x="10894130" y="5411717"/>
            <a:ext cx="977774" cy="253916"/>
          </a:xfrm>
          <a:prstGeom prst="rect">
            <a:avLst/>
          </a:prstGeom>
          <a:solidFill>
            <a:srgbClr val="82A2F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Dim : Br X 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0901E4-BA32-CEB2-AE7A-28002D9DF4B0}"/>
              </a:ext>
            </a:extLst>
          </p:cNvPr>
          <p:cNvSpPr/>
          <p:nvPr/>
        </p:nvSpPr>
        <p:spPr>
          <a:xfrm>
            <a:off x="488887" y="3141641"/>
            <a:ext cx="434565" cy="760491"/>
          </a:xfrm>
          <a:prstGeom prst="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756ED71-26D5-C0E2-F93D-0349ED38829F}"/>
              </a:ext>
            </a:extLst>
          </p:cNvPr>
          <p:cNvCxnSpPr>
            <a:stCxn id="51" idx="0"/>
            <a:endCxn id="51" idx="2"/>
          </p:cNvCxnSpPr>
          <p:nvPr/>
        </p:nvCxnSpPr>
        <p:spPr>
          <a:xfrm>
            <a:off x="706170" y="3141641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9F4CC08-AAD1-9BA7-B226-6A88079C235E}"/>
              </a:ext>
            </a:extLst>
          </p:cNvPr>
          <p:cNvCxnSpPr/>
          <p:nvPr/>
        </p:nvCxnSpPr>
        <p:spPr>
          <a:xfrm>
            <a:off x="488887" y="3343636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024EC4-CC89-AFED-E7F2-88F5CA7978BF}"/>
              </a:ext>
            </a:extLst>
          </p:cNvPr>
          <p:cNvCxnSpPr>
            <a:stCxn id="51" idx="1"/>
            <a:endCxn id="51" idx="3"/>
          </p:cNvCxnSpPr>
          <p:nvPr/>
        </p:nvCxnSpPr>
        <p:spPr>
          <a:xfrm>
            <a:off x="488887" y="3521887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856DC1C-DD06-7383-ED8F-FC8ADC1EC7F9}"/>
              </a:ext>
            </a:extLst>
          </p:cNvPr>
          <p:cNvCxnSpPr/>
          <p:nvPr/>
        </p:nvCxnSpPr>
        <p:spPr>
          <a:xfrm>
            <a:off x="488887" y="3730117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F01FE71-EF01-D9F8-AE00-7D0C63A58D75}"/>
              </a:ext>
            </a:extLst>
          </p:cNvPr>
          <p:cNvSpPr txBox="1"/>
          <p:nvPr/>
        </p:nvSpPr>
        <p:spPr>
          <a:xfrm>
            <a:off x="488887" y="4004914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Qi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27384A6-C03A-B82D-2A43-6E8A66A40D5C}"/>
              </a:ext>
            </a:extLst>
          </p:cNvPr>
          <p:cNvCxnSpPr>
            <a:cxnSpLocks/>
          </p:cNvCxnSpPr>
          <p:nvPr/>
        </p:nvCxnSpPr>
        <p:spPr>
          <a:xfrm>
            <a:off x="1050202" y="3141641"/>
            <a:ext cx="0" cy="7604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75EEA0F-2818-8D9C-37F9-A5BE196CA594}"/>
              </a:ext>
            </a:extLst>
          </p:cNvPr>
          <p:cNvCxnSpPr/>
          <p:nvPr/>
        </p:nvCxnSpPr>
        <p:spPr>
          <a:xfrm>
            <a:off x="488887" y="3054674"/>
            <a:ext cx="43456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B728288-6A4A-B554-739A-D7A4633C236A}"/>
              </a:ext>
            </a:extLst>
          </p:cNvPr>
          <p:cNvSpPr txBox="1"/>
          <p:nvPr/>
        </p:nvSpPr>
        <p:spPr>
          <a:xfrm>
            <a:off x="1035125" y="3412842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21EFE8-6704-8C1E-68C0-A67F98C23B39}"/>
              </a:ext>
            </a:extLst>
          </p:cNvPr>
          <p:cNvSpPr txBox="1"/>
          <p:nvPr/>
        </p:nvSpPr>
        <p:spPr>
          <a:xfrm>
            <a:off x="196056" y="2890716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01F127-A18E-7CB6-2212-CB65EFA93E07}"/>
              </a:ext>
            </a:extLst>
          </p:cNvPr>
          <p:cNvSpPr/>
          <p:nvPr/>
        </p:nvSpPr>
        <p:spPr>
          <a:xfrm rot="16200000">
            <a:off x="4674682" y="1131232"/>
            <a:ext cx="434565" cy="760491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07ED9A7-13E4-5E25-A9B1-1B0503B25715}"/>
              </a:ext>
            </a:extLst>
          </p:cNvPr>
          <p:cNvCxnSpPr>
            <a:cxnSpLocks/>
          </p:cNvCxnSpPr>
          <p:nvPr/>
        </p:nvCxnSpPr>
        <p:spPr>
          <a:xfrm rot="16200000">
            <a:off x="4450716" y="1522188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6F7B6B9-462A-5E6E-69A1-B3BC7334EABF}"/>
              </a:ext>
            </a:extLst>
          </p:cNvPr>
          <p:cNvCxnSpPr>
            <a:cxnSpLocks/>
            <a:stCxn id="70" idx="2"/>
          </p:cNvCxnSpPr>
          <p:nvPr/>
        </p:nvCxnSpPr>
        <p:spPr>
          <a:xfrm flipH="1" flipV="1">
            <a:off x="4511719" y="1511476"/>
            <a:ext cx="760491" cy="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73BBDDC-9BB2-E710-FD84-10BCD2FB316B}"/>
              </a:ext>
            </a:extLst>
          </p:cNvPr>
          <p:cNvCxnSpPr>
            <a:cxnSpLocks/>
          </p:cNvCxnSpPr>
          <p:nvPr/>
        </p:nvCxnSpPr>
        <p:spPr>
          <a:xfrm rot="16200000">
            <a:off x="4641953" y="1515376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DC73236-FF97-66F7-EA17-BB90926D2796}"/>
              </a:ext>
            </a:extLst>
          </p:cNvPr>
          <p:cNvSpPr txBox="1"/>
          <p:nvPr/>
        </p:nvSpPr>
        <p:spPr>
          <a:xfrm>
            <a:off x="4544496" y="1739468"/>
            <a:ext cx="629477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Kj^T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422780C-142E-97EE-8381-490F09B3D69F}"/>
              </a:ext>
            </a:extLst>
          </p:cNvPr>
          <p:cNvCxnSpPr>
            <a:cxnSpLocks/>
          </p:cNvCxnSpPr>
          <p:nvPr/>
        </p:nvCxnSpPr>
        <p:spPr>
          <a:xfrm>
            <a:off x="5328716" y="1294192"/>
            <a:ext cx="0" cy="488610"/>
          </a:xfrm>
          <a:prstGeom prst="straightConnector1">
            <a:avLst/>
          </a:prstGeom>
          <a:ln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F2D74A5-0078-E400-B1EB-4C15EE838CD9}"/>
              </a:ext>
            </a:extLst>
          </p:cNvPr>
          <p:cNvCxnSpPr>
            <a:cxnSpLocks/>
          </p:cNvCxnSpPr>
          <p:nvPr/>
        </p:nvCxnSpPr>
        <p:spPr>
          <a:xfrm>
            <a:off x="4511719" y="1178547"/>
            <a:ext cx="760491" cy="0"/>
          </a:xfrm>
          <a:prstGeom prst="straightConnector1">
            <a:avLst/>
          </a:prstGeom>
          <a:ln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B2CA94C-F532-4274-D714-14FAA84A939F}"/>
              </a:ext>
            </a:extLst>
          </p:cNvPr>
          <p:cNvSpPr txBox="1"/>
          <p:nvPr/>
        </p:nvSpPr>
        <p:spPr>
          <a:xfrm>
            <a:off x="5404838" y="1326810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B6A530-6F57-49D1-7077-B242277B9984}"/>
              </a:ext>
            </a:extLst>
          </p:cNvPr>
          <p:cNvSpPr txBox="1"/>
          <p:nvPr/>
        </p:nvSpPr>
        <p:spPr>
          <a:xfrm>
            <a:off x="4381851" y="880307"/>
            <a:ext cx="549304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Bc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2A8EC9C-B2EA-FDF2-A5D3-4B790DC0EF6A}"/>
              </a:ext>
            </a:extLst>
          </p:cNvPr>
          <p:cNvCxnSpPr>
            <a:cxnSpLocks/>
          </p:cNvCxnSpPr>
          <p:nvPr/>
        </p:nvCxnSpPr>
        <p:spPr>
          <a:xfrm rot="16200000">
            <a:off x="4852616" y="1511475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7C6FDCC-5545-C309-F256-FF8FEE820F9B}"/>
              </a:ext>
            </a:extLst>
          </p:cNvPr>
          <p:cNvSpPr/>
          <p:nvPr/>
        </p:nvSpPr>
        <p:spPr>
          <a:xfrm>
            <a:off x="3527879" y="3181194"/>
            <a:ext cx="943030" cy="76049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C6D1E14-C7DA-0D23-CCB7-491CE6C31F8B}"/>
              </a:ext>
            </a:extLst>
          </p:cNvPr>
          <p:cNvCxnSpPr/>
          <p:nvPr/>
        </p:nvCxnSpPr>
        <p:spPr>
          <a:xfrm>
            <a:off x="3745162" y="3171572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72DE45C-E204-CB44-076D-5669080D5775}"/>
              </a:ext>
            </a:extLst>
          </p:cNvPr>
          <p:cNvCxnSpPr/>
          <p:nvPr/>
        </p:nvCxnSpPr>
        <p:spPr>
          <a:xfrm>
            <a:off x="3938101" y="3165003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12B452C-F58D-BF65-A182-0135F012BA8F}"/>
              </a:ext>
            </a:extLst>
          </p:cNvPr>
          <p:cNvCxnSpPr/>
          <p:nvPr/>
        </p:nvCxnSpPr>
        <p:spPr>
          <a:xfrm>
            <a:off x="4179839" y="3165003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808603E-C3C3-8AAC-0652-4147B4655D67}"/>
              </a:ext>
            </a:extLst>
          </p:cNvPr>
          <p:cNvCxnSpPr>
            <a:cxnSpLocks/>
          </p:cNvCxnSpPr>
          <p:nvPr/>
        </p:nvCxnSpPr>
        <p:spPr>
          <a:xfrm flipH="1">
            <a:off x="3527879" y="3343636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BF7C645-7B13-78E4-FDD9-494F89C43144}"/>
              </a:ext>
            </a:extLst>
          </p:cNvPr>
          <p:cNvCxnSpPr>
            <a:cxnSpLocks/>
          </p:cNvCxnSpPr>
          <p:nvPr/>
        </p:nvCxnSpPr>
        <p:spPr>
          <a:xfrm flipH="1">
            <a:off x="3522623" y="3496036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63B9DB6-4388-587F-C811-85EF960710CB}"/>
              </a:ext>
            </a:extLst>
          </p:cNvPr>
          <p:cNvCxnSpPr>
            <a:cxnSpLocks/>
          </p:cNvCxnSpPr>
          <p:nvPr/>
        </p:nvCxnSpPr>
        <p:spPr>
          <a:xfrm flipH="1">
            <a:off x="3533139" y="3674706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84A218B-5299-D487-4F8F-1933EA34B305}"/>
              </a:ext>
            </a:extLst>
          </p:cNvPr>
          <p:cNvCxnSpPr>
            <a:cxnSpLocks/>
          </p:cNvCxnSpPr>
          <p:nvPr/>
        </p:nvCxnSpPr>
        <p:spPr>
          <a:xfrm>
            <a:off x="4650409" y="3193990"/>
            <a:ext cx="0" cy="7604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B0F3ECC3-A0F6-B838-47FB-489D8A1504D3}"/>
              </a:ext>
            </a:extLst>
          </p:cNvPr>
          <p:cNvSpPr txBox="1"/>
          <p:nvPr/>
        </p:nvSpPr>
        <p:spPr>
          <a:xfrm>
            <a:off x="4635332" y="3465191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Br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6CF065C-D1E4-0B69-9B19-BB4AF3B43F34}"/>
              </a:ext>
            </a:extLst>
          </p:cNvPr>
          <p:cNvCxnSpPr>
            <a:cxnSpLocks/>
          </p:cNvCxnSpPr>
          <p:nvPr/>
        </p:nvCxnSpPr>
        <p:spPr>
          <a:xfrm flipV="1">
            <a:off x="3493138" y="3117785"/>
            <a:ext cx="997548" cy="1505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22AC3150-ACF4-AAAA-5EA6-4F15CF220381}"/>
              </a:ext>
            </a:extLst>
          </p:cNvPr>
          <p:cNvSpPr txBox="1"/>
          <p:nvPr/>
        </p:nvSpPr>
        <p:spPr>
          <a:xfrm>
            <a:off x="3017676" y="2940645"/>
            <a:ext cx="549304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Bc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F31D905-4D98-E504-B546-F61DA3E05B04}"/>
              </a:ext>
            </a:extLst>
          </p:cNvPr>
          <p:cNvSpPr/>
          <p:nvPr/>
        </p:nvSpPr>
        <p:spPr>
          <a:xfrm>
            <a:off x="5736751" y="3115790"/>
            <a:ext cx="434565" cy="7604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401234B-F265-8B33-4BAB-6161D0C82B5E}"/>
              </a:ext>
            </a:extLst>
          </p:cNvPr>
          <p:cNvCxnSpPr/>
          <p:nvPr/>
        </p:nvCxnSpPr>
        <p:spPr>
          <a:xfrm>
            <a:off x="5736750" y="3260048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51FB846-727D-8B81-5E76-794D9A5B5F25}"/>
              </a:ext>
            </a:extLst>
          </p:cNvPr>
          <p:cNvCxnSpPr/>
          <p:nvPr/>
        </p:nvCxnSpPr>
        <p:spPr>
          <a:xfrm>
            <a:off x="5736749" y="3430735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CF3862D-7F41-5A24-4706-415D9B962490}"/>
              </a:ext>
            </a:extLst>
          </p:cNvPr>
          <p:cNvCxnSpPr/>
          <p:nvPr/>
        </p:nvCxnSpPr>
        <p:spPr>
          <a:xfrm>
            <a:off x="5723331" y="3597508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435FEAC-03EF-8341-67A2-0D1591EB04E9}"/>
              </a:ext>
            </a:extLst>
          </p:cNvPr>
          <p:cNvCxnSpPr>
            <a:cxnSpLocks/>
          </p:cNvCxnSpPr>
          <p:nvPr/>
        </p:nvCxnSpPr>
        <p:spPr>
          <a:xfrm>
            <a:off x="6315963" y="3141641"/>
            <a:ext cx="0" cy="7604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37B9D21D-AF62-0E4C-19C5-62BDBFC954D9}"/>
              </a:ext>
            </a:extLst>
          </p:cNvPr>
          <p:cNvSpPr txBox="1"/>
          <p:nvPr/>
        </p:nvSpPr>
        <p:spPr>
          <a:xfrm>
            <a:off x="6300886" y="3412842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Br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026E945-3CB2-4335-F721-1B4FC5886144}"/>
              </a:ext>
            </a:extLst>
          </p:cNvPr>
          <p:cNvSpPr/>
          <p:nvPr/>
        </p:nvSpPr>
        <p:spPr>
          <a:xfrm>
            <a:off x="7378405" y="3211523"/>
            <a:ext cx="943030" cy="760491"/>
          </a:xfrm>
          <a:prstGeom prst="rect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5C925BA-4632-8D78-F931-353FBED39D00}"/>
              </a:ext>
            </a:extLst>
          </p:cNvPr>
          <p:cNvCxnSpPr/>
          <p:nvPr/>
        </p:nvCxnSpPr>
        <p:spPr>
          <a:xfrm>
            <a:off x="7595688" y="3201901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5FFDE4A-C14E-8567-E784-E39B37F4344B}"/>
              </a:ext>
            </a:extLst>
          </p:cNvPr>
          <p:cNvCxnSpPr/>
          <p:nvPr/>
        </p:nvCxnSpPr>
        <p:spPr>
          <a:xfrm>
            <a:off x="7788627" y="3195332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A43AA1E-2D01-C39F-D31A-BC04C3A906DD}"/>
              </a:ext>
            </a:extLst>
          </p:cNvPr>
          <p:cNvCxnSpPr/>
          <p:nvPr/>
        </p:nvCxnSpPr>
        <p:spPr>
          <a:xfrm>
            <a:off x="8030365" y="3195332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B7BDBE7-FE9E-22BA-B4AB-C6AD8033E8C7}"/>
              </a:ext>
            </a:extLst>
          </p:cNvPr>
          <p:cNvCxnSpPr>
            <a:cxnSpLocks/>
          </p:cNvCxnSpPr>
          <p:nvPr/>
        </p:nvCxnSpPr>
        <p:spPr>
          <a:xfrm flipH="1">
            <a:off x="7378405" y="3373965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45F776D-97DB-C435-F6B1-101E201000FB}"/>
              </a:ext>
            </a:extLst>
          </p:cNvPr>
          <p:cNvCxnSpPr>
            <a:cxnSpLocks/>
          </p:cNvCxnSpPr>
          <p:nvPr/>
        </p:nvCxnSpPr>
        <p:spPr>
          <a:xfrm flipH="1">
            <a:off x="7373149" y="3526365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89387C9-9DF1-AC62-FD36-6A41D26C3DB1}"/>
              </a:ext>
            </a:extLst>
          </p:cNvPr>
          <p:cNvCxnSpPr>
            <a:cxnSpLocks/>
          </p:cNvCxnSpPr>
          <p:nvPr/>
        </p:nvCxnSpPr>
        <p:spPr>
          <a:xfrm flipH="1">
            <a:off x="7383665" y="3705035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BADD122-2570-8985-5364-3559D0953E53}"/>
              </a:ext>
            </a:extLst>
          </p:cNvPr>
          <p:cNvCxnSpPr>
            <a:cxnSpLocks/>
          </p:cNvCxnSpPr>
          <p:nvPr/>
        </p:nvCxnSpPr>
        <p:spPr>
          <a:xfrm>
            <a:off x="8500935" y="3224319"/>
            <a:ext cx="0" cy="7604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8850C755-171A-4C02-5948-F393BFC987AB}"/>
              </a:ext>
            </a:extLst>
          </p:cNvPr>
          <p:cNvSpPr txBox="1"/>
          <p:nvPr/>
        </p:nvSpPr>
        <p:spPr>
          <a:xfrm>
            <a:off x="8485858" y="3495520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Br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D9FE21D7-A487-51AB-D60C-58B2CC095909}"/>
              </a:ext>
            </a:extLst>
          </p:cNvPr>
          <p:cNvCxnSpPr>
            <a:cxnSpLocks/>
          </p:cNvCxnSpPr>
          <p:nvPr/>
        </p:nvCxnSpPr>
        <p:spPr>
          <a:xfrm flipV="1">
            <a:off x="7343664" y="3148114"/>
            <a:ext cx="997548" cy="1505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4DC69A19-46FD-C76F-CE5A-E57F8A0F3036}"/>
              </a:ext>
            </a:extLst>
          </p:cNvPr>
          <p:cNvSpPr txBox="1"/>
          <p:nvPr/>
        </p:nvSpPr>
        <p:spPr>
          <a:xfrm>
            <a:off x="6868202" y="2970974"/>
            <a:ext cx="549304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Bc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45AE179-FC67-1E8B-95C9-8DAECCCA0072}"/>
              </a:ext>
            </a:extLst>
          </p:cNvPr>
          <p:cNvSpPr/>
          <p:nvPr/>
        </p:nvSpPr>
        <p:spPr>
          <a:xfrm>
            <a:off x="9131818" y="3196470"/>
            <a:ext cx="943030" cy="760491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4AC0AB8-4927-C99C-644D-65D622AA4653}"/>
              </a:ext>
            </a:extLst>
          </p:cNvPr>
          <p:cNvCxnSpPr/>
          <p:nvPr/>
        </p:nvCxnSpPr>
        <p:spPr>
          <a:xfrm>
            <a:off x="9349101" y="3186848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0449605-2E2F-742D-06DC-F294B63AD879}"/>
              </a:ext>
            </a:extLst>
          </p:cNvPr>
          <p:cNvCxnSpPr/>
          <p:nvPr/>
        </p:nvCxnSpPr>
        <p:spPr>
          <a:xfrm>
            <a:off x="9542040" y="3180279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43A16E9-67DC-6E0A-8D94-6E3F4C803DB6}"/>
              </a:ext>
            </a:extLst>
          </p:cNvPr>
          <p:cNvCxnSpPr/>
          <p:nvPr/>
        </p:nvCxnSpPr>
        <p:spPr>
          <a:xfrm>
            <a:off x="9783778" y="3180279"/>
            <a:ext cx="0" cy="760491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3CDD3D89-7321-038B-01FF-D24DC08C61A8}"/>
              </a:ext>
            </a:extLst>
          </p:cNvPr>
          <p:cNvCxnSpPr>
            <a:cxnSpLocks/>
          </p:cNvCxnSpPr>
          <p:nvPr/>
        </p:nvCxnSpPr>
        <p:spPr>
          <a:xfrm flipH="1">
            <a:off x="9131818" y="3358912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94519F5-4FF1-A42F-0BC2-AE987EB33C86}"/>
              </a:ext>
            </a:extLst>
          </p:cNvPr>
          <p:cNvCxnSpPr>
            <a:cxnSpLocks/>
          </p:cNvCxnSpPr>
          <p:nvPr/>
        </p:nvCxnSpPr>
        <p:spPr>
          <a:xfrm flipH="1">
            <a:off x="9126562" y="3511312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9BAC358-067A-EC3F-1B0B-1FDA0ACF6E66}"/>
              </a:ext>
            </a:extLst>
          </p:cNvPr>
          <p:cNvCxnSpPr>
            <a:cxnSpLocks/>
          </p:cNvCxnSpPr>
          <p:nvPr/>
        </p:nvCxnSpPr>
        <p:spPr>
          <a:xfrm flipH="1">
            <a:off x="9137078" y="3689982"/>
            <a:ext cx="943030" cy="12395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1B7FDA0-C69D-7076-C996-EAA7334FB730}"/>
              </a:ext>
            </a:extLst>
          </p:cNvPr>
          <p:cNvCxnSpPr>
            <a:cxnSpLocks/>
          </p:cNvCxnSpPr>
          <p:nvPr/>
        </p:nvCxnSpPr>
        <p:spPr>
          <a:xfrm>
            <a:off x="10254348" y="3209266"/>
            <a:ext cx="0" cy="7604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8E70183-0B07-A5D7-D628-FF160E8A4486}"/>
              </a:ext>
            </a:extLst>
          </p:cNvPr>
          <p:cNvSpPr txBox="1"/>
          <p:nvPr/>
        </p:nvSpPr>
        <p:spPr>
          <a:xfrm>
            <a:off x="10239271" y="3480467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Br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955C79D-FD8A-98D1-1BA6-1F01558DACF0}"/>
              </a:ext>
            </a:extLst>
          </p:cNvPr>
          <p:cNvCxnSpPr>
            <a:cxnSpLocks/>
          </p:cNvCxnSpPr>
          <p:nvPr/>
        </p:nvCxnSpPr>
        <p:spPr>
          <a:xfrm flipV="1">
            <a:off x="9097077" y="3133061"/>
            <a:ext cx="997548" cy="1505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6E41B8F9-1950-136E-9861-68E28042CC6D}"/>
              </a:ext>
            </a:extLst>
          </p:cNvPr>
          <p:cNvSpPr txBox="1"/>
          <p:nvPr/>
        </p:nvSpPr>
        <p:spPr>
          <a:xfrm>
            <a:off x="8621615" y="2955921"/>
            <a:ext cx="549304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Bc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0BC50D5-37FF-BB62-2CD1-0EE6EB77375A}"/>
              </a:ext>
            </a:extLst>
          </p:cNvPr>
          <p:cNvSpPr/>
          <p:nvPr/>
        </p:nvSpPr>
        <p:spPr>
          <a:xfrm>
            <a:off x="9722324" y="5031471"/>
            <a:ext cx="434565" cy="760491"/>
          </a:xfrm>
          <a:prstGeom prst="rect">
            <a:avLst/>
          </a:prstGeom>
          <a:solidFill>
            <a:srgbClr val="FF5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423AF24-5D8B-74DC-2CE7-95EB6A4F42F8}"/>
              </a:ext>
            </a:extLst>
          </p:cNvPr>
          <p:cNvCxnSpPr/>
          <p:nvPr/>
        </p:nvCxnSpPr>
        <p:spPr>
          <a:xfrm>
            <a:off x="9722323" y="5175729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47AABDFC-29EC-2AD6-A843-127326DAED14}"/>
              </a:ext>
            </a:extLst>
          </p:cNvPr>
          <p:cNvCxnSpPr/>
          <p:nvPr/>
        </p:nvCxnSpPr>
        <p:spPr>
          <a:xfrm>
            <a:off x="9722322" y="5346416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DE776A0-B285-F059-402A-3EF10B573C1F}"/>
              </a:ext>
            </a:extLst>
          </p:cNvPr>
          <p:cNvCxnSpPr/>
          <p:nvPr/>
        </p:nvCxnSpPr>
        <p:spPr>
          <a:xfrm>
            <a:off x="9708904" y="5513189"/>
            <a:ext cx="434565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51BF253E-1399-6BBA-E902-FA89682DC3C9}"/>
              </a:ext>
            </a:extLst>
          </p:cNvPr>
          <p:cNvCxnSpPr>
            <a:cxnSpLocks/>
          </p:cNvCxnSpPr>
          <p:nvPr/>
        </p:nvCxnSpPr>
        <p:spPr>
          <a:xfrm>
            <a:off x="10301536" y="5057322"/>
            <a:ext cx="0" cy="7604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980FE81C-F4FC-D5F4-8625-1F46D86A899E}"/>
              </a:ext>
            </a:extLst>
          </p:cNvPr>
          <p:cNvSpPr txBox="1"/>
          <p:nvPr/>
        </p:nvSpPr>
        <p:spPr>
          <a:xfrm>
            <a:off x="10286459" y="5328523"/>
            <a:ext cx="4345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Br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005C666-D7E3-5F76-EAC1-A401CE630575}"/>
              </a:ext>
            </a:extLst>
          </p:cNvPr>
          <p:cNvSpPr txBox="1"/>
          <p:nvPr/>
        </p:nvSpPr>
        <p:spPr>
          <a:xfrm>
            <a:off x="10145917" y="6057744"/>
            <a:ext cx="977774" cy="415498"/>
          </a:xfrm>
          <a:prstGeom prst="rect">
            <a:avLst/>
          </a:prstGeom>
          <a:solidFill>
            <a:srgbClr val="FF505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dirty="0"/>
              <a:t>Output of STAGE 1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672A323-7D7D-78EC-EDA7-80F65D12C7E1}"/>
              </a:ext>
            </a:extLst>
          </p:cNvPr>
          <p:cNvSpPr txBox="1"/>
          <p:nvPr/>
        </p:nvSpPr>
        <p:spPr>
          <a:xfrm>
            <a:off x="-46346" y="170041"/>
            <a:ext cx="4739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STAGE 1 OVERVIEW</a:t>
            </a:r>
          </a:p>
        </p:txBody>
      </p:sp>
    </p:spTree>
    <p:extLst>
      <p:ext uri="{BB962C8B-B14F-4D97-AF65-F5344CB8AC3E}">
        <p14:creationId xmlns:p14="http://schemas.microsoft.com/office/powerpoint/2010/main" val="2908532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7A8A-90EA-D718-CEBA-DC065F3E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Proposed Additional Block in STAGE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47BA4-D5DD-05CE-FABB-CB88986CC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Prefetch Engine </a:t>
            </a:r>
            <a:r>
              <a:rPr lang="en-US" dirty="0"/>
              <a:t>is a dedicated hardware </a:t>
            </a:r>
            <a:r>
              <a:rPr lang="en-US" dirty="0">
                <a:solidFill>
                  <a:srgbClr val="FF0000"/>
                </a:solidFill>
              </a:rPr>
              <a:t>control block</a:t>
            </a:r>
            <a:r>
              <a:rPr lang="en-US" dirty="0"/>
              <a:t> designed to completely </a:t>
            </a:r>
            <a:r>
              <a:rPr lang="en-US" dirty="0">
                <a:solidFill>
                  <a:srgbClr val="FF0000"/>
                </a:solidFill>
              </a:rPr>
              <a:t>decouple off – chip memory </a:t>
            </a:r>
            <a:r>
              <a:rPr lang="en-US" dirty="0"/>
              <a:t>latency from </a:t>
            </a:r>
            <a:r>
              <a:rPr lang="en-US" dirty="0">
                <a:solidFill>
                  <a:srgbClr val="FF0000"/>
                </a:solidFill>
              </a:rPr>
              <a:t>execution</a:t>
            </a:r>
            <a:r>
              <a:rPr lang="en-US" dirty="0"/>
              <a:t>. It ensures that the </a:t>
            </a:r>
            <a:r>
              <a:rPr lang="en-US" dirty="0">
                <a:solidFill>
                  <a:srgbClr val="FF0000"/>
                </a:solidFill>
              </a:rPr>
              <a:t>systolic array in stage 1 </a:t>
            </a:r>
            <a:r>
              <a:rPr lang="en-US" dirty="0"/>
              <a:t>is strictly </a:t>
            </a:r>
            <a:r>
              <a:rPr lang="en-US" dirty="0">
                <a:solidFill>
                  <a:srgbClr val="FF0000"/>
                </a:solidFill>
              </a:rPr>
              <a:t>compute – bound</a:t>
            </a:r>
            <a:r>
              <a:rPr lang="en-US" dirty="0"/>
              <a:t>, not memory-bound.</a:t>
            </a:r>
          </a:p>
          <a:p>
            <a:r>
              <a:rPr lang="en-US" dirty="0"/>
              <a:t>The Prefetch Engine </a:t>
            </a:r>
            <a:r>
              <a:rPr lang="en-US" dirty="0">
                <a:solidFill>
                  <a:srgbClr val="FF0000"/>
                </a:solidFill>
              </a:rPr>
              <a:t>runs parallel to the main accelerator control path </a:t>
            </a:r>
            <a:r>
              <a:rPr lang="en-US" dirty="0"/>
              <a:t>as an autonomous microcontroller)</a:t>
            </a:r>
          </a:p>
        </p:txBody>
      </p:sp>
    </p:spTree>
    <p:extLst>
      <p:ext uri="{BB962C8B-B14F-4D97-AF65-F5344CB8AC3E}">
        <p14:creationId xmlns:p14="http://schemas.microsoft.com/office/powerpoint/2010/main" val="264007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0E48-E615-D8A3-3072-3CF43CC12E3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Basic Block Diagram of Predictive Prefetch Engine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39C2B-DB30-2097-75A9-4A06D8A3DF20}"/>
              </a:ext>
            </a:extLst>
          </p:cNvPr>
          <p:cNvSpPr/>
          <p:nvPr/>
        </p:nvSpPr>
        <p:spPr>
          <a:xfrm>
            <a:off x="3937102" y="1477108"/>
            <a:ext cx="3365097" cy="5114609"/>
          </a:xfrm>
          <a:prstGeom prst="rect">
            <a:avLst/>
          </a:prstGeom>
          <a:solidFill>
            <a:srgbClr val="8EE4F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002060"/>
                </a:solidFill>
              </a:rPr>
              <a:t>Prefetch Engine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C4E2E-AEC3-F2AE-5B94-8E0240F351D4}"/>
              </a:ext>
            </a:extLst>
          </p:cNvPr>
          <p:cNvSpPr txBox="1"/>
          <p:nvPr/>
        </p:nvSpPr>
        <p:spPr>
          <a:xfrm>
            <a:off x="2220890" y="1678053"/>
            <a:ext cx="525101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clk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96458-D1FD-822D-FF98-26BD8A010A08}"/>
              </a:ext>
            </a:extLst>
          </p:cNvPr>
          <p:cNvSpPr txBox="1"/>
          <p:nvPr/>
        </p:nvSpPr>
        <p:spPr>
          <a:xfrm>
            <a:off x="2229943" y="2090281"/>
            <a:ext cx="516047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rst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F9A93-FB01-80D8-F40A-C9332AA67E25}"/>
              </a:ext>
            </a:extLst>
          </p:cNvPr>
          <p:cNvSpPr txBox="1"/>
          <p:nvPr/>
        </p:nvSpPr>
        <p:spPr>
          <a:xfrm>
            <a:off x="8519312" y="2376500"/>
            <a:ext cx="1430188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axi_arready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49196-F451-B7DE-A24C-83C8B997346A}"/>
              </a:ext>
            </a:extLst>
          </p:cNvPr>
          <p:cNvSpPr txBox="1"/>
          <p:nvPr/>
        </p:nvSpPr>
        <p:spPr>
          <a:xfrm>
            <a:off x="10255394" y="2165584"/>
            <a:ext cx="1822722" cy="1477328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AXI Master Burst Memory Interface (Handshake Signals)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E272C-B02B-E231-BCC8-89766C36ECA4}"/>
              </a:ext>
            </a:extLst>
          </p:cNvPr>
          <p:cNvSpPr txBox="1"/>
          <p:nvPr/>
        </p:nvSpPr>
        <p:spPr>
          <a:xfrm>
            <a:off x="52661" y="3537082"/>
            <a:ext cx="1341077" cy="923330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dirty="0"/>
              <a:t>Host Control 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7B5FB1-DC3E-C5D2-B5BA-9CC30C7500E1}"/>
              </a:ext>
            </a:extLst>
          </p:cNvPr>
          <p:cNvSpPr txBox="1"/>
          <p:nvPr/>
        </p:nvSpPr>
        <p:spPr>
          <a:xfrm>
            <a:off x="1879045" y="4200319"/>
            <a:ext cx="1264597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Engine Busy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A0E6E1-2D88-AB00-7934-BD6996182338}"/>
              </a:ext>
            </a:extLst>
          </p:cNvPr>
          <p:cNvSpPr txBox="1"/>
          <p:nvPr/>
        </p:nvSpPr>
        <p:spPr>
          <a:xfrm>
            <a:off x="1868998" y="3379456"/>
            <a:ext cx="1258890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Q base Address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BF0BBF-A8F7-7128-578C-460A2C418FCA}"/>
              </a:ext>
            </a:extLst>
          </p:cNvPr>
          <p:cNvSpPr txBox="1"/>
          <p:nvPr/>
        </p:nvSpPr>
        <p:spPr>
          <a:xfrm>
            <a:off x="2186164" y="3000370"/>
            <a:ext cx="796705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Start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F60E17-34AC-0D71-4EFE-706942E0086A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45991" y="1816553"/>
            <a:ext cx="1212536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51F29B-BC5A-67FD-5D98-FBF186A5B093}"/>
              </a:ext>
            </a:extLst>
          </p:cNvPr>
          <p:cNvCxnSpPr>
            <a:cxnSpLocks/>
          </p:cNvCxnSpPr>
          <p:nvPr/>
        </p:nvCxnSpPr>
        <p:spPr>
          <a:xfrm>
            <a:off x="2758229" y="2265192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11779C-F126-0208-0915-C5973D505446}"/>
              </a:ext>
            </a:extLst>
          </p:cNvPr>
          <p:cNvSpPr txBox="1"/>
          <p:nvPr/>
        </p:nvSpPr>
        <p:spPr>
          <a:xfrm>
            <a:off x="1858948" y="3788690"/>
            <a:ext cx="1258890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K base Address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1457CD-BD12-A658-B6D7-76A699EA48B5}"/>
              </a:ext>
            </a:extLst>
          </p:cNvPr>
          <p:cNvCxnSpPr>
            <a:cxnSpLocks/>
          </p:cNvCxnSpPr>
          <p:nvPr/>
        </p:nvCxnSpPr>
        <p:spPr>
          <a:xfrm>
            <a:off x="3004294" y="3129480"/>
            <a:ext cx="93280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61A86B-109E-B469-B838-625F02E3ED00}"/>
              </a:ext>
            </a:extLst>
          </p:cNvPr>
          <p:cNvCxnSpPr>
            <a:cxnSpLocks/>
          </p:cNvCxnSpPr>
          <p:nvPr/>
        </p:nvCxnSpPr>
        <p:spPr>
          <a:xfrm>
            <a:off x="3197700" y="3551254"/>
            <a:ext cx="75437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744D1A-7CBF-0900-1779-496AB7105FB0}"/>
              </a:ext>
            </a:extLst>
          </p:cNvPr>
          <p:cNvCxnSpPr>
            <a:cxnSpLocks/>
          </p:cNvCxnSpPr>
          <p:nvPr/>
        </p:nvCxnSpPr>
        <p:spPr>
          <a:xfrm>
            <a:off x="3225513" y="3943136"/>
            <a:ext cx="72656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5DA400-9D80-D42F-6176-EF877FDC8513}"/>
              </a:ext>
            </a:extLst>
          </p:cNvPr>
          <p:cNvCxnSpPr>
            <a:cxnSpLocks/>
          </p:cNvCxnSpPr>
          <p:nvPr/>
        </p:nvCxnSpPr>
        <p:spPr>
          <a:xfrm flipH="1">
            <a:off x="3197700" y="4330944"/>
            <a:ext cx="732307" cy="78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2E20622-81C2-5630-F3F6-F538D305B911}"/>
              </a:ext>
            </a:extLst>
          </p:cNvPr>
          <p:cNvSpPr txBox="1"/>
          <p:nvPr/>
        </p:nvSpPr>
        <p:spPr>
          <a:xfrm>
            <a:off x="8507074" y="2693428"/>
            <a:ext cx="1430188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axi_rdata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C6CACF-B3B9-5FA7-7EAC-B7C323C0F809}"/>
              </a:ext>
            </a:extLst>
          </p:cNvPr>
          <p:cNvSpPr txBox="1"/>
          <p:nvPr/>
        </p:nvSpPr>
        <p:spPr>
          <a:xfrm>
            <a:off x="8507074" y="3014326"/>
            <a:ext cx="1430188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axi_rvalid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57D96-7181-4FD7-20D3-76498A9986A0}"/>
              </a:ext>
            </a:extLst>
          </p:cNvPr>
          <p:cNvSpPr txBox="1"/>
          <p:nvPr/>
        </p:nvSpPr>
        <p:spPr>
          <a:xfrm>
            <a:off x="8507074" y="3332757"/>
            <a:ext cx="1430188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axi_rlast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8FF102-2EA9-32AA-8295-3855C67F5A62}"/>
              </a:ext>
            </a:extLst>
          </p:cNvPr>
          <p:cNvSpPr txBox="1"/>
          <p:nvPr/>
        </p:nvSpPr>
        <p:spPr>
          <a:xfrm>
            <a:off x="8527736" y="1438093"/>
            <a:ext cx="1430188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axi_araddr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9D79B5-7C91-F668-8D67-A6B23B2F312F}"/>
              </a:ext>
            </a:extLst>
          </p:cNvPr>
          <p:cNvSpPr txBox="1"/>
          <p:nvPr/>
        </p:nvSpPr>
        <p:spPr>
          <a:xfrm>
            <a:off x="8519312" y="1744387"/>
            <a:ext cx="1430188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axi_arlen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C7A1EF-4314-634C-BB23-59F04EF7B49A}"/>
              </a:ext>
            </a:extLst>
          </p:cNvPr>
          <p:cNvSpPr txBox="1"/>
          <p:nvPr/>
        </p:nvSpPr>
        <p:spPr>
          <a:xfrm>
            <a:off x="8519312" y="2069015"/>
            <a:ext cx="1430188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axi_arvalid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EA3568-640B-D4DC-A893-C15DEAA634B1}"/>
              </a:ext>
            </a:extLst>
          </p:cNvPr>
          <p:cNvSpPr txBox="1"/>
          <p:nvPr/>
        </p:nvSpPr>
        <p:spPr>
          <a:xfrm>
            <a:off x="8507074" y="3651181"/>
            <a:ext cx="1430188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axi_rready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B5A8E5-51F6-80B0-9400-56C5B3A91D7D}"/>
              </a:ext>
            </a:extLst>
          </p:cNvPr>
          <p:cNvCxnSpPr>
            <a:cxnSpLocks/>
          </p:cNvCxnSpPr>
          <p:nvPr/>
        </p:nvCxnSpPr>
        <p:spPr>
          <a:xfrm>
            <a:off x="7315200" y="1546626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5DAF7DE-CCFD-F0D7-271E-F47F0484CA30}"/>
              </a:ext>
            </a:extLst>
          </p:cNvPr>
          <p:cNvCxnSpPr>
            <a:cxnSpLocks/>
          </p:cNvCxnSpPr>
          <p:nvPr/>
        </p:nvCxnSpPr>
        <p:spPr>
          <a:xfrm>
            <a:off x="7323624" y="1867185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30FAE4-17A6-341F-C455-65C8931F4622}"/>
              </a:ext>
            </a:extLst>
          </p:cNvPr>
          <p:cNvCxnSpPr>
            <a:cxnSpLocks/>
          </p:cNvCxnSpPr>
          <p:nvPr/>
        </p:nvCxnSpPr>
        <p:spPr>
          <a:xfrm>
            <a:off x="7323624" y="2202800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1F83EE9-9D2C-0EFC-3266-6A6F29C9523C}"/>
              </a:ext>
            </a:extLst>
          </p:cNvPr>
          <p:cNvCxnSpPr>
            <a:cxnSpLocks/>
          </p:cNvCxnSpPr>
          <p:nvPr/>
        </p:nvCxnSpPr>
        <p:spPr>
          <a:xfrm>
            <a:off x="7302962" y="3775559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95427C1-1D09-0578-6814-5EA6ED949BE7}"/>
              </a:ext>
            </a:extLst>
          </p:cNvPr>
          <p:cNvCxnSpPr>
            <a:cxnSpLocks/>
          </p:cNvCxnSpPr>
          <p:nvPr/>
        </p:nvCxnSpPr>
        <p:spPr>
          <a:xfrm flipH="1">
            <a:off x="7315200" y="2518630"/>
            <a:ext cx="119568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2D0572D-96BF-BD6B-3379-ECB51B41354D}"/>
              </a:ext>
            </a:extLst>
          </p:cNvPr>
          <p:cNvCxnSpPr>
            <a:cxnSpLocks/>
          </p:cNvCxnSpPr>
          <p:nvPr/>
        </p:nvCxnSpPr>
        <p:spPr>
          <a:xfrm flipH="1">
            <a:off x="7316876" y="2821757"/>
            <a:ext cx="119568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06C1E76-AA30-32A9-B72A-E039C975B4CC}"/>
              </a:ext>
            </a:extLst>
          </p:cNvPr>
          <p:cNvCxnSpPr>
            <a:cxnSpLocks/>
          </p:cNvCxnSpPr>
          <p:nvPr/>
        </p:nvCxnSpPr>
        <p:spPr>
          <a:xfrm flipH="1">
            <a:off x="7319412" y="3455293"/>
            <a:ext cx="119568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3DF06BB-AAD1-F447-2545-C990603939BC}"/>
              </a:ext>
            </a:extLst>
          </p:cNvPr>
          <p:cNvCxnSpPr>
            <a:cxnSpLocks/>
          </p:cNvCxnSpPr>
          <p:nvPr/>
        </p:nvCxnSpPr>
        <p:spPr>
          <a:xfrm flipH="1">
            <a:off x="7311386" y="3155130"/>
            <a:ext cx="119568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AA2D046-83E1-BD75-3C1F-A95FCA0B1363}"/>
              </a:ext>
            </a:extLst>
          </p:cNvPr>
          <p:cNvSpPr txBox="1"/>
          <p:nvPr/>
        </p:nvSpPr>
        <p:spPr>
          <a:xfrm>
            <a:off x="1632012" y="5095309"/>
            <a:ext cx="1593501" cy="276999"/>
          </a:xfrm>
          <a:prstGeom prst="rect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Compute_tile_done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2C8E8E-9A99-1CE7-0EB1-F3D716E4429D}"/>
              </a:ext>
            </a:extLst>
          </p:cNvPr>
          <p:cNvSpPr txBox="1"/>
          <p:nvPr/>
        </p:nvSpPr>
        <p:spPr>
          <a:xfrm>
            <a:off x="1732501" y="5507983"/>
            <a:ext cx="1465199" cy="276999"/>
          </a:xfrm>
          <a:prstGeom prst="rect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Prefetch_tile_ready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1F764D-2092-5AA5-71E1-DB5044BE73B2}"/>
              </a:ext>
            </a:extLst>
          </p:cNvPr>
          <p:cNvSpPr txBox="1"/>
          <p:nvPr/>
        </p:nvSpPr>
        <p:spPr>
          <a:xfrm>
            <a:off x="1808705" y="5849388"/>
            <a:ext cx="1175650" cy="276999"/>
          </a:xfrm>
          <a:prstGeom prst="rect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Current_bank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0DB41A2-2D41-DB5C-D76D-1B966A104542}"/>
              </a:ext>
            </a:extLst>
          </p:cNvPr>
          <p:cNvCxnSpPr>
            <a:cxnSpLocks/>
          </p:cNvCxnSpPr>
          <p:nvPr/>
        </p:nvCxnSpPr>
        <p:spPr>
          <a:xfrm>
            <a:off x="3255666" y="5199512"/>
            <a:ext cx="70667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8B6D86-3A5E-4DD5-C28F-A67B8885F8EA}"/>
              </a:ext>
            </a:extLst>
          </p:cNvPr>
          <p:cNvCxnSpPr>
            <a:cxnSpLocks/>
          </p:cNvCxnSpPr>
          <p:nvPr/>
        </p:nvCxnSpPr>
        <p:spPr>
          <a:xfrm flipH="1">
            <a:off x="3225513" y="5646326"/>
            <a:ext cx="70449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79ADF2E-0CC1-DA24-6331-5915B5634206}"/>
              </a:ext>
            </a:extLst>
          </p:cNvPr>
          <p:cNvCxnSpPr>
            <a:cxnSpLocks/>
          </p:cNvCxnSpPr>
          <p:nvPr/>
        </p:nvCxnSpPr>
        <p:spPr>
          <a:xfrm flipH="1">
            <a:off x="2997497" y="6002318"/>
            <a:ext cx="93251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BFFF951-2D77-A050-F5A2-42E7BCDEAF57}"/>
              </a:ext>
            </a:extLst>
          </p:cNvPr>
          <p:cNvSpPr txBox="1"/>
          <p:nvPr/>
        </p:nvSpPr>
        <p:spPr>
          <a:xfrm>
            <a:off x="15453" y="5155597"/>
            <a:ext cx="1341078" cy="923330"/>
          </a:xfrm>
          <a:prstGeom prst="rect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dirty="0"/>
              <a:t>Compute Handshake Line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8BE5CA-5EF3-7D69-47A8-C322BC0F8D54}"/>
              </a:ext>
            </a:extLst>
          </p:cNvPr>
          <p:cNvSpPr txBox="1"/>
          <p:nvPr/>
        </p:nvSpPr>
        <p:spPr>
          <a:xfrm>
            <a:off x="8486978" y="4033592"/>
            <a:ext cx="1430188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bram_wr_en_Q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3C16A8-C7C8-5ABA-5E97-C59FA86265CE}"/>
              </a:ext>
            </a:extLst>
          </p:cNvPr>
          <p:cNvSpPr txBox="1"/>
          <p:nvPr/>
        </p:nvSpPr>
        <p:spPr>
          <a:xfrm>
            <a:off x="8493310" y="4345405"/>
            <a:ext cx="1430188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bram_wr_addr_Q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C3B4CC2-0BA0-1D75-83A1-6CAA1A7E7437}"/>
              </a:ext>
            </a:extLst>
          </p:cNvPr>
          <p:cNvSpPr txBox="1"/>
          <p:nvPr/>
        </p:nvSpPr>
        <p:spPr>
          <a:xfrm>
            <a:off x="8493310" y="4653876"/>
            <a:ext cx="1430188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bram_wr_data_Q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E7A0336-1E74-3704-9514-CEEDC8F3DF1C}"/>
              </a:ext>
            </a:extLst>
          </p:cNvPr>
          <p:cNvSpPr txBox="1"/>
          <p:nvPr/>
        </p:nvSpPr>
        <p:spPr>
          <a:xfrm>
            <a:off x="8499505" y="4987258"/>
            <a:ext cx="1430188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bram_wr_en_K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17FAF4E-FA86-43CA-BF2E-1E3B78966825}"/>
              </a:ext>
            </a:extLst>
          </p:cNvPr>
          <p:cNvSpPr txBox="1"/>
          <p:nvPr/>
        </p:nvSpPr>
        <p:spPr>
          <a:xfrm>
            <a:off x="8495789" y="5309119"/>
            <a:ext cx="1430188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bram_wr_addr_K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B9A224-B923-2194-F876-E0375103BE0F}"/>
              </a:ext>
            </a:extLst>
          </p:cNvPr>
          <p:cNvSpPr txBox="1"/>
          <p:nvPr/>
        </p:nvSpPr>
        <p:spPr>
          <a:xfrm>
            <a:off x="8485741" y="5617590"/>
            <a:ext cx="1430188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bram_wr_data_K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5F046C1-0250-93FB-0E4E-C72D295936A8}"/>
              </a:ext>
            </a:extLst>
          </p:cNvPr>
          <p:cNvCxnSpPr>
            <a:cxnSpLocks/>
          </p:cNvCxnSpPr>
          <p:nvPr/>
        </p:nvCxnSpPr>
        <p:spPr>
          <a:xfrm>
            <a:off x="7289198" y="4187732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B556D89-0891-4FFA-54DB-C563C4A8BB14}"/>
              </a:ext>
            </a:extLst>
          </p:cNvPr>
          <p:cNvCxnSpPr>
            <a:cxnSpLocks/>
          </p:cNvCxnSpPr>
          <p:nvPr/>
        </p:nvCxnSpPr>
        <p:spPr>
          <a:xfrm>
            <a:off x="7289198" y="4759231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321AFEE-2AEE-6CA5-061E-D43AFFF43749}"/>
              </a:ext>
            </a:extLst>
          </p:cNvPr>
          <p:cNvCxnSpPr>
            <a:cxnSpLocks/>
          </p:cNvCxnSpPr>
          <p:nvPr/>
        </p:nvCxnSpPr>
        <p:spPr>
          <a:xfrm>
            <a:off x="7281629" y="4457896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731058A-3F79-B797-B6DB-2CB09416048F}"/>
              </a:ext>
            </a:extLst>
          </p:cNvPr>
          <p:cNvCxnSpPr>
            <a:cxnSpLocks/>
          </p:cNvCxnSpPr>
          <p:nvPr/>
        </p:nvCxnSpPr>
        <p:spPr>
          <a:xfrm>
            <a:off x="7302199" y="5102131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E37D8C9-1B19-7E76-16E6-3855950B441F}"/>
              </a:ext>
            </a:extLst>
          </p:cNvPr>
          <p:cNvCxnSpPr>
            <a:cxnSpLocks/>
          </p:cNvCxnSpPr>
          <p:nvPr/>
        </p:nvCxnSpPr>
        <p:spPr>
          <a:xfrm>
            <a:off x="7302199" y="5419054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ED7AFDB-F385-DAFB-6F87-70645DC20DD5}"/>
              </a:ext>
            </a:extLst>
          </p:cNvPr>
          <p:cNvCxnSpPr>
            <a:cxnSpLocks/>
          </p:cNvCxnSpPr>
          <p:nvPr/>
        </p:nvCxnSpPr>
        <p:spPr>
          <a:xfrm>
            <a:off x="7302199" y="5798323"/>
            <a:ext cx="120411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C9A0954-51BC-55CB-81F7-94DEFD3BA40A}"/>
              </a:ext>
            </a:extLst>
          </p:cNvPr>
          <p:cNvSpPr txBox="1"/>
          <p:nvPr/>
        </p:nvSpPr>
        <p:spPr>
          <a:xfrm>
            <a:off x="10427528" y="4661052"/>
            <a:ext cx="1670687" cy="646331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dirty="0"/>
              <a:t>BRAM Buffer Interface</a:t>
            </a:r>
          </a:p>
        </p:txBody>
      </p:sp>
      <p:sp>
        <p:nvSpPr>
          <p:cNvPr id="97" name="Right Brace 96">
            <a:extLst>
              <a:ext uri="{FF2B5EF4-FFF2-40B4-BE49-F238E27FC236}">
                <a16:creationId xmlns:a16="http://schemas.microsoft.com/office/drawing/2014/main" id="{A2FE0110-F309-E16B-B9CD-558BDE6DCD95}"/>
              </a:ext>
            </a:extLst>
          </p:cNvPr>
          <p:cNvSpPr/>
          <p:nvPr/>
        </p:nvSpPr>
        <p:spPr>
          <a:xfrm>
            <a:off x="10159581" y="4033592"/>
            <a:ext cx="241520" cy="1965274"/>
          </a:xfrm>
          <a:prstGeom prst="righ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Right Brace 98">
            <a:extLst>
              <a:ext uri="{FF2B5EF4-FFF2-40B4-BE49-F238E27FC236}">
                <a16:creationId xmlns:a16="http://schemas.microsoft.com/office/drawing/2014/main" id="{D550B274-B40B-20A5-1FA2-576E65B666AD}"/>
              </a:ext>
            </a:extLst>
          </p:cNvPr>
          <p:cNvSpPr/>
          <p:nvPr/>
        </p:nvSpPr>
        <p:spPr>
          <a:xfrm>
            <a:off x="9973894" y="1393862"/>
            <a:ext cx="241520" cy="2534317"/>
          </a:xfrm>
          <a:prstGeom prst="righ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Left Brace 99">
            <a:extLst>
              <a:ext uri="{FF2B5EF4-FFF2-40B4-BE49-F238E27FC236}">
                <a16:creationId xmlns:a16="http://schemas.microsoft.com/office/drawing/2014/main" id="{DFD1F181-6E4C-EAD5-6604-17AF37A731E8}"/>
              </a:ext>
            </a:extLst>
          </p:cNvPr>
          <p:cNvSpPr/>
          <p:nvPr/>
        </p:nvSpPr>
        <p:spPr>
          <a:xfrm>
            <a:off x="1410950" y="5026198"/>
            <a:ext cx="175469" cy="1135292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Left Brace 103">
            <a:extLst>
              <a:ext uri="{FF2B5EF4-FFF2-40B4-BE49-F238E27FC236}">
                <a16:creationId xmlns:a16="http://schemas.microsoft.com/office/drawing/2014/main" id="{6A2B6360-A4BF-CB80-BC04-C99F0FB767A5}"/>
              </a:ext>
            </a:extLst>
          </p:cNvPr>
          <p:cNvSpPr/>
          <p:nvPr/>
        </p:nvSpPr>
        <p:spPr>
          <a:xfrm>
            <a:off x="1410951" y="3014326"/>
            <a:ext cx="360478" cy="1504831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690216-31A0-F032-A38C-41955AD1CB8E}"/>
              </a:ext>
            </a:extLst>
          </p:cNvPr>
          <p:cNvSpPr txBox="1"/>
          <p:nvPr/>
        </p:nvSpPr>
        <p:spPr>
          <a:xfrm>
            <a:off x="800100" y="1578749"/>
            <a:ext cx="138430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IDLE STATE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32B0A7-3C68-CCA4-0384-3E9210FE947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327400" y="1782876"/>
            <a:ext cx="450850" cy="1414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C1D4E9-0122-3819-1589-88E3A3272CED}"/>
              </a:ext>
            </a:extLst>
          </p:cNvPr>
          <p:cNvSpPr txBox="1"/>
          <p:nvPr/>
        </p:nvSpPr>
        <p:spPr>
          <a:xfrm>
            <a:off x="3778250" y="1473853"/>
            <a:ext cx="2479677" cy="646331"/>
          </a:xfrm>
          <a:prstGeom prst="rect">
            <a:avLst/>
          </a:prstGeom>
          <a:solidFill>
            <a:srgbClr val="00B0F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ADDRESS CALC STATE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20FE95-9871-7B5E-16E5-991D0335320A}"/>
              </a:ext>
            </a:extLst>
          </p:cNvPr>
          <p:cNvSpPr txBox="1"/>
          <p:nvPr/>
        </p:nvSpPr>
        <p:spPr>
          <a:xfrm>
            <a:off x="6929989" y="1427687"/>
            <a:ext cx="2139950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AXI BURST Q STATE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96B3DB-8370-8BAA-4D69-A46CA70D355A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2184400" y="1768822"/>
            <a:ext cx="320675" cy="1405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925112-69D8-8EFD-B838-6F7F9D072A81}"/>
              </a:ext>
            </a:extLst>
          </p:cNvPr>
          <p:cNvSpPr txBox="1"/>
          <p:nvPr/>
        </p:nvSpPr>
        <p:spPr>
          <a:xfrm>
            <a:off x="4507319" y="4550891"/>
            <a:ext cx="1460229" cy="369332"/>
          </a:xfrm>
          <a:prstGeom prst="rect">
            <a:avLst/>
          </a:prstGeom>
          <a:solidFill>
            <a:srgbClr val="8EE4F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WAIT STATE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9BDE1E-4776-4839-1735-9E8A6828EDCF}"/>
              </a:ext>
            </a:extLst>
          </p:cNvPr>
          <p:cNvSpPr txBox="1"/>
          <p:nvPr/>
        </p:nvSpPr>
        <p:spPr>
          <a:xfrm>
            <a:off x="6815682" y="4550891"/>
            <a:ext cx="20701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AXI BURST K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C3168E-3037-EF9A-218F-8858B11DE628}"/>
              </a:ext>
            </a:extLst>
          </p:cNvPr>
          <p:cNvSpPr txBox="1"/>
          <p:nvPr/>
        </p:nvSpPr>
        <p:spPr>
          <a:xfrm>
            <a:off x="319087" y="3169534"/>
            <a:ext cx="2025650" cy="369332"/>
          </a:xfrm>
          <a:prstGeom prst="rect">
            <a:avLst/>
          </a:prstGeom>
          <a:solidFill>
            <a:srgbClr val="C7DF9F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SWAP BANKS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92EF57-DF53-1DEA-296C-A93213AC5578}"/>
              </a:ext>
            </a:extLst>
          </p:cNvPr>
          <p:cNvCxnSpPr>
            <a:cxnSpLocks/>
          </p:cNvCxnSpPr>
          <p:nvPr/>
        </p:nvCxnSpPr>
        <p:spPr>
          <a:xfrm>
            <a:off x="7745018" y="1797018"/>
            <a:ext cx="0" cy="44701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92B30B-753E-894A-999D-99BCC71A4891}"/>
              </a:ext>
            </a:extLst>
          </p:cNvPr>
          <p:cNvCxnSpPr>
            <a:cxnSpLocks/>
          </p:cNvCxnSpPr>
          <p:nvPr/>
        </p:nvCxnSpPr>
        <p:spPr>
          <a:xfrm flipH="1">
            <a:off x="5967548" y="4023608"/>
            <a:ext cx="1840433" cy="52728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F23A13E-B261-CFA6-770B-4630A58C02D6}"/>
              </a:ext>
            </a:extLst>
          </p:cNvPr>
          <p:cNvSpPr txBox="1"/>
          <p:nvPr/>
        </p:nvSpPr>
        <p:spPr>
          <a:xfrm>
            <a:off x="7857028" y="3026891"/>
            <a:ext cx="450850" cy="2852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8C0F7D-82FA-2686-7895-5C566F5CB24C}"/>
              </a:ext>
            </a:extLst>
          </p:cNvPr>
          <p:cNvSpPr txBox="1"/>
          <p:nvPr/>
        </p:nvSpPr>
        <p:spPr>
          <a:xfrm>
            <a:off x="8885782" y="1942275"/>
            <a:ext cx="45085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D053A4-7480-C6DF-1C51-E6CF6925FFDA}"/>
              </a:ext>
            </a:extLst>
          </p:cNvPr>
          <p:cNvSpPr txBox="1"/>
          <p:nvPr/>
        </p:nvSpPr>
        <p:spPr>
          <a:xfrm>
            <a:off x="7823816" y="4114031"/>
            <a:ext cx="450850" cy="2852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0DFB75-5A78-4C45-4D7F-45EF601B92F8}"/>
              </a:ext>
            </a:extLst>
          </p:cNvPr>
          <p:cNvSpPr txBox="1"/>
          <p:nvPr/>
        </p:nvSpPr>
        <p:spPr>
          <a:xfrm>
            <a:off x="6423761" y="3970746"/>
            <a:ext cx="45085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1E39651-076D-CB90-B35F-44DBA82FE093}"/>
              </a:ext>
            </a:extLst>
          </p:cNvPr>
          <p:cNvSpPr/>
          <p:nvPr/>
        </p:nvSpPr>
        <p:spPr>
          <a:xfrm>
            <a:off x="11630025" y="1685925"/>
            <a:ext cx="0" cy="0"/>
          </a:xfrm>
          <a:custGeom>
            <a:avLst/>
            <a:gdLst>
              <a:gd name="csX0" fmla="*/ 0 w 0"/>
              <a:gd name="csY0" fmla="*/ 0 h 0"/>
              <a:gd name="csX1" fmla="*/ 0 w 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C53AC4CF-61A8-A1FD-06BA-5F1CF54B7606}"/>
              </a:ext>
            </a:extLst>
          </p:cNvPr>
          <p:cNvSpPr/>
          <p:nvPr/>
        </p:nvSpPr>
        <p:spPr>
          <a:xfrm>
            <a:off x="2505075" y="1420127"/>
            <a:ext cx="937419" cy="725498"/>
          </a:xfrm>
          <a:prstGeom prst="diamond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Arrow: Curved Up 51">
            <a:extLst>
              <a:ext uri="{FF2B5EF4-FFF2-40B4-BE49-F238E27FC236}">
                <a16:creationId xmlns:a16="http://schemas.microsoft.com/office/drawing/2014/main" id="{C490A6FB-1324-C34E-6128-C51042A38B99}"/>
              </a:ext>
            </a:extLst>
          </p:cNvPr>
          <p:cNvSpPr/>
          <p:nvPr/>
        </p:nvSpPr>
        <p:spPr>
          <a:xfrm rot="10554473">
            <a:off x="1916435" y="914668"/>
            <a:ext cx="1039670" cy="532627"/>
          </a:xfrm>
          <a:prstGeom prst="curvedUpArrow">
            <a:avLst>
              <a:gd name="adj1" fmla="val 0"/>
              <a:gd name="adj2" fmla="val 5193"/>
              <a:gd name="adj3" fmla="val 25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F7C57A1-C22D-D825-8A53-34A3B25BEC8B}"/>
              </a:ext>
            </a:extLst>
          </p:cNvPr>
          <p:cNvCxnSpPr>
            <a:cxnSpLocks/>
          </p:cNvCxnSpPr>
          <p:nvPr/>
        </p:nvCxnSpPr>
        <p:spPr>
          <a:xfrm>
            <a:off x="6236097" y="1578749"/>
            <a:ext cx="66913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E635617-68C9-0526-01EE-CBDA3BAD413F}"/>
              </a:ext>
            </a:extLst>
          </p:cNvPr>
          <p:cNvSpPr txBox="1"/>
          <p:nvPr/>
        </p:nvSpPr>
        <p:spPr>
          <a:xfrm>
            <a:off x="2600262" y="1612353"/>
            <a:ext cx="812925" cy="2616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100" dirty="0"/>
              <a:t>Start==1?</a:t>
            </a: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3752B9A4-AB22-9B4B-876A-1E6A613C166E}"/>
              </a:ext>
            </a:extLst>
          </p:cNvPr>
          <p:cNvSpPr/>
          <p:nvPr/>
        </p:nvSpPr>
        <p:spPr>
          <a:xfrm>
            <a:off x="6715936" y="3341299"/>
            <a:ext cx="2134033" cy="725498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9492D802-A883-C97E-411D-DB703F8D5139}"/>
              </a:ext>
            </a:extLst>
          </p:cNvPr>
          <p:cNvSpPr/>
          <p:nvPr/>
        </p:nvSpPr>
        <p:spPr>
          <a:xfrm>
            <a:off x="6482456" y="2228005"/>
            <a:ext cx="2516258" cy="72942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Arrow: Curved Up 61">
            <a:extLst>
              <a:ext uri="{FF2B5EF4-FFF2-40B4-BE49-F238E27FC236}">
                <a16:creationId xmlns:a16="http://schemas.microsoft.com/office/drawing/2014/main" id="{4572CBCE-19F4-BAAD-7A83-C0D74ECC4E08}"/>
              </a:ext>
            </a:extLst>
          </p:cNvPr>
          <p:cNvSpPr/>
          <p:nvPr/>
        </p:nvSpPr>
        <p:spPr>
          <a:xfrm rot="17262103">
            <a:off x="8782718" y="1847801"/>
            <a:ext cx="973966" cy="656600"/>
          </a:xfrm>
          <a:prstGeom prst="curvedUpArrow">
            <a:avLst>
              <a:gd name="adj1" fmla="val 0"/>
              <a:gd name="adj2" fmla="val 5193"/>
              <a:gd name="adj3" fmla="val 25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50CED77-0345-4C67-6910-9CF6806FC181}"/>
              </a:ext>
            </a:extLst>
          </p:cNvPr>
          <p:cNvCxnSpPr>
            <a:cxnSpLocks/>
          </p:cNvCxnSpPr>
          <p:nvPr/>
        </p:nvCxnSpPr>
        <p:spPr>
          <a:xfrm>
            <a:off x="7742438" y="2910313"/>
            <a:ext cx="0" cy="44701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6C6D6D9-5348-4BBE-4D20-A1A0AABA7A7F}"/>
              </a:ext>
            </a:extLst>
          </p:cNvPr>
          <p:cNvCxnSpPr>
            <a:cxnSpLocks/>
          </p:cNvCxnSpPr>
          <p:nvPr/>
        </p:nvCxnSpPr>
        <p:spPr>
          <a:xfrm>
            <a:off x="7761323" y="4061429"/>
            <a:ext cx="0" cy="44701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2DBBEEF-6A8A-B38D-0FEB-E103F6220E6D}"/>
              </a:ext>
            </a:extLst>
          </p:cNvPr>
          <p:cNvSpPr txBox="1"/>
          <p:nvPr/>
        </p:nvSpPr>
        <p:spPr>
          <a:xfrm>
            <a:off x="7123942" y="2362916"/>
            <a:ext cx="1339589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axi_rlast ==1&amp;&amp; axi_rvalid==1 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032EF4-AD9B-B26D-C4FB-FF8F2CD787DA}"/>
              </a:ext>
            </a:extLst>
          </p:cNvPr>
          <p:cNvSpPr txBox="1"/>
          <p:nvPr/>
        </p:nvSpPr>
        <p:spPr>
          <a:xfrm>
            <a:off x="7277757" y="3472477"/>
            <a:ext cx="1060448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pf_K_required==1 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B46092-7A45-8C2A-EFAC-1E0863BC3BA4}"/>
              </a:ext>
            </a:extLst>
          </p:cNvPr>
          <p:cNvSpPr txBox="1"/>
          <p:nvPr/>
        </p:nvSpPr>
        <p:spPr>
          <a:xfrm>
            <a:off x="2210845" y="593141"/>
            <a:ext cx="45085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47FD35-8B15-45CA-7293-4EF68D916770}"/>
              </a:ext>
            </a:extLst>
          </p:cNvPr>
          <p:cNvSpPr txBox="1"/>
          <p:nvPr/>
        </p:nvSpPr>
        <p:spPr>
          <a:xfrm>
            <a:off x="3282949" y="1290625"/>
            <a:ext cx="450850" cy="2852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DB93E70-8BCE-E2A8-873C-87E284791828}"/>
              </a:ext>
            </a:extLst>
          </p:cNvPr>
          <p:cNvCxnSpPr>
            <a:cxnSpLocks/>
          </p:cNvCxnSpPr>
          <p:nvPr/>
        </p:nvCxnSpPr>
        <p:spPr>
          <a:xfrm>
            <a:off x="7740585" y="4920223"/>
            <a:ext cx="0" cy="44701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Diamond 71">
            <a:extLst>
              <a:ext uri="{FF2B5EF4-FFF2-40B4-BE49-F238E27FC236}">
                <a16:creationId xmlns:a16="http://schemas.microsoft.com/office/drawing/2014/main" id="{D7E7CB51-BBF1-FE03-D9E7-B20B99254498}"/>
              </a:ext>
            </a:extLst>
          </p:cNvPr>
          <p:cNvSpPr/>
          <p:nvPr/>
        </p:nvSpPr>
        <p:spPr>
          <a:xfrm>
            <a:off x="6476091" y="5341102"/>
            <a:ext cx="2516258" cy="729426"/>
          </a:xfrm>
          <a:prstGeom prst="diamond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0C55E2-1A00-344C-127F-FE16254BA75E}"/>
              </a:ext>
            </a:extLst>
          </p:cNvPr>
          <p:cNvSpPr txBox="1"/>
          <p:nvPr/>
        </p:nvSpPr>
        <p:spPr>
          <a:xfrm>
            <a:off x="7117577" y="5476013"/>
            <a:ext cx="1339589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axi_rlast ==1&amp;&amp; axi_rvalid==1 ?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F9AE6EC-7DBF-2FDB-D192-D4D7BFFF4838}"/>
              </a:ext>
            </a:extLst>
          </p:cNvPr>
          <p:cNvCxnSpPr>
            <a:stCxn id="72" idx="1"/>
            <a:endCxn id="15" idx="2"/>
          </p:cNvCxnSpPr>
          <p:nvPr/>
        </p:nvCxnSpPr>
        <p:spPr>
          <a:xfrm flipH="1" flipV="1">
            <a:off x="5237434" y="4920223"/>
            <a:ext cx="1238657" cy="78559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Arrow: Curved Up 76">
            <a:extLst>
              <a:ext uri="{FF2B5EF4-FFF2-40B4-BE49-F238E27FC236}">
                <a16:creationId xmlns:a16="http://schemas.microsoft.com/office/drawing/2014/main" id="{F70A2D25-33BC-B040-B63B-273E8527CB75}"/>
              </a:ext>
            </a:extLst>
          </p:cNvPr>
          <p:cNvSpPr/>
          <p:nvPr/>
        </p:nvSpPr>
        <p:spPr>
          <a:xfrm rot="17262103">
            <a:off x="8807549" y="4863243"/>
            <a:ext cx="915727" cy="966963"/>
          </a:xfrm>
          <a:prstGeom prst="curvedUpArrow">
            <a:avLst>
              <a:gd name="adj1" fmla="val 0"/>
              <a:gd name="adj2" fmla="val 5193"/>
              <a:gd name="adj3" fmla="val 25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C21F57-6973-0D69-BF24-7A36665FD8AE}"/>
              </a:ext>
            </a:extLst>
          </p:cNvPr>
          <p:cNvSpPr txBox="1"/>
          <p:nvPr/>
        </p:nvSpPr>
        <p:spPr>
          <a:xfrm>
            <a:off x="8861438" y="5084869"/>
            <a:ext cx="45085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2DC52D-E04C-0AC9-C17D-F88119425194}"/>
              </a:ext>
            </a:extLst>
          </p:cNvPr>
          <p:cNvSpPr txBox="1"/>
          <p:nvPr/>
        </p:nvSpPr>
        <p:spPr>
          <a:xfrm>
            <a:off x="6081288" y="5088518"/>
            <a:ext cx="450850" cy="2852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85" name="Diamond 84">
            <a:extLst>
              <a:ext uri="{FF2B5EF4-FFF2-40B4-BE49-F238E27FC236}">
                <a16:creationId xmlns:a16="http://schemas.microsoft.com/office/drawing/2014/main" id="{670698D6-9774-3079-A2A7-FC352E408CF3}"/>
              </a:ext>
            </a:extLst>
          </p:cNvPr>
          <p:cNvSpPr/>
          <p:nvPr/>
        </p:nvSpPr>
        <p:spPr>
          <a:xfrm>
            <a:off x="1561380" y="4368371"/>
            <a:ext cx="2516258" cy="729426"/>
          </a:xfrm>
          <a:prstGeom prst="diamond">
            <a:avLst/>
          </a:prstGeom>
          <a:solidFill>
            <a:srgbClr val="82A2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E8AB51-9E6D-C58B-7CDF-E9CA714962EB}"/>
              </a:ext>
            </a:extLst>
          </p:cNvPr>
          <p:cNvSpPr txBox="1"/>
          <p:nvPr/>
        </p:nvSpPr>
        <p:spPr>
          <a:xfrm>
            <a:off x="2202866" y="4503282"/>
            <a:ext cx="1339589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Compute_tile_done==1?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119466B-324D-CE8D-0ED2-EB8897E465B9}"/>
              </a:ext>
            </a:extLst>
          </p:cNvPr>
          <p:cNvCxnSpPr>
            <a:stCxn id="15" idx="1"/>
            <a:endCxn id="85" idx="3"/>
          </p:cNvCxnSpPr>
          <p:nvPr/>
        </p:nvCxnSpPr>
        <p:spPr>
          <a:xfrm flipH="1" flipV="1">
            <a:off x="4077638" y="4733084"/>
            <a:ext cx="429681" cy="247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Arrow: Curved Up 90">
            <a:extLst>
              <a:ext uri="{FF2B5EF4-FFF2-40B4-BE49-F238E27FC236}">
                <a16:creationId xmlns:a16="http://schemas.microsoft.com/office/drawing/2014/main" id="{7BC38F15-8027-2B82-BF87-D1E6803AD890}"/>
              </a:ext>
            </a:extLst>
          </p:cNvPr>
          <p:cNvSpPr/>
          <p:nvPr/>
        </p:nvSpPr>
        <p:spPr>
          <a:xfrm flipV="1">
            <a:off x="2832173" y="3792509"/>
            <a:ext cx="2039360" cy="589616"/>
          </a:xfrm>
          <a:prstGeom prst="curvedUpArrow">
            <a:avLst>
              <a:gd name="adj1" fmla="val 0"/>
              <a:gd name="adj2" fmla="val 5193"/>
              <a:gd name="adj3" fmla="val 25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A41569F-DC7C-5E34-B68E-707E7EF7983B}"/>
              </a:ext>
            </a:extLst>
          </p:cNvPr>
          <p:cNvSpPr txBox="1"/>
          <p:nvPr/>
        </p:nvSpPr>
        <p:spPr>
          <a:xfrm flipH="1">
            <a:off x="3587908" y="4040623"/>
            <a:ext cx="40428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BAEA641-FF1D-E8B6-F1C8-81F9F3FAA151}"/>
              </a:ext>
            </a:extLst>
          </p:cNvPr>
          <p:cNvSpPr txBox="1"/>
          <p:nvPr/>
        </p:nvSpPr>
        <p:spPr>
          <a:xfrm>
            <a:off x="820912" y="4209136"/>
            <a:ext cx="450850" cy="2852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82EF371-1E1A-D198-0775-4652D7966F9C}"/>
              </a:ext>
            </a:extLst>
          </p:cNvPr>
          <p:cNvCxnSpPr>
            <a:stCxn id="85" idx="1"/>
          </p:cNvCxnSpPr>
          <p:nvPr/>
        </p:nvCxnSpPr>
        <p:spPr>
          <a:xfrm flipH="1" flipV="1">
            <a:off x="1131376" y="3538866"/>
            <a:ext cx="430004" cy="119421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Diamond 98">
            <a:extLst>
              <a:ext uri="{FF2B5EF4-FFF2-40B4-BE49-F238E27FC236}">
                <a16:creationId xmlns:a16="http://schemas.microsoft.com/office/drawing/2014/main" id="{12FBD9C1-80CB-5376-39EC-7B9EFDDD891C}"/>
              </a:ext>
            </a:extLst>
          </p:cNvPr>
          <p:cNvSpPr/>
          <p:nvPr/>
        </p:nvSpPr>
        <p:spPr>
          <a:xfrm>
            <a:off x="2650775" y="2538623"/>
            <a:ext cx="2516258" cy="729426"/>
          </a:xfrm>
          <a:prstGeom prst="diamond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4E929C-EB7D-1937-A3C2-BAD8379A396F}"/>
              </a:ext>
            </a:extLst>
          </p:cNvPr>
          <p:cNvSpPr txBox="1"/>
          <p:nvPr/>
        </p:nvSpPr>
        <p:spPr>
          <a:xfrm>
            <a:off x="3239109" y="2656396"/>
            <a:ext cx="1339589" cy="4616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J_pf==T_c &amp;&amp; i_pf==0 ?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2382893-8389-5BF0-236B-FEE22EFE8D38}"/>
              </a:ext>
            </a:extLst>
          </p:cNvPr>
          <p:cNvCxnSpPr>
            <a:stCxn id="18" idx="3"/>
          </p:cNvCxnSpPr>
          <p:nvPr/>
        </p:nvCxnSpPr>
        <p:spPr>
          <a:xfrm flipV="1">
            <a:off x="2344737" y="3026891"/>
            <a:ext cx="894372" cy="32730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CFC3F29-C8EC-8159-E1CC-DCEF3A78431B}"/>
              </a:ext>
            </a:extLst>
          </p:cNvPr>
          <p:cNvCxnSpPr/>
          <p:nvPr/>
        </p:nvCxnSpPr>
        <p:spPr>
          <a:xfrm flipH="1" flipV="1">
            <a:off x="1561380" y="1942275"/>
            <a:ext cx="1991445" cy="71412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EDBD831-A90F-687F-36FA-CC626E4F024E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474811" y="2120184"/>
            <a:ext cx="543278" cy="5362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CD22876-3582-F9C5-B149-FBAF5386DE2E}"/>
              </a:ext>
            </a:extLst>
          </p:cNvPr>
          <p:cNvSpPr txBox="1"/>
          <p:nvPr/>
        </p:nvSpPr>
        <p:spPr>
          <a:xfrm flipH="1">
            <a:off x="4935422" y="2423254"/>
            <a:ext cx="40428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B6A456D-43A2-E08C-617C-1892C9E1AD45}"/>
              </a:ext>
            </a:extLst>
          </p:cNvPr>
          <p:cNvSpPr txBox="1"/>
          <p:nvPr/>
        </p:nvSpPr>
        <p:spPr>
          <a:xfrm>
            <a:off x="1707723" y="2302263"/>
            <a:ext cx="450850" cy="2852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F3DE908-17A0-A2E4-A846-661043A5AA02}"/>
              </a:ext>
            </a:extLst>
          </p:cNvPr>
          <p:cNvSpPr txBox="1"/>
          <p:nvPr/>
        </p:nvSpPr>
        <p:spPr>
          <a:xfrm>
            <a:off x="4601737" y="495161"/>
            <a:ext cx="6497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FSM Design for the Prefetch Engine</a:t>
            </a:r>
          </a:p>
        </p:txBody>
      </p:sp>
    </p:spTree>
    <p:extLst>
      <p:ext uri="{BB962C8B-B14F-4D97-AF65-F5344CB8AC3E}">
        <p14:creationId xmlns:p14="http://schemas.microsoft.com/office/powerpoint/2010/main" val="427885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3607C7-9643-109E-11E3-31A00FB83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916" y="152400"/>
            <a:ext cx="10539884" cy="6024563"/>
          </a:xfrm>
          <a:prstGeom prst="rect">
            <a:avLst/>
          </a:prstGeom>
          <a:solidFill>
            <a:schemeClr val="bg1">
              <a:lumMod val="5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rgbClr val="002060"/>
                </a:solidFill>
              </a:rPr>
              <a:t>Look Ahead Address Generator Logic</a:t>
            </a: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Initialize</a:t>
            </a:r>
            <a:r>
              <a:rPr lang="en-US" dirty="0">
                <a:solidFill>
                  <a:srgbClr val="FFC000"/>
                </a:solidFill>
              </a:rPr>
              <a:t> i_pf = 0, j_pf = 0, pf_K_required = 1</a:t>
            </a: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Calculate Byte Offsets </a:t>
            </a:r>
            <a:r>
              <a:rPr lang="en-US" dirty="0">
                <a:solidFill>
                  <a:srgbClr val="FFC000"/>
                </a:solidFill>
              </a:rPr>
              <a:t>: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Offset_Q = B_R* D_MODEL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Offset_K = B_C* D_MODEL</a:t>
            </a: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Compute Physical Target addresses </a:t>
            </a:r>
            <a:r>
              <a:rPr lang="en-US" dirty="0">
                <a:solidFill>
                  <a:srgbClr val="FFC000"/>
                </a:solidFill>
              </a:rPr>
              <a:t>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next_addr_Q = addr_Q_base + (i_pf * Offset _Q)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 next_addr_K = addr_K_base + (j_pf * Offset _K)</a:t>
            </a: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Advance Prefetch counters for the following tile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i_pf = i_pf + 1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if i_pf == T_R: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 i_pf = 0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j_pf = j_pf + 1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 pf_K_required = 1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else: pf_K_required = 0</a:t>
            </a:r>
          </a:p>
        </p:txBody>
      </p:sp>
    </p:spTree>
    <p:extLst>
      <p:ext uri="{BB962C8B-B14F-4D97-AF65-F5344CB8AC3E}">
        <p14:creationId xmlns:p14="http://schemas.microsoft.com/office/powerpoint/2010/main" val="114786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9F7253-8B9D-F07A-C0D5-12F7FE143C3C}"/>
              </a:ext>
            </a:extLst>
          </p:cNvPr>
          <p:cNvSpPr txBox="1"/>
          <p:nvPr/>
        </p:nvSpPr>
        <p:spPr>
          <a:xfrm>
            <a:off x="52661" y="3537082"/>
            <a:ext cx="1341077" cy="923330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Host Control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86240-DBC6-138F-B130-BD4490E69642}"/>
              </a:ext>
            </a:extLst>
          </p:cNvPr>
          <p:cNvSpPr txBox="1"/>
          <p:nvPr/>
        </p:nvSpPr>
        <p:spPr>
          <a:xfrm>
            <a:off x="1879045" y="4200319"/>
            <a:ext cx="1264597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Engine Busy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80F81-D744-3751-048C-8648545A2C66}"/>
              </a:ext>
            </a:extLst>
          </p:cNvPr>
          <p:cNvSpPr txBox="1"/>
          <p:nvPr/>
        </p:nvSpPr>
        <p:spPr>
          <a:xfrm>
            <a:off x="1868998" y="3379456"/>
            <a:ext cx="1258890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Q base Address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BD63E8-CB0A-0BCC-92A6-E40ECB9DAD2B}"/>
              </a:ext>
            </a:extLst>
          </p:cNvPr>
          <p:cNvSpPr txBox="1"/>
          <p:nvPr/>
        </p:nvSpPr>
        <p:spPr>
          <a:xfrm>
            <a:off x="1879045" y="2969025"/>
            <a:ext cx="796705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Start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BE59A3-0D38-8502-4844-ABEC9EF2716B}"/>
              </a:ext>
            </a:extLst>
          </p:cNvPr>
          <p:cNvSpPr txBox="1"/>
          <p:nvPr/>
        </p:nvSpPr>
        <p:spPr>
          <a:xfrm>
            <a:off x="1858948" y="3788690"/>
            <a:ext cx="1258890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K base Address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DB6C46A-7BF2-C4B5-2F6C-C0400DBC13F7}"/>
              </a:ext>
            </a:extLst>
          </p:cNvPr>
          <p:cNvSpPr/>
          <p:nvPr/>
        </p:nvSpPr>
        <p:spPr>
          <a:xfrm>
            <a:off x="1410951" y="3014326"/>
            <a:ext cx="360478" cy="1504831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CD77E-CAED-D063-ED63-68B969F167D3}"/>
              </a:ext>
            </a:extLst>
          </p:cNvPr>
          <p:cNvSpPr txBox="1"/>
          <p:nvPr/>
        </p:nvSpPr>
        <p:spPr>
          <a:xfrm>
            <a:off x="52660" y="4632290"/>
            <a:ext cx="1806287" cy="2031325"/>
          </a:xfrm>
          <a:prstGeom prst="rect">
            <a:avLst/>
          </a:prstGeom>
          <a:solidFill>
            <a:srgbClr val="FDC28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Allows the central processor to initiate, configure, monitor prefetch engine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E4454D-C86A-8ED5-5BAD-4C068BE62BD5}"/>
              </a:ext>
            </a:extLst>
          </p:cNvPr>
          <p:cNvSpPr txBox="1"/>
          <p:nvPr/>
        </p:nvSpPr>
        <p:spPr>
          <a:xfrm>
            <a:off x="4303312" y="2145826"/>
            <a:ext cx="7403018" cy="646331"/>
          </a:xfrm>
          <a:prstGeom prst="rect">
            <a:avLst/>
          </a:prstGeom>
          <a:solidFill>
            <a:srgbClr val="FDC28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 single cycle clock pulse sent by central processor to command engine to start execution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634D1-E9EC-18D6-2144-4D3C6237C554}"/>
              </a:ext>
            </a:extLst>
          </p:cNvPr>
          <p:cNvSpPr txBox="1"/>
          <p:nvPr/>
        </p:nvSpPr>
        <p:spPr>
          <a:xfrm>
            <a:off x="4303312" y="2882666"/>
            <a:ext cx="7403018" cy="923330"/>
          </a:xfrm>
          <a:prstGeom prst="rect">
            <a:avLst/>
          </a:prstGeom>
          <a:solidFill>
            <a:srgbClr val="FDC28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 multi bit bus holding the absolute physical address where Q matrix starts in HBM. It provides the starting point for Look Ahead Address Generation Unit.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DF433E-772B-73B9-607E-EB338DF1BC5E}"/>
              </a:ext>
            </a:extLst>
          </p:cNvPr>
          <p:cNvSpPr txBox="1"/>
          <p:nvPr/>
        </p:nvSpPr>
        <p:spPr>
          <a:xfrm>
            <a:off x="4303312" y="3907093"/>
            <a:ext cx="7403018" cy="646331"/>
          </a:xfrm>
          <a:prstGeom prst="rect">
            <a:avLst/>
          </a:prstGeom>
          <a:solidFill>
            <a:srgbClr val="FDC28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 multi bit bus holding the absolute physical address where K matrix starts in HBM. It provides the starting point for fetching K tiles.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C06AF4-60B4-9E86-1393-E1B4C795EB55}"/>
              </a:ext>
            </a:extLst>
          </p:cNvPr>
          <p:cNvSpPr txBox="1"/>
          <p:nvPr/>
        </p:nvSpPr>
        <p:spPr>
          <a:xfrm>
            <a:off x="4303312" y="4674382"/>
            <a:ext cx="7403018" cy="923330"/>
          </a:xfrm>
          <a:prstGeom prst="rect">
            <a:avLst/>
          </a:prstGeom>
          <a:solidFill>
            <a:srgbClr val="FDC28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dirty="0"/>
              <a:t>A multi bit bus holding the absolute physical address where Q matrix starts in HBM. It provides the starting point for Look Ahead Address Generation Unit.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AC7A09-8F81-D17B-0F7B-4D35FA1D80AF}"/>
              </a:ext>
            </a:extLst>
          </p:cNvPr>
          <p:cNvCxnSpPr>
            <a:stCxn id="11" idx="3"/>
            <a:endCxn id="18" idx="1"/>
          </p:cNvCxnSpPr>
          <p:nvPr/>
        </p:nvCxnSpPr>
        <p:spPr>
          <a:xfrm flipV="1">
            <a:off x="2675750" y="2468992"/>
            <a:ext cx="1627562" cy="638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2BE825-136B-9823-074E-06FD1DC713EA}"/>
              </a:ext>
            </a:extLst>
          </p:cNvPr>
          <p:cNvCxnSpPr>
            <a:stCxn id="9" idx="3"/>
          </p:cNvCxnSpPr>
          <p:nvPr/>
        </p:nvCxnSpPr>
        <p:spPr>
          <a:xfrm flipV="1">
            <a:off x="3127888" y="3379456"/>
            <a:ext cx="1175424" cy="1385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728E548-E5AA-63BB-4139-0BA2E39199F0}"/>
              </a:ext>
            </a:extLst>
          </p:cNvPr>
          <p:cNvCxnSpPr>
            <a:stCxn id="13" idx="3"/>
          </p:cNvCxnSpPr>
          <p:nvPr/>
        </p:nvCxnSpPr>
        <p:spPr>
          <a:xfrm>
            <a:off x="3117838" y="3927190"/>
            <a:ext cx="1185474" cy="138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1FC16D8-972E-0A84-872D-2E09A4FAC973}"/>
              </a:ext>
            </a:extLst>
          </p:cNvPr>
          <p:cNvCxnSpPr>
            <a:stCxn id="7" idx="3"/>
            <a:endCxn id="24" idx="1"/>
          </p:cNvCxnSpPr>
          <p:nvPr/>
        </p:nvCxnSpPr>
        <p:spPr>
          <a:xfrm>
            <a:off x="3143642" y="4338819"/>
            <a:ext cx="1159670" cy="797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6B7575-C159-A04A-702F-E0C344242B27}"/>
              </a:ext>
            </a:extLst>
          </p:cNvPr>
          <p:cNvSpPr txBox="1"/>
          <p:nvPr/>
        </p:nvSpPr>
        <p:spPr>
          <a:xfrm>
            <a:off x="1584692" y="643094"/>
            <a:ext cx="8219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Different Input and Output Signals for Prefetch Engine</a:t>
            </a:r>
          </a:p>
        </p:txBody>
      </p:sp>
    </p:spTree>
    <p:extLst>
      <p:ext uri="{BB962C8B-B14F-4D97-AF65-F5344CB8AC3E}">
        <p14:creationId xmlns:p14="http://schemas.microsoft.com/office/powerpoint/2010/main" val="2756098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F6621E-EEEB-1C42-C18A-564D11F24127}"/>
              </a:ext>
            </a:extLst>
          </p:cNvPr>
          <p:cNvSpPr txBox="1"/>
          <p:nvPr/>
        </p:nvSpPr>
        <p:spPr>
          <a:xfrm>
            <a:off x="1772687" y="2492780"/>
            <a:ext cx="1593501" cy="276999"/>
          </a:xfrm>
          <a:prstGeom prst="rect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Compute_tile_done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FDDF3-55E9-66D9-CF8C-BC45BC215709}"/>
              </a:ext>
            </a:extLst>
          </p:cNvPr>
          <p:cNvSpPr txBox="1"/>
          <p:nvPr/>
        </p:nvSpPr>
        <p:spPr>
          <a:xfrm>
            <a:off x="1782744" y="2905454"/>
            <a:ext cx="1465199" cy="276999"/>
          </a:xfrm>
          <a:prstGeom prst="rect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Prefetch_tile_ready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E5743-049A-B7A5-0B6C-DEC35D3F2AA7}"/>
              </a:ext>
            </a:extLst>
          </p:cNvPr>
          <p:cNvSpPr txBox="1"/>
          <p:nvPr/>
        </p:nvSpPr>
        <p:spPr>
          <a:xfrm>
            <a:off x="1788608" y="3317195"/>
            <a:ext cx="1175650" cy="276999"/>
          </a:xfrm>
          <a:prstGeom prst="rect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Current_bank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AB68B6-E6A2-C569-D93E-C2107E13814C}"/>
              </a:ext>
            </a:extLst>
          </p:cNvPr>
          <p:cNvSpPr txBox="1"/>
          <p:nvPr/>
        </p:nvSpPr>
        <p:spPr>
          <a:xfrm>
            <a:off x="156128" y="2553068"/>
            <a:ext cx="1341078" cy="923330"/>
          </a:xfrm>
          <a:prstGeom prst="rect">
            <a:avLst/>
          </a:prstGeom>
          <a:solidFill>
            <a:srgbClr val="FDC2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Compute Handshake Line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4A6CE1E-6721-C0E3-5C10-4DB47AA57FCF}"/>
              </a:ext>
            </a:extLst>
          </p:cNvPr>
          <p:cNvSpPr/>
          <p:nvPr/>
        </p:nvSpPr>
        <p:spPr>
          <a:xfrm>
            <a:off x="1551625" y="2423669"/>
            <a:ext cx="175469" cy="1135292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F6497B-490C-2F9B-AA10-544B927AE85E}"/>
              </a:ext>
            </a:extLst>
          </p:cNvPr>
          <p:cNvSpPr txBox="1"/>
          <p:nvPr/>
        </p:nvSpPr>
        <p:spPr>
          <a:xfrm>
            <a:off x="65693" y="3769128"/>
            <a:ext cx="1806287" cy="2308324"/>
          </a:xfrm>
          <a:prstGeom prst="rect">
            <a:avLst/>
          </a:prstGeom>
          <a:solidFill>
            <a:srgbClr val="C7DF9F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Synchronizes Prefetch Engine with Stage 1 Systolic Array. Prevents Data Race, Overwriting, Execution Stalls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49DE4-A91D-B766-BC9F-F697D00CA1BA}"/>
              </a:ext>
            </a:extLst>
          </p:cNvPr>
          <p:cNvSpPr txBox="1"/>
          <p:nvPr/>
        </p:nvSpPr>
        <p:spPr>
          <a:xfrm>
            <a:off x="3961668" y="1110846"/>
            <a:ext cx="7403018" cy="1477328"/>
          </a:xfrm>
          <a:prstGeom prst="rect">
            <a:avLst/>
          </a:prstGeom>
          <a:solidFill>
            <a:srgbClr val="C7DF9F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Driven by Stage 1 Compute Controller back to Prefetch Engine. It is a release signal, informing the engine that systolic array has finished executing the operations on the current tiles. The exact clock edge when compute_tile_done goes high, Prefetch Engine transitions from Wait State to Swap Banks State.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DD615-EC7A-C0AC-9D10-C86BCFBCD9AD}"/>
              </a:ext>
            </a:extLst>
          </p:cNvPr>
          <p:cNvSpPr txBox="1"/>
          <p:nvPr/>
        </p:nvSpPr>
        <p:spPr>
          <a:xfrm>
            <a:off x="3961668" y="2830067"/>
            <a:ext cx="7403018" cy="923330"/>
          </a:xfrm>
          <a:prstGeom prst="rect">
            <a:avLst/>
          </a:prstGeom>
          <a:solidFill>
            <a:srgbClr val="C7DF9F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Driven by Prefetch Engine to Stage 1 Compute Controller. It is a guarantee signal assuring that the next required tiles are completely fetched from the HBM.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A0426F-25B6-DCA8-532A-CA735DC62438}"/>
              </a:ext>
            </a:extLst>
          </p:cNvPr>
          <p:cNvSpPr txBox="1"/>
          <p:nvPr/>
        </p:nvSpPr>
        <p:spPr>
          <a:xfrm>
            <a:off x="3961668" y="3995290"/>
            <a:ext cx="7403018" cy="1754326"/>
          </a:xfrm>
          <a:prstGeom prst="rect">
            <a:avLst/>
          </a:prstGeom>
          <a:solidFill>
            <a:srgbClr val="C7DF9F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Pointer flag for the dual bank memory allocation. It decides which physical half of the on-chip BRAM addresses(0-2047/2048-4095) belongs to the Prefetch Engine and which half belongs to the Compute Engine. When current_bank=0, Prefetch Engine writes incoming AXI data to Bank 0 and Compute Engine reads from Bank 1. During Swap Banks State, this bit flips, and ownership inverts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0FDFCF-C19C-E31A-9C8A-2237C25E791E}"/>
              </a:ext>
            </a:extLst>
          </p:cNvPr>
          <p:cNvCxnSpPr>
            <a:stCxn id="5" idx="3"/>
            <a:endCxn id="17" idx="1"/>
          </p:cNvCxnSpPr>
          <p:nvPr/>
        </p:nvCxnSpPr>
        <p:spPr>
          <a:xfrm flipV="1">
            <a:off x="3366188" y="1849510"/>
            <a:ext cx="595480" cy="781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C2E8B0-3EA5-1217-FEC8-7EF53E68AD78}"/>
              </a:ext>
            </a:extLst>
          </p:cNvPr>
          <p:cNvCxnSpPr>
            <a:stCxn id="7" idx="3"/>
          </p:cNvCxnSpPr>
          <p:nvPr/>
        </p:nvCxnSpPr>
        <p:spPr>
          <a:xfrm flipV="1">
            <a:off x="3247943" y="3043953"/>
            <a:ext cx="71372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6303D1-72BE-476D-020A-4B8273B4C3CF}"/>
              </a:ext>
            </a:extLst>
          </p:cNvPr>
          <p:cNvCxnSpPr>
            <a:stCxn id="9" idx="3"/>
          </p:cNvCxnSpPr>
          <p:nvPr/>
        </p:nvCxnSpPr>
        <p:spPr>
          <a:xfrm>
            <a:off x="2964258" y="3455695"/>
            <a:ext cx="997410" cy="9555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BB9C6-272B-0AB7-1087-092B630B2E43}"/>
              </a:ext>
            </a:extLst>
          </p:cNvPr>
          <p:cNvSpPr txBox="1"/>
          <p:nvPr/>
        </p:nvSpPr>
        <p:spPr>
          <a:xfrm flipH="1">
            <a:off x="1930915" y="2456886"/>
            <a:ext cx="1234315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axi_arready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9103-1F52-1E00-01EF-349968780F79}"/>
              </a:ext>
            </a:extLst>
          </p:cNvPr>
          <p:cNvSpPr txBox="1"/>
          <p:nvPr/>
        </p:nvSpPr>
        <p:spPr>
          <a:xfrm flipH="1">
            <a:off x="100481" y="2035150"/>
            <a:ext cx="1573089" cy="1477328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AXI Master Burst Memory Interface (Handshake Signals)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DCC12-04C8-A5F0-57EE-F33A35A92994}"/>
              </a:ext>
            </a:extLst>
          </p:cNvPr>
          <p:cNvSpPr txBox="1"/>
          <p:nvPr/>
        </p:nvSpPr>
        <p:spPr>
          <a:xfrm flipH="1">
            <a:off x="1918677" y="2773814"/>
            <a:ext cx="1234315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EED61-ED8E-171F-0AEF-760385BB9697}"/>
              </a:ext>
            </a:extLst>
          </p:cNvPr>
          <p:cNvSpPr txBox="1"/>
          <p:nvPr/>
        </p:nvSpPr>
        <p:spPr>
          <a:xfrm flipH="1">
            <a:off x="1930915" y="3131440"/>
            <a:ext cx="1234315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axi_rvalid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EE376C-B2E0-13B2-0A43-02A4635A811B}"/>
              </a:ext>
            </a:extLst>
          </p:cNvPr>
          <p:cNvSpPr txBox="1"/>
          <p:nvPr/>
        </p:nvSpPr>
        <p:spPr>
          <a:xfrm flipH="1">
            <a:off x="1948202" y="3847117"/>
            <a:ext cx="1234315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axi_rlast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2E879-4F71-837D-E25C-1779D0E0AC5B}"/>
              </a:ext>
            </a:extLst>
          </p:cNvPr>
          <p:cNvSpPr txBox="1"/>
          <p:nvPr/>
        </p:nvSpPr>
        <p:spPr>
          <a:xfrm flipH="1">
            <a:off x="1939339" y="1518479"/>
            <a:ext cx="1234315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axi_araddr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DFBE6-1567-F42E-1109-98F6D2A4EEB5}"/>
              </a:ext>
            </a:extLst>
          </p:cNvPr>
          <p:cNvSpPr txBox="1"/>
          <p:nvPr/>
        </p:nvSpPr>
        <p:spPr>
          <a:xfrm flipH="1">
            <a:off x="1930915" y="1824773"/>
            <a:ext cx="1234315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axi_arlen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5091D8-E3C5-E0EE-01D9-987A3A2299C3}"/>
              </a:ext>
            </a:extLst>
          </p:cNvPr>
          <p:cNvSpPr txBox="1"/>
          <p:nvPr/>
        </p:nvSpPr>
        <p:spPr>
          <a:xfrm flipH="1">
            <a:off x="1930915" y="2149401"/>
            <a:ext cx="1234315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axi_arvalid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863607-479E-0AF5-DE68-38D5838DB1A2}"/>
              </a:ext>
            </a:extLst>
          </p:cNvPr>
          <p:cNvSpPr txBox="1"/>
          <p:nvPr/>
        </p:nvSpPr>
        <p:spPr>
          <a:xfrm flipH="1">
            <a:off x="1921749" y="3444244"/>
            <a:ext cx="1234315" cy="276999"/>
          </a:xfrm>
          <a:prstGeom prst="rect">
            <a:avLst/>
          </a:prstGeom>
          <a:solidFill>
            <a:srgbClr val="E98CFC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axi_rready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3D4CCF36-5DB6-54AB-2103-1797D182DEC3}"/>
              </a:ext>
            </a:extLst>
          </p:cNvPr>
          <p:cNvSpPr/>
          <p:nvPr/>
        </p:nvSpPr>
        <p:spPr>
          <a:xfrm flipH="1">
            <a:off x="1704141" y="1474249"/>
            <a:ext cx="208442" cy="2534317"/>
          </a:xfrm>
          <a:prstGeom prst="righ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C87FAF-14BE-18C4-F03F-DDDAC6E25714}"/>
              </a:ext>
            </a:extLst>
          </p:cNvPr>
          <p:cNvSpPr txBox="1"/>
          <p:nvPr/>
        </p:nvSpPr>
        <p:spPr>
          <a:xfrm>
            <a:off x="106296" y="4229589"/>
            <a:ext cx="1806287" cy="1754326"/>
          </a:xfrm>
          <a:prstGeom prst="rect">
            <a:avLst/>
          </a:prstGeom>
          <a:solidFill>
            <a:srgbClr val="64FCF8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Manages the block data transfers between Prefetch Engine and HBM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5C3D1B-FA13-CFD4-2D5E-0B019A7553AC}"/>
              </a:ext>
            </a:extLst>
          </p:cNvPr>
          <p:cNvSpPr txBox="1"/>
          <p:nvPr/>
        </p:nvSpPr>
        <p:spPr>
          <a:xfrm>
            <a:off x="3690363" y="180489"/>
            <a:ext cx="7403018" cy="646331"/>
          </a:xfrm>
          <a:prstGeom prst="rect">
            <a:avLst/>
          </a:prstGeom>
          <a:solidFill>
            <a:srgbClr val="64FCF8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Output Address Bus. It points the external memory controller to the memory offset of the required Q or K block.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8A58BF-4782-081D-83EF-8FC8F558D157}"/>
              </a:ext>
            </a:extLst>
          </p:cNvPr>
          <p:cNvSpPr txBox="1"/>
          <p:nvPr/>
        </p:nvSpPr>
        <p:spPr>
          <a:xfrm>
            <a:off x="3690363" y="943860"/>
            <a:ext cx="7403018" cy="646331"/>
          </a:xfrm>
          <a:prstGeom prst="rect">
            <a:avLst/>
          </a:prstGeom>
          <a:solidFill>
            <a:srgbClr val="64FCF8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8 bit signal tells the memory controller to send 8 bit data after getting address request from the Output Address Bus.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E4A648-5F49-6872-3219-96336BC22680}"/>
              </a:ext>
            </a:extLst>
          </p:cNvPr>
          <p:cNvSpPr txBox="1"/>
          <p:nvPr/>
        </p:nvSpPr>
        <p:spPr>
          <a:xfrm>
            <a:off x="3690363" y="1723300"/>
            <a:ext cx="7403018" cy="923330"/>
          </a:xfrm>
          <a:prstGeom prst="rect">
            <a:avLst/>
          </a:prstGeom>
          <a:solidFill>
            <a:srgbClr val="64FCF8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Address  handshake pair. axi_arvalid  means the requested address is stable and real, while axi_arready means that the memory controller is free and accepted the request.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D9D84C-98B7-CA1F-0AA0-42A981301288}"/>
              </a:ext>
            </a:extLst>
          </p:cNvPr>
          <p:cNvSpPr txBox="1"/>
          <p:nvPr/>
        </p:nvSpPr>
        <p:spPr>
          <a:xfrm>
            <a:off x="3690363" y="2784133"/>
            <a:ext cx="7403018" cy="369332"/>
          </a:xfrm>
          <a:prstGeom prst="rect">
            <a:avLst/>
          </a:prstGeom>
          <a:solidFill>
            <a:srgbClr val="64FCF8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Input Data Bus. Carries actual matrix from the HBM to on chip DRAM.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6A0E76-9165-135B-7A9A-D187160F6DAD}"/>
              </a:ext>
            </a:extLst>
          </p:cNvPr>
          <p:cNvCxnSpPr>
            <a:stCxn id="15" idx="1"/>
            <a:endCxn id="27" idx="1"/>
          </p:cNvCxnSpPr>
          <p:nvPr/>
        </p:nvCxnSpPr>
        <p:spPr>
          <a:xfrm flipV="1">
            <a:off x="3173654" y="503655"/>
            <a:ext cx="516709" cy="1153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39045A-9ECF-00D7-E09E-4779D6320EC9}"/>
              </a:ext>
            </a:extLst>
          </p:cNvPr>
          <p:cNvCxnSpPr>
            <a:stCxn id="17" idx="1"/>
            <a:endCxn id="29" idx="1"/>
          </p:cNvCxnSpPr>
          <p:nvPr/>
        </p:nvCxnSpPr>
        <p:spPr>
          <a:xfrm flipV="1">
            <a:off x="3165230" y="1267026"/>
            <a:ext cx="525133" cy="6962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ight Brace 37">
            <a:extLst>
              <a:ext uri="{FF2B5EF4-FFF2-40B4-BE49-F238E27FC236}">
                <a16:creationId xmlns:a16="http://schemas.microsoft.com/office/drawing/2014/main" id="{D0971501-301D-CACA-7AB3-A9B6B1EFAA67}"/>
              </a:ext>
            </a:extLst>
          </p:cNvPr>
          <p:cNvSpPr/>
          <p:nvPr/>
        </p:nvSpPr>
        <p:spPr>
          <a:xfrm>
            <a:off x="3173654" y="2149401"/>
            <a:ext cx="122205" cy="624413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781170-5F9F-8E9E-C0D5-512F79CC15FB}"/>
              </a:ext>
            </a:extLst>
          </p:cNvPr>
          <p:cNvCxnSpPr>
            <a:stCxn id="38" idx="1"/>
          </p:cNvCxnSpPr>
          <p:nvPr/>
        </p:nvCxnSpPr>
        <p:spPr>
          <a:xfrm flipV="1">
            <a:off x="3295859" y="2101772"/>
            <a:ext cx="394504" cy="3598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F132187-92EF-DCC9-7A7B-3030E31435C9}"/>
              </a:ext>
            </a:extLst>
          </p:cNvPr>
          <p:cNvSpPr txBox="1"/>
          <p:nvPr/>
        </p:nvSpPr>
        <p:spPr>
          <a:xfrm>
            <a:off x="3673075" y="3290035"/>
            <a:ext cx="7403018" cy="923330"/>
          </a:xfrm>
          <a:prstGeom prst="rect">
            <a:avLst/>
          </a:prstGeom>
          <a:solidFill>
            <a:srgbClr val="64FCF8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Data handshake pair. axi_rvalid  means that a valid data is sitting on the axi_rdata bus, while axi_rready means that the Prefetch Engine is free and accepted the data.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0B6493D0-2008-C65A-4770-53A53324C1F5}"/>
              </a:ext>
            </a:extLst>
          </p:cNvPr>
          <p:cNvSpPr/>
          <p:nvPr/>
        </p:nvSpPr>
        <p:spPr>
          <a:xfrm>
            <a:off x="3200874" y="3126777"/>
            <a:ext cx="122205" cy="624413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DC2AF96-4A37-E4B0-D7E1-874BE15ACE0C}"/>
              </a:ext>
            </a:extLst>
          </p:cNvPr>
          <p:cNvCxnSpPr>
            <a:cxnSpLocks/>
            <a:stCxn id="43" idx="1"/>
          </p:cNvCxnSpPr>
          <p:nvPr/>
        </p:nvCxnSpPr>
        <p:spPr>
          <a:xfrm>
            <a:off x="3323079" y="3438984"/>
            <a:ext cx="358118" cy="143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DDD6CA5-99BF-34D8-3C88-A3EC33CC72E8}"/>
              </a:ext>
            </a:extLst>
          </p:cNvPr>
          <p:cNvCxnSpPr>
            <a:cxnSpLocks/>
          </p:cNvCxnSpPr>
          <p:nvPr/>
        </p:nvCxnSpPr>
        <p:spPr>
          <a:xfrm>
            <a:off x="3182517" y="2901328"/>
            <a:ext cx="490558" cy="9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A538DBE-EE12-059E-C97E-3642D7BF50AD}"/>
              </a:ext>
            </a:extLst>
          </p:cNvPr>
          <p:cNvCxnSpPr>
            <a:cxnSpLocks/>
          </p:cNvCxnSpPr>
          <p:nvPr/>
        </p:nvCxnSpPr>
        <p:spPr>
          <a:xfrm>
            <a:off x="3182517" y="3983806"/>
            <a:ext cx="464105" cy="711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3D28F60-09FD-C857-FE66-BBFF8A79E00E}"/>
              </a:ext>
            </a:extLst>
          </p:cNvPr>
          <p:cNvSpPr txBox="1"/>
          <p:nvPr/>
        </p:nvSpPr>
        <p:spPr>
          <a:xfrm>
            <a:off x="3673075" y="4340284"/>
            <a:ext cx="7403018" cy="1477328"/>
          </a:xfrm>
          <a:prstGeom prst="rect">
            <a:avLst/>
          </a:prstGeom>
          <a:solidFill>
            <a:srgbClr val="64FCF8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1 bit marker flag that informs the prefetch engine that the current item on the data bus is the absolute final piece of the requested tile. The exact cycle when axi_rlast and axi_rvalid are both true, the FSM terminates burst state,  resets the element tracking counters an checks if thenext matrix tile is needed to be fetched.</a:t>
            </a:r>
          </a:p>
        </p:txBody>
      </p:sp>
    </p:spTree>
    <p:extLst>
      <p:ext uri="{BB962C8B-B14F-4D97-AF65-F5344CB8AC3E}">
        <p14:creationId xmlns:p14="http://schemas.microsoft.com/office/powerpoint/2010/main" val="609341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8813FE-2993-0216-1DDD-B0309FC5519E}"/>
              </a:ext>
            </a:extLst>
          </p:cNvPr>
          <p:cNvSpPr txBox="1"/>
          <p:nvPr/>
        </p:nvSpPr>
        <p:spPr>
          <a:xfrm flipH="1">
            <a:off x="1894862" y="2554309"/>
            <a:ext cx="1481297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bram_wr_en_Q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23C10-FA06-C884-CD2E-27863B04171B}"/>
              </a:ext>
            </a:extLst>
          </p:cNvPr>
          <p:cNvSpPr txBox="1"/>
          <p:nvPr/>
        </p:nvSpPr>
        <p:spPr>
          <a:xfrm flipH="1">
            <a:off x="1887292" y="3224715"/>
            <a:ext cx="1481297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bram_wr_addr_Q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C358E-8509-6503-CF5F-2FA21F645849}"/>
              </a:ext>
            </a:extLst>
          </p:cNvPr>
          <p:cNvSpPr txBox="1"/>
          <p:nvPr/>
        </p:nvSpPr>
        <p:spPr>
          <a:xfrm flipH="1">
            <a:off x="1887291" y="3879616"/>
            <a:ext cx="1481297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bram_wr_data_Q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2472A-3EEC-89BD-6967-DB342122BA5D}"/>
              </a:ext>
            </a:extLst>
          </p:cNvPr>
          <p:cNvSpPr txBox="1"/>
          <p:nvPr/>
        </p:nvSpPr>
        <p:spPr>
          <a:xfrm flipH="1">
            <a:off x="1894862" y="2882494"/>
            <a:ext cx="1481297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bram_wr_en_K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1C654-2943-F7B6-BC46-B98A7B5F1526}"/>
              </a:ext>
            </a:extLst>
          </p:cNvPr>
          <p:cNvSpPr txBox="1"/>
          <p:nvPr/>
        </p:nvSpPr>
        <p:spPr>
          <a:xfrm flipH="1">
            <a:off x="1887292" y="3539593"/>
            <a:ext cx="1481297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bram_wr_addr_K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87C37A-5D89-1FDE-F9F4-88DACD39385F}"/>
              </a:ext>
            </a:extLst>
          </p:cNvPr>
          <p:cNvSpPr txBox="1"/>
          <p:nvPr/>
        </p:nvSpPr>
        <p:spPr>
          <a:xfrm flipH="1">
            <a:off x="1887293" y="4224069"/>
            <a:ext cx="1481297" cy="276999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bram_wr_data_K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142704-4644-FC1F-F3BD-85B3D14C6960}"/>
              </a:ext>
            </a:extLst>
          </p:cNvPr>
          <p:cNvSpPr txBox="1"/>
          <p:nvPr/>
        </p:nvSpPr>
        <p:spPr>
          <a:xfrm flipH="1">
            <a:off x="70338" y="3214188"/>
            <a:ext cx="1426866" cy="646331"/>
          </a:xfrm>
          <a:prstGeom prst="rect">
            <a:avLst/>
          </a:prstGeom>
          <a:solidFill>
            <a:srgbClr val="FD8481"/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BRAM Buffer Interface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0F058DF5-ACB3-5411-FCA2-7C7B3A3481D8}"/>
              </a:ext>
            </a:extLst>
          </p:cNvPr>
          <p:cNvSpPr/>
          <p:nvPr/>
        </p:nvSpPr>
        <p:spPr>
          <a:xfrm flipH="1">
            <a:off x="1497204" y="2554716"/>
            <a:ext cx="250151" cy="1965274"/>
          </a:xfrm>
          <a:prstGeom prst="righ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22B48A-6B0C-8E6C-431F-59235FA8402A}"/>
              </a:ext>
            </a:extLst>
          </p:cNvPr>
          <p:cNvSpPr txBox="1"/>
          <p:nvPr/>
        </p:nvSpPr>
        <p:spPr>
          <a:xfrm>
            <a:off x="118720" y="4707021"/>
            <a:ext cx="1806287" cy="2031325"/>
          </a:xfrm>
          <a:prstGeom prst="rect">
            <a:avLst/>
          </a:prstGeom>
          <a:solidFill>
            <a:srgbClr val="C3B7C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Directly connected to the on-chip dual port DRAM. Prefetch engine only owns the write port of it.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8283252-B9D3-7589-50DC-671A85122B06}"/>
              </a:ext>
            </a:extLst>
          </p:cNvPr>
          <p:cNvSpPr/>
          <p:nvPr/>
        </p:nvSpPr>
        <p:spPr>
          <a:xfrm>
            <a:off x="3462563" y="2538727"/>
            <a:ext cx="122205" cy="624413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B0354CFC-E320-CB8E-A2B3-B4ACD485D01C}"/>
              </a:ext>
            </a:extLst>
          </p:cNvPr>
          <p:cNvSpPr/>
          <p:nvPr/>
        </p:nvSpPr>
        <p:spPr>
          <a:xfrm>
            <a:off x="3447423" y="3225146"/>
            <a:ext cx="122205" cy="624413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C9A8B4C7-BE7C-1AD3-3D0F-D8274B7CED92}"/>
              </a:ext>
            </a:extLst>
          </p:cNvPr>
          <p:cNvSpPr/>
          <p:nvPr/>
        </p:nvSpPr>
        <p:spPr>
          <a:xfrm>
            <a:off x="3448887" y="3895577"/>
            <a:ext cx="122205" cy="624413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74FFCA-07C2-2B7A-62F6-463FCE9B9CA4}"/>
              </a:ext>
            </a:extLst>
          </p:cNvPr>
          <p:cNvSpPr txBox="1"/>
          <p:nvPr/>
        </p:nvSpPr>
        <p:spPr>
          <a:xfrm>
            <a:off x="4263118" y="1195372"/>
            <a:ext cx="7403018" cy="923330"/>
          </a:xfrm>
          <a:prstGeom prst="rect">
            <a:avLst/>
          </a:prstGeom>
          <a:solidFill>
            <a:srgbClr val="C3B7C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1 bit control signals that tell BRAM exactly when to write data. bram_wr_en_Q is driven high only when the FSM is in AXI BURST Q State and axi_rvalid=1. The same applies to bram_wr_en_K.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7D594D-139B-76A6-1A2C-E8745AF69DF4}"/>
              </a:ext>
            </a:extLst>
          </p:cNvPr>
          <p:cNvSpPr txBox="1"/>
          <p:nvPr/>
        </p:nvSpPr>
        <p:spPr>
          <a:xfrm>
            <a:off x="4263118" y="2347552"/>
            <a:ext cx="7403018" cy="1754326"/>
          </a:xfrm>
          <a:prstGeom prst="rect">
            <a:avLst/>
          </a:prstGeom>
          <a:solidFill>
            <a:srgbClr val="C3B7C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Output Address Buses. Multi bit bus specifies the row index inside the BRAM where the incoming data must be written. </a:t>
            </a:r>
          </a:p>
          <a:p>
            <a:r>
              <a:rPr lang="en-US" dirty="0"/>
              <a:t>For Q  : if current_bank=0, then bram_wr_addr_Q = element_count, if current_bank=1, then bram_wr_addr_Q = element_count + 2048</a:t>
            </a:r>
          </a:p>
          <a:p>
            <a:r>
              <a:rPr lang="en-US" dirty="0"/>
              <a:t>For K : Instead of linear index, it drives transposition calculation:</a:t>
            </a:r>
          </a:p>
          <a:p>
            <a:r>
              <a:rPr lang="en-US" dirty="0"/>
              <a:t>address = k_col_count * B_C + k_row_count.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D4A384-61D4-7914-AAE5-C0F006D7CBE8}"/>
              </a:ext>
            </a:extLst>
          </p:cNvPr>
          <p:cNvCxnSpPr>
            <a:stCxn id="23" idx="1"/>
            <a:endCxn id="29" idx="1"/>
          </p:cNvCxnSpPr>
          <p:nvPr/>
        </p:nvCxnSpPr>
        <p:spPr>
          <a:xfrm flipV="1">
            <a:off x="3584768" y="1657037"/>
            <a:ext cx="678350" cy="1193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01B825-CA8D-DB38-8F96-86C6EDDF9336}"/>
              </a:ext>
            </a:extLst>
          </p:cNvPr>
          <p:cNvCxnSpPr>
            <a:stCxn id="25" idx="1"/>
          </p:cNvCxnSpPr>
          <p:nvPr/>
        </p:nvCxnSpPr>
        <p:spPr>
          <a:xfrm flipV="1">
            <a:off x="3569628" y="3159493"/>
            <a:ext cx="693490" cy="377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98F1844-960A-0F21-C846-7CB0BBF8BD0E}"/>
              </a:ext>
            </a:extLst>
          </p:cNvPr>
          <p:cNvSpPr txBox="1"/>
          <p:nvPr/>
        </p:nvSpPr>
        <p:spPr>
          <a:xfrm>
            <a:off x="4263118" y="4519990"/>
            <a:ext cx="7403018" cy="646331"/>
          </a:xfrm>
          <a:prstGeom prst="rect">
            <a:avLst/>
          </a:prstGeom>
          <a:solidFill>
            <a:srgbClr val="C3B7C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Pass the raw matrix element values received from the off-chip HBM to BRAM. These buses are directly registered to axi_rdata bus.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816A5A-47C5-B9CF-AAC5-616130B190F9}"/>
              </a:ext>
            </a:extLst>
          </p:cNvPr>
          <p:cNvCxnSpPr>
            <a:stCxn id="27" idx="1"/>
            <a:endCxn id="37" idx="1"/>
          </p:cNvCxnSpPr>
          <p:nvPr/>
        </p:nvCxnSpPr>
        <p:spPr>
          <a:xfrm>
            <a:off x="3571092" y="4207784"/>
            <a:ext cx="692026" cy="6353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688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173E87-4E29-3E3A-272C-F8E1A404D44C}"/>
              </a:ext>
            </a:extLst>
          </p:cNvPr>
          <p:cNvSpPr txBox="1"/>
          <p:nvPr/>
        </p:nvSpPr>
        <p:spPr>
          <a:xfrm>
            <a:off x="386571" y="3110890"/>
            <a:ext cx="2449271" cy="1754326"/>
          </a:xfrm>
          <a:prstGeom prst="rect">
            <a:avLst/>
          </a:prstGeom>
          <a:solidFill>
            <a:srgbClr val="8EE4F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IDLE STATE</a:t>
            </a:r>
          </a:p>
          <a:p>
            <a:r>
              <a:rPr lang="en-US" dirty="0"/>
              <a:t>i_pf&lt;-0, j_pf&lt;-0</a:t>
            </a:r>
          </a:p>
          <a:p>
            <a:r>
              <a:rPr lang="en-US" dirty="0"/>
              <a:t>engine_busy &lt;-0</a:t>
            </a:r>
          </a:p>
          <a:p>
            <a:r>
              <a:rPr lang="en-US" dirty="0"/>
              <a:t>prefetch_tile_ready&lt;-0</a:t>
            </a:r>
          </a:p>
          <a:p>
            <a:r>
              <a:rPr lang="en-US" dirty="0"/>
              <a:t>pf_K_required&lt;-1</a:t>
            </a:r>
          </a:p>
          <a:p>
            <a:r>
              <a:rPr lang="en-US" dirty="0"/>
              <a:t>current_bank&lt;-0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CE1312-41A1-B500-4515-90FC510FE975}"/>
              </a:ext>
            </a:extLst>
          </p:cNvPr>
          <p:cNvSpPr txBox="1"/>
          <p:nvPr/>
        </p:nvSpPr>
        <p:spPr>
          <a:xfrm>
            <a:off x="3049482" y="2779263"/>
            <a:ext cx="4549777" cy="3693319"/>
          </a:xfrm>
          <a:prstGeom prst="rect">
            <a:avLst/>
          </a:prstGeom>
          <a:solidFill>
            <a:srgbClr val="FDC28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ADDRESS CALC STATE</a:t>
            </a:r>
          </a:p>
          <a:p>
            <a:r>
              <a:rPr lang="en-US" dirty="0"/>
              <a:t>engine_busy &lt;-1</a:t>
            </a:r>
          </a:p>
          <a:p>
            <a:r>
              <a:rPr lang="en-US" dirty="0"/>
              <a:t>prefetch_tile_ready&lt;-0</a:t>
            </a:r>
          </a:p>
          <a:p>
            <a:r>
              <a:rPr lang="en-US" dirty="0"/>
              <a:t>axi_araddr &lt;-addr_Q_base + (i_pf*offset_q)</a:t>
            </a:r>
          </a:p>
          <a:p>
            <a:r>
              <a:rPr lang="en-US" dirty="0"/>
              <a:t>axi_arlen&lt;-(B_R*D_MODEL)-1</a:t>
            </a:r>
          </a:p>
          <a:p>
            <a:r>
              <a:rPr lang="en-US" dirty="0"/>
              <a:t>axi_arvalid&lt;-1</a:t>
            </a:r>
          </a:p>
          <a:p>
            <a:r>
              <a:rPr lang="en-US" dirty="0"/>
              <a:t>i_pf&lt;-i_pf +1</a:t>
            </a:r>
          </a:p>
          <a:p>
            <a:r>
              <a:rPr lang="en-US" dirty="0"/>
              <a:t>If i_pf +1==T_R</a:t>
            </a:r>
          </a:p>
          <a:p>
            <a:r>
              <a:rPr lang="en-US" dirty="0"/>
              <a:t>   i_pf&lt;-0</a:t>
            </a:r>
          </a:p>
          <a:p>
            <a:r>
              <a:rPr lang="en-US" dirty="0"/>
              <a:t>   j_pf&lt;-j_pf +1</a:t>
            </a:r>
          </a:p>
          <a:p>
            <a:r>
              <a:rPr lang="en-US" dirty="0"/>
              <a:t>   pf_K_required&lt;-1</a:t>
            </a:r>
          </a:p>
          <a:p>
            <a:r>
              <a:rPr lang="en-US" dirty="0"/>
              <a:t>Else pf_K_required&lt;-0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BE589-AD77-867E-BD6A-D09F970D06A5}"/>
              </a:ext>
            </a:extLst>
          </p:cNvPr>
          <p:cNvSpPr txBox="1"/>
          <p:nvPr/>
        </p:nvSpPr>
        <p:spPr>
          <a:xfrm>
            <a:off x="7534277" y="21966"/>
            <a:ext cx="4549778" cy="2308324"/>
          </a:xfrm>
          <a:prstGeom prst="rect">
            <a:avLst/>
          </a:prstGeom>
          <a:solidFill>
            <a:srgbClr val="FD848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AXI BURST Q STATE</a:t>
            </a:r>
          </a:p>
          <a:p>
            <a:r>
              <a:rPr lang="en-US" dirty="0"/>
              <a:t>If axi_arvalid ==1&amp;&amp; axi_arready==1</a:t>
            </a:r>
          </a:p>
          <a:p>
            <a:r>
              <a:rPr lang="en-US" dirty="0"/>
              <a:t>axi_arvalid&lt;-0</a:t>
            </a:r>
          </a:p>
          <a:p>
            <a:r>
              <a:rPr lang="en-US" dirty="0"/>
              <a:t>If axi_rlast ==1&amp;&amp; axi_rvalid ==1&amp;&amp; pf_K_required==1</a:t>
            </a:r>
          </a:p>
          <a:p>
            <a:r>
              <a:rPr lang="en-US" dirty="0"/>
              <a:t>axi_araddr&lt;-addr_K_base + (j_pf*offset_k)</a:t>
            </a:r>
          </a:p>
          <a:p>
            <a:r>
              <a:rPr lang="en-US" dirty="0"/>
              <a:t>axi_ arlen&lt;-(B_C*D_MODEL)-1</a:t>
            </a:r>
          </a:p>
          <a:p>
            <a:r>
              <a:rPr lang="en-US" dirty="0"/>
              <a:t>axi_arvalid&lt;-1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3C7078-5845-08B3-38ED-AFFAC0BAFEED}"/>
              </a:ext>
            </a:extLst>
          </p:cNvPr>
          <p:cNvSpPr txBox="1"/>
          <p:nvPr/>
        </p:nvSpPr>
        <p:spPr>
          <a:xfrm>
            <a:off x="8860407" y="2510725"/>
            <a:ext cx="3223648" cy="1477328"/>
          </a:xfrm>
          <a:prstGeom prst="rect">
            <a:avLst/>
          </a:prstGeom>
          <a:solidFill>
            <a:srgbClr val="B6A8B8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AXI BURST K STATE</a:t>
            </a:r>
          </a:p>
          <a:p>
            <a:r>
              <a:rPr lang="en-US" dirty="0"/>
              <a:t>If axi_arvalid==1 &amp;&amp; axi_arready==1</a:t>
            </a:r>
          </a:p>
          <a:p>
            <a:r>
              <a:rPr lang="en-US" dirty="0"/>
              <a:t>axi_arvalid&lt;-0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7D3DF1-64FA-06AC-BBD0-45891B96B041}"/>
              </a:ext>
            </a:extLst>
          </p:cNvPr>
          <p:cNvSpPr txBox="1"/>
          <p:nvPr/>
        </p:nvSpPr>
        <p:spPr>
          <a:xfrm>
            <a:off x="8857824" y="4168488"/>
            <a:ext cx="322364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WAIT STATE</a:t>
            </a:r>
          </a:p>
          <a:p>
            <a:r>
              <a:rPr lang="en-US" dirty="0"/>
              <a:t>prefetch_tile_ready&lt;-1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62AAC-B985-17BB-3642-949C16574B78}"/>
              </a:ext>
            </a:extLst>
          </p:cNvPr>
          <p:cNvSpPr txBox="1"/>
          <p:nvPr/>
        </p:nvSpPr>
        <p:spPr>
          <a:xfrm>
            <a:off x="8737707" y="5272253"/>
            <a:ext cx="3223648" cy="1200329"/>
          </a:xfrm>
          <a:prstGeom prst="rect">
            <a:avLst/>
          </a:prstGeom>
          <a:solidFill>
            <a:srgbClr val="83FBD6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dirty="0"/>
              <a:t>SWAP BANKS STATE</a:t>
            </a:r>
          </a:p>
          <a:p>
            <a:r>
              <a:rPr lang="en-US" dirty="0"/>
              <a:t>prefetch_tile_ready&lt;-0</a:t>
            </a:r>
          </a:p>
          <a:p>
            <a:r>
              <a:rPr lang="en-US" dirty="0"/>
              <a:t>current_bank&lt;-~current_bank</a:t>
            </a:r>
          </a:p>
          <a:p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9F387E-0CA3-D475-E9F2-E3CDD5FE046C}"/>
              </a:ext>
            </a:extLst>
          </p:cNvPr>
          <p:cNvCxnSpPr>
            <a:cxnSpLocks/>
          </p:cNvCxnSpPr>
          <p:nvPr/>
        </p:nvCxnSpPr>
        <p:spPr>
          <a:xfrm>
            <a:off x="2845892" y="3988053"/>
            <a:ext cx="2136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B631D4-0680-0FEA-95B4-525037C7E2BB}"/>
              </a:ext>
            </a:extLst>
          </p:cNvPr>
          <p:cNvCxnSpPr>
            <a:cxnSpLocks/>
          </p:cNvCxnSpPr>
          <p:nvPr/>
        </p:nvCxnSpPr>
        <p:spPr>
          <a:xfrm>
            <a:off x="6792686" y="991463"/>
            <a:ext cx="7415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827212-77EE-3C77-EB9C-64C152857438}"/>
              </a:ext>
            </a:extLst>
          </p:cNvPr>
          <p:cNvCxnSpPr>
            <a:endCxn id="14" idx="0"/>
          </p:cNvCxnSpPr>
          <p:nvPr/>
        </p:nvCxnSpPr>
        <p:spPr>
          <a:xfrm>
            <a:off x="10469648" y="2330290"/>
            <a:ext cx="2583" cy="180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DD89F0-F526-B56E-B9FD-719EE01A54B9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10469648" y="3988053"/>
            <a:ext cx="2583" cy="180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5B81BC6-F12D-4E48-080D-8F7EF09CD16A}"/>
              </a:ext>
            </a:extLst>
          </p:cNvPr>
          <p:cNvCxnSpPr>
            <a:stCxn id="16" idx="2"/>
          </p:cNvCxnSpPr>
          <p:nvPr/>
        </p:nvCxnSpPr>
        <p:spPr>
          <a:xfrm>
            <a:off x="10469648" y="5091818"/>
            <a:ext cx="0" cy="180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1FFF6F-3DD4-1862-C350-EB7253F9603F}"/>
              </a:ext>
            </a:extLst>
          </p:cNvPr>
          <p:cNvCxnSpPr/>
          <p:nvPr/>
        </p:nvCxnSpPr>
        <p:spPr>
          <a:xfrm>
            <a:off x="6792686" y="991463"/>
            <a:ext cx="0" cy="1771834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D653272-08B5-2BB7-DBE0-FFC3F6DD142F}"/>
              </a:ext>
            </a:extLst>
          </p:cNvPr>
          <p:cNvSpPr txBox="1"/>
          <p:nvPr/>
        </p:nvSpPr>
        <p:spPr>
          <a:xfrm>
            <a:off x="1245996" y="803868"/>
            <a:ext cx="4310740" cy="830997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Value of Different Control Signals at Different States</a:t>
            </a:r>
          </a:p>
        </p:txBody>
      </p:sp>
    </p:spTree>
    <p:extLst>
      <p:ext uri="{BB962C8B-B14F-4D97-AF65-F5344CB8AC3E}">
        <p14:creationId xmlns:p14="http://schemas.microsoft.com/office/powerpoint/2010/main" val="1906541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33691-56B1-62E7-3F02-D9DB7DDC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Memory Streaming and Matrix Transpose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1867D-BC4A-B49B-5D55-49D319FE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03216"/>
          </a:xfrm>
        </p:spPr>
        <p:txBody>
          <a:bodyPr/>
          <a:lstStyle/>
          <a:p>
            <a:r>
              <a:rPr lang="en-US" dirty="0"/>
              <a:t> Default write strobes down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bram_wr_en_Q &lt;-0, bram_wr_en_K &lt;-0;</a:t>
            </a:r>
          </a:p>
          <a:p>
            <a:r>
              <a:rPr lang="en-US" dirty="0"/>
              <a:t>If (</a:t>
            </a:r>
            <a:r>
              <a:rPr lang="en-US" b="1" dirty="0">
                <a:solidFill>
                  <a:srgbClr val="FF0000"/>
                </a:solidFill>
              </a:rPr>
              <a:t>current_state==AXI BURST STATE &amp;&amp; axi_rvalid==1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>
                <a:solidFill>
                  <a:srgbClr val="FF0000"/>
                </a:solidFill>
              </a:rPr>
              <a:t>bram_wr_en_Q &lt;-1, bram_wr_data_Q&lt;-axi_rdata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bram_wr_addr_Q &lt;= (current_bank == 1'b0) ? element_count :   (element_count + 2048); </a:t>
            </a:r>
          </a:p>
          <a:p>
            <a:r>
              <a:rPr lang="en-US" dirty="0"/>
              <a:t>if (</a:t>
            </a:r>
            <a:r>
              <a:rPr lang="en-US" b="1" dirty="0">
                <a:solidFill>
                  <a:srgbClr val="FF0000"/>
                </a:solidFill>
              </a:rPr>
              <a:t>axi_rlast==1</a:t>
            </a:r>
            <a:r>
              <a:rPr lang="en-US" dirty="0"/>
              <a:t>)  then </a:t>
            </a:r>
            <a:r>
              <a:rPr lang="en-US" b="1" dirty="0">
                <a:solidFill>
                  <a:srgbClr val="FF0000"/>
                </a:solidFill>
              </a:rPr>
              <a:t>element_count&lt;-0</a:t>
            </a:r>
          </a:p>
          <a:p>
            <a:r>
              <a:rPr lang="en-US" dirty="0"/>
              <a:t>else </a:t>
            </a:r>
            <a:r>
              <a:rPr lang="en-US" b="1" dirty="0">
                <a:solidFill>
                  <a:srgbClr val="FF0000"/>
                </a:solidFill>
              </a:rPr>
              <a:t>element_count&lt;-element_count+1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8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28194-FB27-53F9-EC96-C9A6DF167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973"/>
            <a:ext cx="11141990" cy="5928990"/>
          </a:xfrm>
        </p:spPr>
        <p:txBody>
          <a:bodyPr/>
          <a:lstStyle/>
          <a:p>
            <a:r>
              <a:rPr lang="en-US" dirty="0"/>
              <a:t>If (</a:t>
            </a:r>
            <a:r>
              <a:rPr lang="en-US" b="1" dirty="0">
                <a:solidFill>
                  <a:srgbClr val="FF0000"/>
                </a:solidFill>
              </a:rPr>
              <a:t>current_state==AXI BURST STATE K &amp;&amp; axi_rvalid==1</a:t>
            </a:r>
            <a:r>
              <a:rPr lang="en-US" dirty="0"/>
              <a:t>) then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bram_wr_en_K&lt;-1, bram_wr_data_K&lt;-axi_data;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bram_wr_addr_K&lt;-(current_bank==0)?(K_col_count*B_C*K_row_count)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:(K_col_count*B_C+K_row_count + 2048)</a:t>
            </a:r>
          </a:p>
          <a:p>
            <a:r>
              <a:rPr lang="en-US" dirty="0">
                <a:sym typeface="Wingdings" panose="05000000000000000000" pitchFamily="2" charset="2"/>
              </a:rPr>
              <a:t>If (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K_col_count==D_MODEL-1</a:t>
            </a:r>
            <a:r>
              <a:rPr lang="en-US" dirty="0">
                <a:sym typeface="Wingdings" panose="05000000000000000000" pitchFamily="2" charset="2"/>
              </a:rPr>
              <a:t>) then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k_col_count&lt;-0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{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If (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K_row_count==B_C-1</a:t>
            </a:r>
            <a:r>
              <a:rPr lang="en-US" dirty="0">
                <a:sym typeface="Wingdings" panose="05000000000000000000" pitchFamily="2" charset="2"/>
              </a:rPr>
              <a:t>) then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K_row_count&lt;-0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Else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K_row_count &lt;- K_row_count +1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}</a:t>
            </a:r>
          </a:p>
          <a:p>
            <a:r>
              <a:rPr lang="en-US" dirty="0">
                <a:sym typeface="Wingdings" panose="05000000000000000000" pitchFamily="2" charset="2"/>
              </a:rPr>
              <a:t>Else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K_col_count &lt;- K_col_count +1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926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FE96-3B12-C867-1413-AD239DBD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Advantages of Prefetch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08ACA-A799-7CC8-52E9-1F93D2395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Overlaps off-chip memory access with systolic array execution. </a:t>
            </a:r>
            <a:r>
              <a:rPr lang="en-US" dirty="0">
                <a:solidFill>
                  <a:srgbClr val="FF0000"/>
                </a:solidFill>
              </a:rPr>
              <a:t>The next data tile is already loaded </a:t>
            </a:r>
            <a:r>
              <a:rPr lang="en-US" dirty="0"/>
              <a:t>before the current computation loop ends.</a:t>
            </a:r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dirty="0">
                <a:solidFill>
                  <a:srgbClr val="FF0000"/>
                </a:solidFill>
              </a:rPr>
              <a:t>. Eliminates execution stalls </a:t>
            </a:r>
            <a:r>
              <a:rPr lang="en-US" dirty="0"/>
              <a:t>in systolic array processing elements. </a:t>
            </a:r>
          </a:p>
          <a:p>
            <a:pPr marL="0" indent="0">
              <a:buNone/>
            </a:pPr>
            <a:r>
              <a:rPr lang="en-US" dirty="0"/>
              <a:t>3</a:t>
            </a:r>
            <a:r>
              <a:rPr lang="en-US" dirty="0">
                <a:solidFill>
                  <a:srgbClr val="FF0000"/>
                </a:solidFill>
              </a:rPr>
              <a:t>. Executes K matrix transposition on-the-fly </a:t>
            </a:r>
            <a:r>
              <a:rPr lang="en-US" dirty="0"/>
              <a:t>inside BRAM routing wires.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dirty="0">
                <a:solidFill>
                  <a:srgbClr val="FF0000"/>
                </a:solidFill>
              </a:rPr>
              <a:t>. Fetches </a:t>
            </a:r>
            <a:r>
              <a:rPr lang="en-US" dirty="0"/>
              <a:t>stationary </a:t>
            </a:r>
            <a:r>
              <a:rPr lang="en-US" dirty="0">
                <a:solidFill>
                  <a:srgbClr val="FF0000"/>
                </a:solidFill>
              </a:rPr>
              <a:t>K tiles </a:t>
            </a:r>
            <a:r>
              <a:rPr lang="en-US" dirty="0"/>
              <a:t>only when the </a:t>
            </a:r>
            <a:r>
              <a:rPr lang="en-US" dirty="0">
                <a:solidFill>
                  <a:srgbClr val="FF0000"/>
                </a:solidFill>
              </a:rPr>
              <a:t>inner loop overflows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1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6A88D-D652-8337-4420-684AC23E3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8568" y="2378285"/>
            <a:ext cx="3954864" cy="1148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2919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2132</Words>
  <Application>Microsoft Office PowerPoint</Application>
  <PresentationFormat>Widescreen</PresentationFormat>
  <Paragraphs>232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FLASHATTENTION: Fast and Memory-Efficient Exact Attention with IO-Awareness</vt:lpstr>
      <vt:lpstr>Introduction</vt:lpstr>
      <vt:lpstr>Algorithm</vt:lpstr>
      <vt:lpstr>Advantages of FLASHATTENTION</vt:lpstr>
      <vt:lpstr>FARE : A Fine-grained Pipelined Reconfigurable FlashAttention Kernel</vt:lpstr>
      <vt:lpstr>Introduction </vt:lpstr>
      <vt:lpstr>Overview of FARE for FlashAttention Execution and related Equations</vt:lpstr>
      <vt:lpstr>PowerPoint Presentation</vt:lpstr>
      <vt:lpstr>Proposed Additional Block in STAGE 1</vt:lpstr>
      <vt:lpstr>Basic Block Diagram of Predictive Prefetch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Memory Streaming and Matrix Transpose Logic</vt:lpstr>
      <vt:lpstr>PowerPoint Presentation</vt:lpstr>
      <vt:lpstr>Advantages of Prefetch Engine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Aruddha Basu</dc:creator>
  <cp:lastModifiedBy>Rahul Tripathy</cp:lastModifiedBy>
  <cp:revision>4</cp:revision>
  <dcterms:created xsi:type="dcterms:W3CDTF">2026-06-08T08:02:58Z</dcterms:created>
  <dcterms:modified xsi:type="dcterms:W3CDTF">2026-06-11T09:39:58Z</dcterms:modified>
</cp:coreProperties>
</file>