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6" r:id="rId16"/>
    <p:sldId id="270" r:id="rId17"/>
    <p:sldId id="277" r:id="rId18"/>
    <p:sldId id="278" r:id="rId19"/>
    <p:sldId id="271" r:id="rId20"/>
    <p:sldId id="272" r:id="rId21"/>
    <p:sldId id="273" r:id="rId22"/>
    <p:sldId id="274" r:id="rId23"/>
    <p:sldId id="275" r:id="rId24"/>
  </p:sldIdLst>
  <p:sldSz cx="18288000" cy="10287000"/>
  <p:notesSz cx="6858000" cy="9144000"/>
  <p:embeddedFontLst>
    <p:embeddedFont>
      <p:font typeface="Archivo Black" panose="020B0604020202020204" charset="0"/>
      <p:regular r:id="rId25"/>
    </p:embeddedFont>
    <p:embeddedFont>
      <p:font typeface="Arimo" panose="020B0604020202020204" charset="0"/>
      <p:regular r:id="rId26"/>
    </p:embeddedFont>
    <p:embeddedFont>
      <p:font typeface="Calibri (MS) Bold" panose="020B0604020202020204" charset="0"/>
      <p:regular r:id="rId27"/>
    </p:embeddedFont>
    <p:embeddedFont>
      <p:font typeface="Canva Sans" panose="020B0604020202020204" charset="0"/>
      <p:regular r:id="rId28"/>
    </p:embeddedFont>
    <p:embeddedFont>
      <p:font typeface="Canva Sans Bold" panose="020B0604020202020204" charset="0"/>
      <p:regular r:id="rId29"/>
    </p:embeddedFont>
    <p:embeddedFont>
      <p:font typeface="Lato" panose="020F0502020204030203" pitchFamily="34" charset="0"/>
      <p:regular r:id="rId30"/>
    </p:embeddedFont>
    <p:embeddedFont>
      <p:font typeface="Lato Bold" panose="020B0604020202020204" charset="0"/>
      <p:regular r:id="rId31"/>
    </p:embeddedFont>
    <p:embeddedFont>
      <p:font typeface="Montserrat Bold" panose="020B0604020202020204" charset="0"/>
      <p:regular r:id="rId32"/>
    </p:embeddedFont>
    <p:embeddedFont>
      <p:font typeface="Open Sans" panose="020B0606030504020204" pitchFamily="34" charset="0"/>
      <p:regular r:id="rId33"/>
    </p:embeddedFont>
    <p:embeddedFont>
      <p:font typeface="Open Sans Bold" panose="020B0806030504020204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33202" y="8889160"/>
            <a:ext cx="11893526" cy="895859"/>
            <a:chOff x="0" y="0"/>
            <a:chExt cx="3132451" cy="2359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32451" cy="235946"/>
            </a:xfrm>
            <a:custGeom>
              <a:avLst/>
              <a:gdLst/>
              <a:ahLst/>
              <a:cxnLst/>
              <a:rect l="l" t="t" r="r" b="b"/>
              <a:pathLst>
                <a:path w="3132451" h="235946">
                  <a:moveTo>
                    <a:pt x="0" y="0"/>
                  </a:moveTo>
                  <a:lnTo>
                    <a:pt x="3132451" y="0"/>
                  </a:lnTo>
                  <a:lnTo>
                    <a:pt x="3132451" y="235946"/>
                  </a:lnTo>
                  <a:lnTo>
                    <a:pt x="0" y="235946"/>
                  </a:lnTo>
                  <a:close/>
                </a:path>
              </a:pathLst>
            </a:custGeom>
            <a:solidFill>
              <a:srgbClr val="1B294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132451" cy="2740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62419" y="7236394"/>
            <a:ext cx="6595621" cy="3585619"/>
          </a:xfrm>
          <a:custGeom>
            <a:avLst/>
            <a:gdLst/>
            <a:ahLst/>
            <a:cxnLst/>
            <a:rect l="l" t="t" r="r" b="b"/>
            <a:pathLst>
              <a:path w="6595621" h="3585619">
                <a:moveTo>
                  <a:pt x="0" y="0"/>
                </a:moveTo>
                <a:lnTo>
                  <a:pt x="6595621" y="0"/>
                </a:lnTo>
                <a:lnTo>
                  <a:pt x="6595621" y="3585620"/>
                </a:lnTo>
                <a:lnTo>
                  <a:pt x="0" y="35856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-1471874" y="-377589"/>
            <a:ext cx="2590500" cy="25905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42089" y="42089"/>
              <a:ext cx="728622" cy="728622"/>
            </a:xfrm>
            <a:custGeom>
              <a:avLst/>
              <a:gdLst/>
              <a:ahLst/>
              <a:cxnLst/>
              <a:rect l="l" t="t" r="r" b="b"/>
              <a:pathLst>
                <a:path w="728622" h="728622">
                  <a:moveTo>
                    <a:pt x="436161" y="29761"/>
                  </a:moveTo>
                  <a:lnTo>
                    <a:pt x="698861" y="292461"/>
                  </a:lnTo>
                  <a:cubicBezTo>
                    <a:pt x="738543" y="332142"/>
                    <a:pt x="738543" y="396480"/>
                    <a:pt x="698861" y="436161"/>
                  </a:cubicBezTo>
                  <a:lnTo>
                    <a:pt x="436161" y="698861"/>
                  </a:lnTo>
                  <a:cubicBezTo>
                    <a:pt x="396480" y="738543"/>
                    <a:pt x="332142" y="738543"/>
                    <a:pt x="292461" y="698861"/>
                  </a:cubicBezTo>
                  <a:lnTo>
                    <a:pt x="29761" y="436161"/>
                  </a:lnTo>
                  <a:cubicBezTo>
                    <a:pt x="-9920" y="396480"/>
                    <a:pt x="-9920" y="332142"/>
                    <a:pt x="29761" y="292461"/>
                  </a:cubicBezTo>
                  <a:lnTo>
                    <a:pt x="292461" y="29761"/>
                  </a:lnTo>
                  <a:cubicBezTo>
                    <a:pt x="332142" y="-9920"/>
                    <a:pt x="396480" y="-9920"/>
                    <a:pt x="436161" y="29761"/>
                  </a:cubicBezTo>
                  <a:close/>
                </a:path>
              </a:pathLst>
            </a:custGeom>
            <a:solidFill>
              <a:srgbClr val="99DFF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21612" y="-1533918"/>
            <a:ext cx="2792411" cy="279241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39046" y="39046"/>
              <a:ext cx="734709" cy="734709"/>
            </a:xfrm>
            <a:custGeom>
              <a:avLst/>
              <a:gdLst/>
              <a:ahLst/>
              <a:cxnLst/>
              <a:rect l="l" t="t" r="r" b="b"/>
              <a:pathLst>
                <a:path w="734709" h="734709">
                  <a:moveTo>
                    <a:pt x="434009" y="27609"/>
                  </a:moveTo>
                  <a:lnTo>
                    <a:pt x="707099" y="300699"/>
                  </a:lnTo>
                  <a:cubicBezTo>
                    <a:pt x="743911" y="337512"/>
                    <a:pt x="743911" y="397197"/>
                    <a:pt x="707099" y="434009"/>
                  </a:cubicBezTo>
                  <a:lnTo>
                    <a:pt x="434009" y="707099"/>
                  </a:lnTo>
                  <a:cubicBezTo>
                    <a:pt x="397197" y="743911"/>
                    <a:pt x="337512" y="743911"/>
                    <a:pt x="300699" y="707099"/>
                  </a:cubicBezTo>
                  <a:lnTo>
                    <a:pt x="27609" y="434009"/>
                  </a:lnTo>
                  <a:cubicBezTo>
                    <a:pt x="-9204" y="397197"/>
                    <a:pt x="-9204" y="337512"/>
                    <a:pt x="27609" y="300699"/>
                  </a:cubicBezTo>
                  <a:lnTo>
                    <a:pt x="300699" y="27609"/>
                  </a:lnTo>
                  <a:cubicBezTo>
                    <a:pt x="337512" y="-9204"/>
                    <a:pt x="397197" y="-9204"/>
                    <a:pt x="434009" y="27609"/>
                  </a:cubicBezTo>
                  <a:close/>
                </a:path>
              </a:pathLst>
            </a:custGeom>
            <a:solidFill>
              <a:srgbClr val="1B294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68457" y="994155"/>
            <a:ext cx="1544989" cy="154498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43588" y="43588"/>
              <a:ext cx="725624" cy="725624"/>
            </a:xfrm>
            <a:custGeom>
              <a:avLst/>
              <a:gdLst/>
              <a:ahLst/>
              <a:cxnLst/>
              <a:rect l="l" t="t" r="r" b="b"/>
              <a:pathLst>
                <a:path w="725624" h="725624">
                  <a:moveTo>
                    <a:pt x="437221" y="30821"/>
                  </a:moveTo>
                  <a:lnTo>
                    <a:pt x="694803" y="288403"/>
                  </a:lnTo>
                  <a:cubicBezTo>
                    <a:pt x="714537" y="308137"/>
                    <a:pt x="725624" y="334903"/>
                    <a:pt x="725624" y="362812"/>
                  </a:cubicBezTo>
                  <a:cubicBezTo>
                    <a:pt x="725624" y="390721"/>
                    <a:pt x="714537" y="417487"/>
                    <a:pt x="694803" y="437221"/>
                  </a:cubicBezTo>
                  <a:lnTo>
                    <a:pt x="437221" y="694803"/>
                  </a:lnTo>
                  <a:cubicBezTo>
                    <a:pt x="417487" y="714537"/>
                    <a:pt x="390721" y="725624"/>
                    <a:pt x="362812" y="725624"/>
                  </a:cubicBezTo>
                  <a:cubicBezTo>
                    <a:pt x="334903" y="725624"/>
                    <a:pt x="308137" y="714537"/>
                    <a:pt x="288403" y="694803"/>
                  </a:cubicBezTo>
                  <a:lnTo>
                    <a:pt x="30821" y="437221"/>
                  </a:lnTo>
                  <a:cubicBezTo>
                    <a:pt x="11087" y="417487"/>
                    <a:pt x="0" y="390721"/>
                    <a:pt x="0" y="362812"/>
                  </a:cubicBezTo>
                  <a:cubicBezTo>
                    <a:pt x="0" y="334903"/>
                    <a:pt x="11087" y="308137"/>
                    <a:pt x="30821" y="288403"/>
                  </a:cubicBezTo>
                  <a:lnTo>
                    <a:pt x="288403" y="30821"/>
                  </a:lnTo>
                  <a:cubicBezTo>
                    <a:pt x="308137" y="11087"/>
                    <a:pt x="334903" y="0"/>
                    <a:pt x="362812" y="0"/>
                  </a:cubicBezTo>
                  <a:cubicBezTo>
                    <a:pt x="390721" y="0"/>
                    <a:pt x="417487" y="11087"/>
                    <a:pt x="437221" y="30821"/>
                  </a:cubicBezTo>
                  <a:close/>
                </a:path>
              </a:pathLst>
            </a:custGeom>
            <a:solidFill>
              <a:srgbClr val="1B294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3690794"/>
            <a:ext cx="15491850" cy="2099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07"/>
              </a:lnSpc>
            </a:pPr>
            <a:r>
              <a:rPr lang="en-US" sz="6699" b="1">
                <a:solidFill>
                  <a:srgbClr val="00BF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MODIFIED PIPELINED FFN DESIGN</a:t>
            </a:r>
          </a:p>
          <a:p>
            <a:pPr algn="l">
              <a:lnSpc>
                <a:spcPts val="8307"/>
              </a:lnSpc>
            </a:pPr>
            <a:endParaRPr lang="en-US" sz="6699" b="1">
              <a:solidFill>
                <a:srgbClr val="00BF63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5677193"/>
            <a:ext cx="15491850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1B294A"/>
                </a:solidFill>
                <a:latin typeface="Lato"/>
                <a:ea typeface="Lato"/>
                <a:cs typeface="Lato"/>
                <a:sym typeface="Lato"/>
              </a:rPr>
              <a:t>Fully parallel design, FPGA board efficient implementation, block diagrams and results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416699" y="9102189"/>
            <a:ext cx="2103851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July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769381" y="-851192"/>
            <a:ext cx="889629" cy="5080241"/>
            <a:chOff x="0" y="0"/>
            <a:chExt cx="234306" cy="13380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4306" cy="1338006"/>
            </a:xfrm>
            <a:custGeom>
              <a:avLst/>
              <a:gdLst/>
              <a:ahLst/>
              <a:cxnLst/>
              <a:rect l="l" t="t" r="r" b="b"/>
              <a:pathLst>
                <a:path w="234306" h="1338006">
                  <a:moveTo>
                    <a:pt x="117153" y="0"/>
                  </a:moveTo>
                  <a:lnTo>
                    <a:pt x="117153" y="0"/>
                  </a:lnTo>
                  <a:cubicBezTo>
                    <a:pt x="181855" y="0"/>
                    <a:pt x="234306" y="52451"/>
                    <a:pt x="234306" y="117153"/>
                  </a:cubicBezTo>
                  <a:lnTo>
                    <a:pt x="234306" y="1220853"/>
                  </a:lnTo>
                  <a:cubicBezTo>
                    <a:pt x="234306" y="1285555"/>
                    <a:pt x="181855" y="1338006"/>
                    <a:pt x="117153" y="1338006"/>
                  </a:cubicBezTo>
                  <a:lnTo>
                    <a:pt x="117153" y="1338006"/>
                  </a:lnTo>
                  <a:cubicBezTo>
                    <a:pt x="52451" y="1338006"/>
                    <a:pt x="0" y="1285555"/>
                    <a:pt x="0" y="1220853"/>
                  </a:cubicBezTo>
                  <a:lnTo>
                    <a:pt x="0" y="117153"/>
                  </a:lnTo>
                  <a:cubicBezTo>
                    <a:pt x="0" y="52451"/>
                    <a:pt x="52451" y="0"/>
                    <a:pt x="117153" y="0"/>
                  </a:cubicBezTo>
                  <a:close/>
                </a:path>
              </a:pathLst>
            </a:custGeom>
            <a:solidFill>
              <a:srgbClr val="1B294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4306" cy="1376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8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884862" y="1559145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3" y="0"/>
                </a:lnTo>
                <a:lnTo>
                  <a:pt x="1038273" y="259568"/>
                </a:lnTo>
                <a:lnTo>
                  <a:pt x="0" y="25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1359248"/>
            <a:ext cx="3546358" cy="62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19944" y="3415655"/>
            <a:ext cx="6135040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3567B8"/>
                </a:solidFill>
                <a:latin typeface="Lato Bold"/>
                <a:ea typeface="Lato Bold"/>
                <a:cs typeface="Lato Bold"/>
                <a:sym typeface="Lato Bold"/>
              </a:rPr>
              <a:t>Introduction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19944" y="4067768"/>
            <a:ext cx="6135040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3567B8"/>
                </a:solidFill>
                <a:latin typeface="Lato Bold"/>
                <a:ea typeface="Lato Bold"/>
                <a:cs typeface="Lato Bold"/>
                <a:sym typeface="Lato Bold"/>
              </a:rPr>
              <a:t>Global Architecture Overview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19944" y="4719847"/>
            <a:ext cx="8947720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3567B8"/>
                </a:solidFill>
                <a:latin typeface="Lato Bold"/>
                <a:ea typeface="Lato Bold"/>
                <a:cs typeface="Lato Bold"/>
                <a:sym typeface="Lato Bold"/>
              </a:rPr>
              <a:t>Fully pipelined FFN implementation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19944" y="5371926"/>
            <a:ext cx="9596165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3567B8"/>
                </a:solidFill>
                <a:latin typeface="Lato Bold"/>
                <a:ea typeface="Lato Bold"/>
                <a:cs typeface="Lato Bold"/>
                <a:sym typeface="Lato Bold"/>
              </a:rPr>
              <a:t>Resource - efficient FFN implementation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19944" y="6024005"/>
            <a:ext cx="6135040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3567B8"/>
                </a:solidFill>
                <a:latin typeface="Lato Bold"/>
                <a:ea typeface="Lato Bold"/>
                <a:cs typeface="Lato Bold"/>
                <a:sym typeface="Lato Bold"/>
              </a:rPr>
              <a:t>Resource Utilization analysis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19944" y="6676084"/>
            <a:ext cx="6135040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3567B8"/>
                </a:solidFill>
                <a:latin typeface="Lato Bold"/>
                <a:ea typeface="Lato Bold"/>
                <a:cs typeface="Lato Bold"/>
                <a:sym typeface="Lato Bold"/>
              </a:rPr>
              <a:t>Latency analysis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19944" y="7278141"/>
            <a:ext cx="6135040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3567B8"/>
                </a:solidFill>
                <a:latin typeface="Lato Bold"/>
                <a:ea typeface="Lato Bold"/>
                <a:cs typeface="Lato Bold"/>
                <a:sym typeface="Lato Bold"/>
              </a:rPr>
              <a:t>Throughput analysis</a:t>
            </a:r>
          </a:p>
        </p:txBody>
      </p:sp>
      <p:sp>
        <p:nvSpPr>
          <p:cNvPr id="14" name="Freeform 14"/>
          <p:cNvSpPr/>
          <p:nvPr/>
        </p:nvSpPr>
        <p:spPr>
          <a:xfrm>
            <a:off x="691424" y="9378693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3" y="0"/>
                </a:lnTo>
                <a:lnTo>
                  <a:pt x="1038273" y="259568"/>
                </a:lnTo>
                <a:lnTo>
                  <a:pt x="0" y="25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989639" y="-1123902"/>
            <a:ext cx="1024532" cy="5655661"/>
            <a:chOff x="0" y="0"/>
            <a:chExt cx="269836" cy="14895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9836" cy="1489557"/>
            </a:xfrm>
            <a:custGeom>
              <a:avLst/>
              <a:gdLst/>
              <a:ahLst/>
              <a:cxnLst/>
              <a:rect l="l" t="t" r="r" b="b"/>
              <a:pathLst>
                <a:path w="269836" h="1489557">
                  <a:moveTo>
                    <a:pt x="120905" y="0"/>
                  </a:moveTo>
                  <a:lnTo>
                    <a:pt x="148931" y="0"/>
                  </a:lnTo>
                  <a:cubicBezTo>
                    <a:pt x="215705" y="0"/>
                    <a:pt x="269836" y="54131"/>
                    <a:pt x="269836" y="120905"/>
                  </a:cubicBezTo>
                  <a:lnTo>
                    <a:pt x="269836" y="1368652"/>
                  </a:lnTo>
                  <a:cubicBezTo>
                    <a:pt x="269836" y="1435426"/>
                    <a:pt x="215705" y="1489557"/>
                    <a:pt x="148931" y="1489557"/>
                  </a:cubicBezTo>
                  <a:lnTo>
                    <a:pt x="120905" y="1489557"/>
                  </a:lnTo>
                  <a:cubicBezTo>
                    <a:pt x="54131" y="1489557"/>
                    <a:pt x="0" y="1435426"/>
                    <a:pt x="0" y="1368652"/>
                  </a:cubicBezTo>
                  <a:lnTo>
                    <a:pt x="0" y="120905"/>
                  </a:lnTo>
                  <a:cubicBezTo>
                    <a:pt x="0" y="54131"/>
                    <a:pt x="54131" y="0"/>
                    <a:pt x="120905" y="0"/>
                  </a:cubicBezTo>
                  <a:close/>
                </a:path>
              </a:pathLst>
            </a:custGeom>
            <a:solidFill>
              <a:srgbClr val="1B294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69836" cy="1527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8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547021" y="2909720"/>
            <a:ext cx="8414937" cy="1605311"/>
          </a:xfrm>
          <a:custGeom>
            <a:avLst/>
            <a:gdLst/>
            <a:ahLst/>
            <a:cxnLst/>
            <a:rect l="l" t="t" r="r" b="b"/>
            <a:pathLst>
              <a:path w="8414937" h="1605311">
                <a:moveTo>
                  <a:pt x="0" y="0"/>
                </a:moveTo>
                <a:lnTo>
                  <a:pt x="8414936" y="0"/>
                </a:lnTo>
                <a:lnTo>
                  <a:pt x="8414936" y="1605312"/>
                </a:lnTo>
                <a:lnTo>
                  <a:pt x="0" y="1605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9547021" y="4515032"/>
            <a:ext cx="8414937" cy="1979068"/>
          </a:xfrm>
          <a:custGeom>
            <a:avLst/>
            <a:gdLst/>
            <a:ahLst/>
            <a:cxnLst/>
            <a:rect l="l" t="t" r="r" b="b"/>
            <a:pathLst>
              <a:path w="8414937" h="1979068">
                <a:moveTo>
                  <a:pt x="0" y="0"/>
                </a:moveTo>
                <a:lnTo>
                  <a:pt x="8414936" y="0"/>
                </a:lnTo>
                <a:lnTo>
                  <a:pt x="8414936" y="1979068"/>
                </a:lnTo>
                <a:lnTo>
                  <a:pt x="0" y="19790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9547021" y="6494100"/>
            <a:ext cx="8225816" cy="1556577"/>
          </a:xfrm>
          <a:custGeom>
            <a:avLst/>
            <a:gdLst/>
            <a:ahLst/>
            <a:cxnLst/>
            <a:rect l="l" t="t" r="r" b="b"/>
            <a:pathLst>
              <a:path w="8225816" h="1556577">
                <a:moveTo>
                  <a:pt x="0" y="0"/>
                </a:moveTo>
                <a:lnTo>
                  <a:pt x="8225815" y="0"/>
                </a:lnTo>
                <a:lnTo>
                  <a:pt x="8225815" y="1556577"/>
                </a:lnTo>
                <a:lnTo>
                  <a:pt x="0" y="15565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1351777"/>
            <a:ext cx="4301036" cy="62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034049"/>
            <a:ext cx="7530780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1">
                <a:solidFill>
                  <a:srgbClr val="1B2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Background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4450" y="6428271"/>
            <a:ext cx="6704780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1B2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664751"/>
            <a:ext cx="7530780" cy="155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Earlier, </a:t>
            </a:r>
            <a:r>
              <a:rPr lang="en-US" sz="2200" b="1">
                <a:solidFill>
                  <a:srgbClr val="00BF63"/>
                </a:solidFill>
                <a:latin typeface="Lato Bold"/>
                <a:ea typeface="Lato Bold"/>
                <a:cs typeface="Lato Bold"/>
                <a:sym typeface="Lato Bold"/>
              </a:rPr>
              <a:t>fully pipelined 5 stage feed forward network</a:t>
            </a:r>
            <a:r>
              <a:rPr lang="en-US" sz="2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was implemented, but due to </a:t>
            </a:r>
            <a:r>
              <a:rPr lang="en-US" sz="2200" b="1">
                <a:solidFill>
                  <a:srgbClr val="FF3131"/>
                </a:solidFill>
                <a:latin typeface="Lato Bold"/>
                <a:ea typeface="Lato Bold"/>
                <a:cs typeface="Lato Bold"/>
                <a:sym typeface="Lato Bold"/>
              </a:rPr>
              <a:t>massive resource utilization</a:t>
            </a:r>
            <a:r>
              <a:rPr lang="en-US" sz="2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a </a:t>
            </a:r>
            <a:r>
              <a:rPr lang="en-US" sz="2200" b="1">
                <a:solidFill>
                  <a:srgbClr val="00BF63"/>
                </a:solidFill>
                <a:latin typeface="Lato Bold"/>
                <a:ea typeface="Lato Bold"/>
                <a:cs typeface="Lato Bold"/>
                <a:sym typeface="Lato Bold"/>
              </a:rPr>
              <a:t>resource - optimized feed forward network</a:t>
            </a:r>
            <a:r>
              <a:rPr lang="en-US" sz="2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has been implemented for </a:t>
            </a:r>
            <a:r>
              <a:rPr lang="en-US" sz="2200" b="1">
                <a:solidFill>
                  <a:srgbClr val="00BF63"/>
                </a:solidFill>
                <a:latin typeface="Lato Bold"/>
                <a:ea typeface="Lato Bold"/>
                <a:cs typeface="Lato Bold"/>
                <a:sym typeface="Lato Bold"/>
              </a:rPr>
              <a:t>Zync - 7000 FPGA board</a:t>
            </a:r>
            <a:r>
              <a:rPr lang="en-US" sz="2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7028681"/>
            <a:ext cx="7123880" cy="2334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indent="-237491" algn="l">
              <a:lnSpc>
                <a:spcPts val="3080"/>
              </a:lnSpc>
              <a:buAutoNum type="arabicPeriod"/>
            </a:pPr>
            <a:r>
              <a:rPr lang="en-US" sz="2200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200" b="1">
                <a:solidFill>
                  <a:srgbClr val="FF3131"/>
                </a:solidFill>
                <a:latin typeface="Lato Bold"/>
                <a:ea typeface="Lato Bold"/>
                <a:cs typeface="Lato Bold"/>
                <a:sym typeface="Lato Bold"/>
              </a:rPr>
              <a:t>Reduce </a:t>
            </a:r>
            <a:r>
              <a:rPr lang="en-US" sz="2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usage of </a:t>
            </a:r>
            <a:r>
              <a:rPr lang="en-US" sz="2200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DSP slices</a:t>
            </a:r>
            <a:r>
              <a:rPr lang="en-US" sz="2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474981" lvl="1" indent="-237491" algn="l">
              <a:lnSpc>
                <a:spcPts val="3080"/>
              </a:lnSpc>
              <a:buAutoNum type="arabicPeriod"/>
            </a:pPr>
            <a:r>
              <a:rPr lang="en-US" sz="2200">
                <a:solidFill>
                  <a:srgbClr val="FF313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00" b="1">
                <a:solidFill>
                  <a:srgbClr val="FF3131"/>
                </a:solidFill>
                <a:latin typeface="Lato Bold"/>
                <a:ea typeface="Lato Bold"/>
                <a:cs typeface="Lato Bold"/>
                <a:sym typeface="Lato Bold"/>
              </a:rPr>
              <a:t>Reduce </a:t>
            </a:r>
            <a:r>
              <a:rPr lang="en-US" sz="2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usage of </a:t>
            </a:r>
            <a:r>
              <a:rPr lang="en-US" sz="2200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LUT slices</a:t>
            </a:r>
            <a:r>
              <a:rPr lang="en-US" sz="2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474981" lvl="1" indent="-237491" algn="l">
              <a:lnSpc>
                <a:spcPts val="3080"/>
              </a:lnSpc>
              <a:buAutoNum type="arabicPeriod"/>
            </a:pPr>
            <a:r>
              <a:rPr lang="en-US" sz="2200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200" b="1">
                <a:solidFill>
                  <a:srgbClr val="FF3131"/>
                </a:solidFill>
                <a:latin typeface="Lato Bold"/>
                <a:ea typeface="Lato Bold"/>
                <a:cs typeface="Lato Bold"/>
                <a:sym typeface="Lato Bold"/>
              </a:rPr>
              <a:t>Reduce</a:t>
            </a:r>
            <a:r>
              <a:rPr lang="en-US" sz="2200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usage of </a:t>
            </a:r>
            <a:r>
              <a:rPr lang="en-US" sz="2200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IOB</a:t>
            </a:r>
            <a:r>
              <a:rPr lang="en-US" sz="2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474981" lvl="1" indent="-237491" algn="l">
              <a:lnSpc>
                <a:spcPts val="3080"/>
              </a:lnSpc>
              <a:buAutoNum type="arabicPeriod"/>
            </a:pPr>
            <a:r>
              <a:rPr lang="en-US" sz="2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Create seperate implementations considering :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        1. </a:t>
            </a:r>
            <a:r>
              <a:rPr lang="en-US" sz="2200" b="1">
                <a:solidFill>
                  <a:srgbClr val="00BF63"/>
                </a:solidFill>
                <a:latin typeface="Lato Bold"/>
                <a:ea typeface="Lato Bold"/>
                <a:cs typeface="Lato Bold"/>
                <a:sym typeface="Lato Bold"/>
              </a:rPr>
              <a:t>High resource utilization</a:t>
            </a:r>
            <a:r>
              <a:rPr lang="en-US" sz="2200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, </a:t>
            </a:r>
            <a:r>
              <a:rPr lang="en-US" sz="2200" b="1">
                <a:solidFill>
                  <a:srgbClr val="FF3131"/>
                </a:solidFill>
                <a:latin typeface="Lato Bold"/>
                <a:ea typeface="Lato Bold"/>
                <a:cs typeface="Lato Bold"/>
                <a:sym typeface="Lato Bold"/>
              </a:rPr>
              <a:t>low latency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        2. </a:t>
            </a:r>
            <a:r>
              <a:rPr lang="en-US" sz="2200" b="1">
                <a:solidFill>
                  <a:srgbClr val="FF3131"/>
                </a:solidFill>
                <a:latin typeface="Lato Bold"/>
                <a:ea typeface="Lato Bold"/>
                <a:cs typeface="Lato Bold"/>
                <a:sym typeface="Lato Bold"/>
              </a:rPr>
              <a:t>Low resource utilization</a:t>
            </a:r>
            <a:r>
              <a:rPr lang="en-US" sz="2200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,</a:t>
            </a:r>
            <a:r>
              <a:rPr lang="en-US" sz="2200" b="1">
                <a:solidFill>
                  <a:srgbClr val="00BF63"/>
                </a:solidFill>
                <a:latin typeface="Lato Bold"/>
                <a:ea typeface="Lato Bold"/>
                <a:cs typeface="Lato Bold"/>
                <a:sym typeface="Lato Bold"/>
              </a:rPr>
              <a:t> high</a:t>
            </a:r>
            <a:r>
              <a:rPr lang="en-US" sz="2200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200" b="1">
                <a:solidFill>
                  <a:srgbClr val="00BF63"/>
                </a:solidFill>
                <a:latin typeface="Lato Bold"/>
                <a:ea typeface="Lato Bold"/>
                <a:cs typeface="Lato Bold"/>
                <a:sym typeface="Lato Bold"/>
              </a:rPr>
              <a:t>latency</a:t>
            </a:r>
          </a:p>
        </p:txBody>
      </p:sp>
      <p:sp>
        <p:nvSpPr>
          <p:cNvPr id="13" name="Freeform 13"/>
          <p:cNvSpPr/>
          <p:nvPr/>
        </p:nvSpPr>
        <p:spPr>
          <a:xfrm>
            <a:off x="5712522" y="1570258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3" y="0"/>
                </a:lnTo>
                <a:lnTo>
                  <a:pt x="1038273" y="259568"/>
                </a:lnTo>
                <a:lnTo>
                  <a:pt x="0" y="25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509563" y="9717281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4" y="0"/>
                </a:lnTo>
                <a:lnTo>
                  <a:pt x="1038274" y="259568"/>
                </a:lnTo>
                <a:lnTo>
                  <a:pt x="0" y="25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2340075" y="-1290693"/>
            <a:ext cx="1682423" cy="6688497"/>
            <a:chOff x="0" y="0"/>
            <a:chExt cx="443107" cy="17615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3107" cy="1761579"/>
            </a:xfrm>
            <a:custGeom>
              <a:avLst/>
              <a:gdLst/>
              <a:ahLst/>
              <a:cxnLst/>
              <a:rect l="l" t="t" r="r" b="b"/>
              <a:pathLst>
                <a:path w="443107" h="1761579">
                  <a:moveTo>
                    <a:pt x="73626" y="0"/>
                  </a:moveTo>
                  <a:lnTo>
                    <a:pt x="369481" y="0"/>
                  </a:lnTo>
                  <a:cubicBezTo>
                    <a:pt x="410144" y="0"/>
                    <a:pt x="443107" y="32964"/>
                    <a:pt x="443107" y="73626"/>
                  </a:cubicBezTo>
                  <a:lnTo>
                    <a:pt x="443107" y="1687953"/>
                  </a:lnTo>
                  <a:cubicBezTo>
                    <a:pt x="443107" y="1728616"/>
                    <a:pt x="410144" y="1761579"/>
                    <a:pt x="369481" y="1761579"/>
                  </a:cubicBezTo>
                  <a:lnTo>
                    <a:pt x="73626" y="1761579"/>
                  </a:lnTo>
                  <a:cubicBezTo>
                    <a:pt x="32964" y="1761579"/>
                    <a:pt x="0" y="1728616"/>
                    <a:pt x="0" y="1687953"/>
                  </a:cubicBezTo>
                  <a:lnTo>
                    <a:pt x="0" y="73626"/>
                  </a:lnTo>
                  <a:cubicBezTo>
                    <a:pt x="0" y="32964"/>
                    <a:pt x="32964" y="0"/>
                    <a:pt x="73626" y="0"/>
                  </a:cubicBezTo>
                  <a:close/>
                </a:path>
              </a:pathLst>
            </a:custGeom>
            <a:solidFill>
              <a:srgbClr val="1B294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3107" cy="17996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8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93084" y="9160013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3" y="0"/>
                </a:lnTo>
                <a:lnTo>
                  <a:pt x="1038273" y="259569"/>
                </a:lnTo>
                <a:lnTo>
                  <a:pt x="0" y="259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7104507" y="1793987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3" y="0"/>
                </a:lnTo>
                <a:lnTo>
                  <a:pt x="1038273" y="259568"/>
                </a:lnTo>
                <a:lnTo>
                  <a:pt x="0" y="25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104507" y="2419968"/>
            <a:ext cx="10936162" cy="6607038"/>
          </a:xfrm>
          <a:custGeom>
            <a:avLst/>
            <a:gdLst/>
            <a:ahLst/>
            <a:cxnLst/>
            <a:rect l="l" t="t" r="r" b="b"/>
            <a:pathLst>
              <a:path w="10936162" h="6607038">
                <a:moveTo>
                  <a:pt x="0" y="0"/>
                </a:moveTo>
                <a:lnTo>
                  <a:pt x="10936161" y="0"/>
                </a:lnTo>
                <a:lnTo>
                  <a:pt x="10936161" y="6607038"/>
                </a:lnTo>
                <a:lnTo>
                  <a:pt x="0" y="66070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5872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64943" y="1357295"/>
            <a:ext cx="6128543" cy="194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GLOBAL ARCHITECTURE OVERVIEW</a:t>
            </a:r>
          </a:p>
          <a:p>
            <a:pPr algn="l">
              <a:lnSpc>
                <a:spcPts val="5179"/>
              </a:lnSpc>
            </a:pPr>
            <a:endParaRPr lang="en-US" sz="3699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60293" y="3838780"/>
            <a:ext cx="5829300" cy="3115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Both implementations share the same </a:t>
            </a:r>
            <a:r>
              <a:rPr lang="en-US" sz="2200" b="1">
                <a:solidFill>
                  <a:srgbClr val="00BF63"/>
                </a:solidFill>
                <a:latin typeface="Lato Bold"/>
                <a:ea typeface="Lato Bold"/>
                <a:cs typeface="Lato Bold"/>
                <a:sym typeface="Lato Bold"/>
              </a:rPr>
              <a:t>five-stage pipeline</a:t>
            </a:r>
            <a:r>
              <a:rPr lang="en-US" sz="2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structure. The mathematical operation is </a:t>
            </a:r>
            <a:r>
              <a:rPr lang="en-US" sz="2200">
                <a:solidFill>
                  <a:srgbClr val="00BF63"/>
                </a:solidFill>
                <a:latin typeface="Lato"/>
                <a:ea typeface="Lato"/>
                <a:cs typeface="Lato"/>
                <a:sym typeface="Lato"/>
              </a:rPr>
              <a:t>y = ReLU(x · W_up)</a:t>
            </a:r>
            <a:r>
              <a:rPr lang="en-US" sz="2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· </a:t>
            </a:r>
            <a:r>
              <a:rPr lang="en-US" sz="2200">
                <a:solidFill>
                  <a:srgbClr val="00BF63"/>
                </a:solidFill>
                <a:latin typeface="Lato"/>
                <a:ea typeface="Lato"/>
                <a:cs typeface="Lato"/>
                <a:sym typeface="Lato"/>
              </a:rPr>
              <a:t>W_down</a:t>
            </a:r>
            <a:r>
              <a:rPr lang="en-US" sz="2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where </a:t>
            </a:r>
            <a:r>
              <a:rPr lang="en-US" sz="2200">
                <a:solidFill>
                  <a:srgbClr val="00BF63"/>
                </a:solidFill>
                <a:latin typeface="Lato"/>
                <a:ea typeface="Lato"/>
                <a:cs typeface="Lato"/>
                <a:sym typeface="Lato"/>
              </a:rPr>
              <a:t>x is 1×D, W_up is D×4D</a:t>
            </a:r>
            <a:r>
              <a:rPr lang="en-US" sz="2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and </a:t>
            </a:r>
            <a:r>
              <a:rPr lang="en-US" sz="2200">
                <a:solidFill>
                  <a:srgbClr val="00BF63"/>
                </a:solidFill>
                <a:latin typeface="Lato"/>
                <a:ea typeface="Lato"/>
                <a:cs typeface="Lato"/>
                <a:sym typeface="Lato"/>
              </a:rPr>
              <a:t>W_down is 4D×D</a:t>
            </a:r>
            <a:r>
              <a:rPr lang="en-US" sz="2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 Data is processed in </a:t>
            </a:r>
            <a:r>
              <a:rPr lang="en-US" sz="2200">
                <a:solidFill>
                  <a:srgbClr val="00BF63"/>
                </a:solidFill>
                <a:latin typeface="Lato"/>
                <a:ea typeface="Lato"/>
                <a:cs typeface="Lato"/>
                <a:sym typeface="Lato"/>
              </a:rPr>
              <a:t>tiles of size M</a:t>
            </a:r>
            <a:r>
              <a:rPr lang="en-US" sz="2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and the pipeline operates in </a:t>
            </a:r>
            <a:r>
              <a:rPr lang="en-US" sz="2200">
                <a:solidFill>
                  <a:srgbClr val="00BF63"/>
                </a:solidFill>
                <a:latin typeface="Lato"/>
                <a:ea typeface="Lato"/>
                <a:cs typeface="Lato"/>
                <a:sym typeface="Lato"/>
              </a:rPr>
              <a:t>two phases</a:t>
            </a:r>
            <a:r>
              <a:rPr lang="en-US" sz="2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2200">
                <a:solidFill>
                  <a:srgbClr val="00BF63"/>
                </a:solidFill>
                <a:latin typeface="Lato"/>
                <a:ea typeface="Lato"/>
                <a:cs typeface="Lato"/>
                <a:sym typeface="Lato"/>
              </a:rPr>
              <a:t>UP</a:t>
            </a:r>
            <a:r>
              <a:rPr lang="en-US" sz="2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(compute x·W_up + ReLU) and </a:t>
            </a:r>
            <a:r>
              <a:rPr lang="en-US" sz="2200">
                <a:solidFill>
                  <a:srgbClr val="00BF63"/>
                </a:solidFill>
                <a:latin typeface="Lato"/>
                <a:ea typeface="Lato"/>
                <a:cs typeface="Lato"/>
                <a:sym typeface="Lato"/>
              </a:rPr>
              <a:t>DOWN</a:t>
            </a:r>
            <a:r>
              <a:rPr lang="en-US" sz="2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(compute ReLU_out·W_down + accumulate).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96005" y="1862649"/>
            <a:ext cx="11386900" cy="6561701"/>
          </a:xfrm>
          <a:custGeom>
            <a:avLst/>
            <a:gdLst/>
            <a:ahLst/>
            <a:cxnLst/>
            <a:rect l="l" t="t" r="r" b="b"/>
            <a:pathLst>
              <a:path w="11386900" h="6561701">
                <a:moveTo>
                  <a:pt x="0" y="0"/>
                </a:moveTo>
                <a:lnTo>
                  <a:pt x="11386900" y="0"/>
                </a:lnTo>
                <a:lnTo>
                  <a:pt x="11386900" y="6561702"/>
                </a:lnTo>
                <a:lnTo>
                  <a:pt x="0" y="6561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299623" y="-5999184"/>
            <a:ext cx="1061969" cy="13661216"/>
            <a:chOff x="0" y="0"/>
            <a:chExt cx="279696" cy="35980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696" cy="3598016"/>
            </a:xfrm>
            <a:custGeom>
              <a:avLst/>
              <a:gdLst/>
              <a:ahLst/>
              <a:cxnLst/>
              <a:rect l="l" t="t" r="r" b="b"/>
              <a:pathLst>
                <a:path w="279696" h="3598016">
                  <a:moveTo>
                    <a:pt x="116643" y="0"/>
                  </a:moveTo>
                  <a:lnTo>
                    <a:pt x="163053" y="0"/>
                  </a:lnTo>
                  <a:cubicBezTo>
                    <a:pt x="193989" y="0"/>
                    <a:pt x="223657" y="12289"/>
                    <a:pt x="245532" y="34164"/>
                  </a:cubicBezTo>
                  <a:cubicBezTo>
                    <a:pt x="267406" y="56039"/>
                    <a:pt x="279696" y="85707"/>
                    <a:pt x="279696" y="116643"/>
                  </a:cubicBezTo>
                  <a:lnTo>
                    <a:pt x="279696" y="3481373"/>
                  </a:lnTo>
                  <a:cubicBezTo>
                    <a:pt x="279696" y="3512308"/>
                    <a:pt x="267406" y="3541977"/>
                    <a:pt x="245532" y="3563852"/>
                  </a:cubicBezTo>
                  <a:cubicBezTo>
                    <a:pt x="223657" y="3585726"/>
                    <a:pt x="193989" y="3598016"/>
                    <a:pt x="163053" y="3598016"/>
                  </a:cubicBezTo>
                  <a:lnTo>
                    <a:pt x="116643" y="3598016"/>
                  </a:lnTo>
                  <a:cubicBezTo>
                    <a:pt x="85707" y="3598016"/>
                    <a:pt x="56039" y="3585726"/>
                    <a:pt x="34164" y="3563852"/>
                  </a:cubicBezTo>
                  <a:cubicBezTo>
                    <a:pt x="12289" y="3541977"/>
                    <a:pt x="0" y="3512308"/>
                    <a:pt x="0" y="3481373"/>
                  </a:cubicBezTo>
                  <a:lnTo>
                    <a:pt x="0" y="116643"/>
                  </a:lnTo>
                  <a:cubicBezTo>
                    <a:pt x="0" y="85707"/>
                    <a:pt x="12289" y="56039"/>
                    <a:pt x="34164" y="34164"/>
                  </a:cubicBezTo>
                  <a:cubicBezTo>
                    <a:pt x="56039" y="12289"/>
                    <a:pt x="85707" y="0"/>
                    <a:pt x="116643" y="0"/>
                  </a:cubicBezTo>
                  <a:close/>
                </a:path>
              </a:pathLst>
            </a:custGeom>
            <a:solidFill>
              <a:srgbClr val="1B294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696" cy="36361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8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93084" y="9160013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3" y="0"/>
                </a:lnTo>
                <a:lnTo>
                  <a:pt x="1038273" y="259569"/>
                </a:lnTo>
                <a:lnTo>
                  <a:pt x="0" y="259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4153583" y="701639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3" y="0"/>
                </a:lnTo>
                <a:lnTo>
                  <a:pt x="1038273" y="259569"/>
                </a:lnTo>
                <a:lnTo>
                  <a:pt x="0" y="259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72022" y="464740"/>
            <a:ext cx="12067172" cy="62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VALID READY HANDSHAKE DATA TRANSFER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2489273" y="-1407127"/>
            <a:ext cx="1634132" cy="7301581"/>
            <a:chOff x="0" y="0"/>
            <a:chExt cx="430389" cy="19230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0389" cy="1923050"/>
            </a:xfrm>
            <a:custGeom>
              <a:avLst/>
              <a:gdLst/>
              <a:ahLst/>
              <a:cxnLst/>
              <a:rect l="l" t="t" r="r" b="b"/>
              <a:pathLst>
                <a:path w="430389" h="1923050">
                  <a:moveTo>
                    <a:pt x="75802" y="0"/>
                  </a:moveTo>
                  <a:lnTo>
                    <a:pt x="354587" y="0"/>
                  </a:lnTo>
                  <a:cubicBezTo>
                    <a:pt x="396451" y="0"/>
                    <a:pt x="430389" y="33938"/>
                    <a:pt x="430389" y="75802"/>
                  </a:cubicBezTo>
                  <a:lnTo>
                    <a:pt x="430389" y="1847248"/>
                  </a:lnTo>
                  <a:cubicBezTo>
                    <a:pt x="430389" y="1889112"/>
                    <a:pt x="396451" y="1923050"/>
                    <a:pt x="354587" y="1923050"/>
                  </a:cubicBezTo>
                  <a:lnTo>
                    <a:pt x="75802" y="1923050"/>
                  </a:lnTo>
                  <a:cubicBezTo>
                    <a:pt x="33938" y="1923050"/>
                    <a:pt x="0" y="1889112"/>
                    <a:pt x="0" y="1847248"/>
                  </a:cubicBezTo>
                  <a:lnTo>
                    <a:pt x="0" y="75802"/>
                  </a:lnTo>
                  <a:cubicBezTo>
                    <a:pt x="0" y="33938"/>
                    <a:pt x="33938" y="0"/>
                    <a:pt x="75802" y="0"/>
                  </a:cubicBezTo>
                  <a:close/>
                </a:path>
              </a:pathLst>
            </a:custGeom>
            <a:solidFill>
              <a:srgbClr val="1B294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0389" cy="1961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8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93084" y="9427398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3" y="0"/>
                </a:lnTo>
                <a:lnTo>
                  <a:pt x="1038273" y="259568"/>
                </a:lnTo>
                <a:lnTo>
                  <a:pt x="0" y="25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7169570" y="1984095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4" y="0"/>
                </a:lnTo>
                <a:lnTo>
                  <a:pt x="1038274" y="259569"/>
                </a:lnTo>
                <a:lnTo>
                  <a:pt x="0" y="259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1590599"/>
            <a:ext cx="5634730" cy="128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FULLY PIPELINED FFN IMPLEMENTATION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22133" y="4440525"/>
            <a:ext cx="10902680" cy="198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 tile_col = 0 to 63:                     (64 output column tiles)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For inner_idx = 0 to 255:                 (256 ReLU row tiles)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Fetch: relu_tile[inner_idx] from BRAM + W_down_tile[inner_idx][tile_col] from AXI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Compute: down_proj(relu_tile, W_down_tile) → partial sum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Accumulator: write result to output BRAM at tile_col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22133" y="7465030"/>
            <a:ext cx="8327668" cy="2260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9648" lvl="1" indent="-229824" algn="l">
              <a:lnSpc>
                <a:spcPts val="2980"/>
              </a:lnSpc>
              <a:buFont typeface="Arial"/>
              <a:buChar char="•"/>
            </a:pPr>
            <a:r>
              <a:rPr lang="en-US" sz="2128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 tile_col = 0 to 255:                    (256 output column tiles)</a:t>
            </a:r>
          </a:p>
          <a:p>
            <a:pPr marL="459648" lvl="1" indent="-229824" algn="l">
              <a:lnSpc>
                <a:spcPts val="2980"/>
              </a:lnSpc>
              <a:buFont typeface="Arial"/>
              <a:buChar char="•"/>
            </a:pPr>
            <a:r>
              <a:rPr lang="en-US" sz="2128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For inner_idx = 0 to 63:                  (64 input row tiles)</a:t>
            </a:r>
          </a:p>
          <a:p>
            <a:pPr marL="459648" lvl="1" indent="-229824" algn="l">
              <a:lnSpc>
                <a:spcPts val="2980"/>
              </a:lnSpc>
              <a:buFont typeface="Arial"/>
              <a:buChar char="•"/>
            </a:pPr>
            <a:r>
              <a:rPr lang="en-US" sz="2128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Fetch: input_tile[inner_idx] + W_up_tile[inner_idx][tile_col]</a:t>
            </a:r>
          </a:p>
          <a:p>
            <a:pPr marL="459648" lvl="1" indent="-229824" algn="l">
              <a:lnSpc>
                <a:spcPts val="2980"/>
              </a:lnSpc>
              <a:buFont typeface="Arial"/>
              <a:buChar char="•"/>
            </a:pPr>
            <a:r>
              <a:rPr lang="en-US" sz="2128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Compute: up_proj(input_tile, W_up_tile) → partial sum</a:t>
            </a:r>
          </a:p>
          <a:p>
            <a:pPr marL="459648" lvl="1" indent="-229824" algn="l">
              <a:lnSpc>
                <a:spcPts val="2980"/>
              </a:lnSpc>
              <a:buFont typeface="Arial"/>
              <a:buChar char="•"/>
            </a:pPr>
            <a:r>
              <a:rPr lang="en-US" sz="2128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ReLU: max(0, result) → store in ReLU BRAM at tile_col</a:t>
            </a:r>
          </a:p>
          <a:p>
            <a:pPr algn="l">
              <a:lnSpc>
                <a:spcPts val="2980"/>
              </a:lnSpc>
            </a:pPr>
            <a:endParaRPr lang="en-US" sz="2128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622133" y="3361655"/>
            <a:ext cx="5695224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FF66C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Algorithm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22133" y="3937237"/>
            <a:ext cx="5695224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 u="sng">
                <a:solidFill>
                  <a:srgbClr val="00BF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Up phase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22133" y="6908770"/>
            <a:ext cx="5695224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 u="sng">
                <a:solidFill>
                  <a:srgbClr val="00BF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Down phase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49669" y="4789801"/>
            <a:ext cx="3086100" cy="1206500"/>
            <a:chOff x="0" y="0"/>
            <a:chExt cx="812800" cy="3177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317761"/>
            </a:xfrm>
            <a:custGeom>
              <a:avLst/>
              <a:gdLst/>
              <a:ahLst/>
              <a:cxnLst/>
              <a:rect l="l" t="t" r="r" b="b"/>
              <a:pathLst>
                <a:path w="812800" h="317761">
                  <a:moveTo>
                    <a:pt x="0" y="0"/>
                  </a:moveTo>
                  <a:lnTo>
                    <a:pt x="812800" y="0"/>
                  </a:lnTo>
                  <a:lnTo>
                    <a:pt x="812800" y="317761"/>
                  </a:lnTo>
                  <a:lnTo>
                    <a:pt x="0" y="317761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355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FULLY PIPELINED FFN ARCHITECTURE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2451652" y="-1719299"/>
            <a:ext cx="1634132" cy="7301581"/>
            <a:chOff x="0" y="0"/>
            <a:chExt cx="430389" cy="19230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0389" cy="1923050"/>
            </a:xfrm>
            <a:custGeom>
              <a:avLst/>
              <a:gdLst/>
              <a:ahLst/>
              <a:cxnLst/>
              <a:rect l="l" t="t" r="r" b="b"/>
              <a:pathLst>
                <a:path w="430389" h="1923050">
                  <a:moveTo>
                    <a:pt x="75802" y="0"/>
                  </a:moveTo>
                  <a:lnTo>
                    <a:pt x="354587" y="0"/>
                  </a:lnTo>
                  <a:cubicBezTo>
                    <a:pt x="396451" y="0"/>
                    <a:pt x="430389" y="33938"/>
                    <a:pt x="430389" y="75802"/>
                  </a:cubicBezTo>
                  <a:lnTo>
                    <a:pt x="430389" y="1847248"/>
                  </a:lnTo>
                  <a:cubicBezTo>
                    <a:pt x="430389" y="1889112"/>
                    <a:pt x="396451" y="1923050"/>
                    <a:pt x="354587" y="1923050"/>
                  </a:cubicBezTo>
                  <a:lnTo>
                    <a:pt x="75802" y="1923050"/>
                  </a:lnTo>
                  <a:cubicBezTo>
                    <a:pt x="33938" y="1923050"/>
                    <a:pt x="0" y="1889112"/>
                    <a:pt x="0" y="1847248"/>
                  </a:cubicBezTo>
                  <a:lnTo>
                    <a:pt x="0" y="75802"/>
                  </a:lnTo>
                  <a:cubicBezTo>
                    <a:pt x="0" y="33938"/>
                    <a:pt x="33938" y="0"/>
                    <a:pt x="75802" y="0"/>
                  </a:cubicBezTo>
                  <a:close/>
                </a:path>
              </a:pathLst>
            </a:custGeom>
            <a:solidFill>
              <a:srgbClr val="1B294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30389" cy="1961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8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379254" y="9917639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3" y="0"/>
                </a:lnTo>
                <a:lnTo>
                  <a:pt x="1038273" y="259568"/>
                </a:lnTo>
                <a:lnTo>
                  <a:pt x="0" y="25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7056708" y="1801707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3" y="0"/>
                </a:lnTo>
                <a:lnTo>
                  <a:pt x="1038273" y="259568"/>
                </a:lnTo>
                <a:lnTo>
                  <a:pt x="0" y="25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8905246" y="1718410"/>
            <a:ext cx="8258564" cy="8191463"/>
          </a:xfrm>
          <a:custGeom>
            <a:avLst/>
            <a:gdLst/>
            <a:ahLst/>
            <a:cxnLst/>
            <a:rect l="l" t="t" r="r" b="b"/>
            <a:pathLst>
              <a:path w="8258564" h="8191463">
                <a:moveTo>
                  <a:pt x="0" y="0"/>
                </a:moveTo>
                <a:lnTo>
                  <a:pt x="8258564" y="0"/>
                </a:lnTo>
                <a:lnTo>
                  <a:pt x="8258564" y="8191463"/>
                </a:lnTo>
                <a:lnTo>
                  <a:pt x="0" y="8191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201040" y="1254581"/>
            <a:ext cx="5634730" cy="128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FULLY PIPELINED FFN IMPLEMENTATION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2521023" y="-1438877"/>
            <a:ext cx="1634132" cy="7365081"/>
            <a:chOff x="0" y="0"/>
            <a:chExt cx="430389" cy="19397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0389" cy="1939774"/>
            </a:xfrm>
            <a:custGeom>
              <a:avLst/>
              <a:gdLst/>
              <a:ahLst/>
              <a:cxnLst/>
              <a:rect l="l" t="t" r="r" b="b"/>
              <a:pathLst>
                <a:path w="430389" h="1939774">
                  <a:moveTo>
                    <a:pt x="75802" y="0"/>
                  </a:moveTo>
                  <a:lnTo>
                    <a:pt x="354587" y="0"/>
                  </a:lnTo>
                  <a:cubicBezTo>
                    <a:pt x="396451" y="0"/>
                    <a:pt x="430389" y="33938"/>
                    <a:pt x="430389" y="75802"/>
                  </a:cubicBezTo>
                  <a:lnTo>
                    <a:pt x="430389" y="1863972"/>
                  </a:lnTo>
                  <a:cubicBezTo>
                    <a:pt x="430389" y="1905837"/>
                    <a:pt x="396451" y="1939774"/>
                    <a:pt x="354587" y="1939774"/>
                  </a:cubicBezTo>
                  <a:lnTo>
                    <a:pt x="75802" y="1939774"/>
                  </a:lnTo>
                  <a:cubicBezTo>
                    <a:pt x="33938" y="1939774"/>
                    <a:pt x="0" y="1905837"/>
                    <a:pt x="0" y="1863972"/>
                  </a:cubicBezTo>
                  <a:lnTo>
                    <a:pt x="0" y="75802"/>
                  </a:lnTo>
                  <a:cubicBezTo>
                    <a:pt x="0" y="33938"/>
                    <a:pt x="33938" y="0"/>
                    <a:pt x="75802" y="0"/>
                  </a:cubicBezTo>
                  <a:close/>
                </a:path>
              </a:pathLst>
            </a:custGeom>
            <a:solidFill>
              <a:srgbClr val="1B294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0389" cy="19778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8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93084" y="9833798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3" y="0"/>
                </a:lnTo>
                <a:lnTo>
                  <a:pt x="1038273" y="259568"/>
                </a:lnTo>
                <a:lnTo>
                  <a:pt x="0" y="25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7233070" y="2085695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4" y="0"/>
                </a:lnTo>
                <a:lnTo>
                  <a:pt x="1038274" y="259569"/>
                </a:lnTo>
                <a:lnTo>
                  <a:pt x="0" y="259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10592998" y="3409280"/>
          <a:ext cx="7315200" cy="5572126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67358"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1">
                          <a:solidFill>
                            <a:srgbClr val="00BF63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Sub-cycles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1">
                          <a:solidFill>
                            <a:srgbClr val="00BF63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Columns processed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6192"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0-7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6192"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8-15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6192"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16-23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6192"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24-31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" name="Group 9"/>
          <p:cNvGrpSpPr/>
          <p:nvPr/>
        </p:nvGrpSpPr>
        <p:grpSpPr>
          <a:xfrm>
            <a:off x="2513421" y="5349795"/>
            <a:ext cx="6985000" cy="1384300"/>
            <a:chOff x="0" y="0"/>
            <a:chExt cx="1839671" cy="36458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39671" cy="364589"/>
            </a:xfrm>
            <a:custGeom>
              <a:avLst/>
              <a:gdLst/>
              <a:ahLst/>
              <a:cxnLst/>
              <a:rect l="l" t="t" r="r" b="b"/>
              <a:pathLst>
                <a:path w="1839671" h="364589">
                  <a:moveTo>
                    <a:pt x="0" y="0"/>
                  </a:moveTo>
                  <a:lnTo>
                    <a:pt x="1839671" y="0"/>
                  </a:lnTo>
                  <a:lnTo>
                    <a:pt x="1839671" y="364589"/>
                  </a:lnTo>
                  <a:lnTo>
                    <a:pt x="0" y="3645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839671" cy="4026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Each projection stage uses </a:t>
              </a:r>
              <a:r>
                <a:rPr lang="en-US" sz="2200" b="1" dirty="0">
                  <a:solidFill>
                    <a:srgbClr val="00BF6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8 parallel multiplier</a:t>
              </a:r>
              <a:r>
                <a:rPr lang="en-US" sz="2200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column instances instead of 32. This requires ceil(32/8) = </a:t>
              </a:r>
              <a:r>
                <a:rPr lang="en-US" sz="2200" b="1" dirty="0">
                  <a:solidFill>
                    <a:srgbClr val="00BF6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 cycles per inner iteration</a:t>
              </a:r>
              <a:r>
                <a:rPr lang="en-US" sz="2200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93084" y="1483959"/>
            <a:ext cx="6104630" cy="128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RESOURCE-EFFICIENT  FFN IMPLEMENTATION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13421" y="3841022"/>
            <a:ext cx="7251773" cy="1244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4556" lvl="1" indent="-257278" algn="l">
              <a:lnSpc>
                <a:spcPts val="3336"/>
              </a:lnSpc>
              <a:buFont typeface="Arial"/>
              <a:buChar char="•"/>
            </a:pPr>
            <a:r>
              <a:rPr lang="en-US" sz="2383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This implementation uses </a:t>
            </a:r>
            <a:r>
              <a:rPr lang="en-US" sz="2383" b="1">
                <a:solidFill>
                  <a:srgbClr val="00BF63"/>
                </a:solidFill>
                <a:latin typeface="Lato Bold"/>
                <a:ea typeface="Lato Bold"/>
                <a:cs typeface="Lato Bold"/>
                <a:sym typeface="Lato Bold"/>
              </a:rPr>
              <a:t>aggressive time-multiplexing, 64-bit AXI bus, and a 64-bit output serializer </a:t>
            </a:r>
            <a:r>
              <a:rPr lang="en-US" sz="2383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to reduce the resource utilization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22133" y="3361655"/>
            <a:ext cx="5695224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1B2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Design Philosophy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13421" y="8124745"/>
            <a:ext cx="7499810" cy="154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Instead of 512-bit parallel output lines, output is streamed as </a:t>
            </a:r>
            <a:r>
              <a:rPr lang="en-US" sz="2200" b="1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 beats of 64 bits each</a:t>
            </a: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The internal readout FSM of the accumulator is disabled and replaced by a dedicated </a:t>
            </a:r>
            <a:r>
              <a:rPr lang="en-US" sz="2200" b="1">
                <a:solidFill>
                  <a:srgbClr val="00BF6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serializer</a:t>
            </a: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FSM.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2513421" y="6691312"/>
            <a:ext cx="7499810" cy="1384300"/>
            <a:chOff x="0" y="0"/>
            <a:chExt cx="1975259" cy="36458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75259" cy="364589"/>
            </a:xfrm>
            <a:custGeom>
              <a:avLst/>
              <a:gdLst/>
              <a:ahLst/>
              <a:cxnLst/>
              <a:rect l="l" t="t" r="r" b="b"/>
              <a:pathLst>
                <a:path w="1975259" h="364589">
                  <a:moveTo>
                    <a:pt x="0" y="0"/>
                  </a:moveTo>
                  <a:lnTo>
                    <a:pt x="1975259" y="0"/>
                  </a:lnTo>
                  <a:lnTo>
                    <a:pt x="1975259" y="364589"/>
                  </a:lnTo>
                  <a:lnTo>
                    <a:pt x="0" y="3645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975259" cy="4026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 b="1">
                  <a:solidFill>
                    <a:srgbClr val="00BF6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64-bit AXI bus</a:t>
              </a: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reduces IOB from </a:t>
              </a:r>
              <a:r>
                <a:rPr lang="en-US" sz="2200" b="1">
                  <a:solidFill>
                    <a:srgbClr val="00BF6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1085 to 189 pins</a:t>
              </a: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. Weight tiles that required </a:t>
              </a:r>
              <a:r>
                <a:rPr lang="en-US" sz="2200" b="1">
                  <a:solidFill>
                    <a:srgbClr val="00BF6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32 beats on 512-bit </a:t>
              </a: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now require </a:t>
              </a:r>
              <a:r>
                <a:rPr lang="en-US" sz="2200" b="1">
                  <a:solidFill>
                    <a:srgbClr val="00BF6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256 beats on 64-bit</a:t>
              </a: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2521023" y="-1438877"/>
            <a:ext cx="1634132" cy="7365081"/>
            <a:chOff x="0" y="0"/>
            <a:chExt cx="430389" cy="19397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0389" cy="1939774"/>
            </a:xfrm>
            <a:custGeom>
              <a:avLst/>
              <a:gdLst/>
              <a:ahLst/>
              <a:cxnLst/>
              <a:rect l="l" t="t" r="r" b="b"/>
              <a:pathLst>
                <a:path w="430389" h="1939774">
                  <a:moveTo>
                    <a:pt x="75802" y="0"/>
                  </a:moveTo>
                  <a:lnTo>
                    <a:pt x="354587" y="0"/>
                  </a:lnTo>
                  <a:cubicBezTo>
                    <a:pt x="396451" y="0"/>
                    <a:pt x="430389" y="33938"/>
                    <a:pt x="430389" y="75802"/>
                  </a:cubicBezTo>
                  <a:lnTo>
                    <a:pt x="430389" y="1863972"/>
                  </a:lnTo>
                  <a:cubicBezTo>
                    <a:pt x="430389" y="1905837"/>
                    <a:pt x="396451" y="1939774"/>
                    <a:pt x="354587" y="1939774"/>
                  </a:cubicBezTo>
                  <a:lnTo>
                    <a:pt x="75802" y="1939774"/>
                  </a:lnTo>
                  <a:cubicBezTo>
                    <a:pt x="33938" y="1939774"/>
                    <a:pt x="0" y="1905837"/>
                    <a:pt x="0" y="1863972"/>
                  </a:cubicBezTo>
                  <a:lnTo>
                    <a:pt x="0" y="75802"/>
                  </a:lnTo>
                  <a:cubicBezTo>
                    <a:pt x="0" y="33938"/>
                    <a:pt x="33938" y="0"/>
                    <a:pt x="75802" y="0"/>
                  </a:cubicBezTo>
                  <a:close/>
                </a:path>
              </a:pathLst>
            </a:custGeom>
            <a:solidFill>
              <a:srgbClr val="1B294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0389" cy="19778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8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93084" y="9833798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3" y="0"/>
                </a:lnTo>
                <a:lnTo>
                  <a:pt x="1038273" y="259568"/>
                </a:lnTo>
                <a:lnTo>
                  <a:pt x="0" y="25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7233070" y="2085695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4" y="0"/>
                </a:lnTo>
                <a:lnTo>
                  <a:pt x="1038274" y="259569"/>
                </a:lnTo>
                <a:lnTo>
                  <a:pt x="0" y="259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793084" y="1483959"/>
            <a:ext cx="6104630" cy="128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RESOURCE-EFFICIENT  FFN IMPLEMENTATION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2220" y="3416083"/>
            <a:ext cx="5695224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FF66C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Algorithm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7803" y="4679742"/>
            <a:ext cx="8723611" cy="394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For 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tile_col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= 0 to 255: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For 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inner_idx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= 0 to 63: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Fetch: 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input_tile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inner_idx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] + 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W_up_tile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inner_idx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][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tile_col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]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ycle 0: 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up_proj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input_tile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, 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W_up_tile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[cols 0-7])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ycle 1: 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up_proj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input_tile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, 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W_up_tile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[cols 8-15])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Cycle 2: 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up_proj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input_tile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, 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W_up_tile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[cols 16-23])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Cycle 3: 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up_proj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input_tile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, 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W_up_tile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[cols 24-31])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Accumulate into all 32 accumulator entries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ReLU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max(0, result) → store in 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ReLU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BRAM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5406" y="3973160"/>
            <a:ext cx="5695224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 u="sng">
                <a:solidFill>
                  <a:srgbClr val="00BF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Up phase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84384" y="3769325"/>
            <a:ext cx="5695224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 u="sng">
                <a:solidFill>
                  <a:srgbClr val="00BF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Down phase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84384" y="4679742"/>
            <a:ext cx="8703616" cy="3948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For 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tile_col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= 0 to 63: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For 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inner_idx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= 0 to 255: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Fetch: 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relu_tile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inner_idx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] + 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W_down_tile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inner_idx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][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tile_col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]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ycle 0: 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down_proj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relu_tile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, 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W_down_tile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[cols 0-7])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ycle 1: 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down_proj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relu_tile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, 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W_down_tile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[cols 8-15])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ycle 2: 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down_proj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relu_tile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, 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W_down_tile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[cols 16-23])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ycle 3: 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down_proj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relu_tile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, </a:t>
            </a:r>
            <a:r>
              <a:rPr lang="en-US" sz="2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W_down_tile</a:t>
            </a: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[cols 24-31])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Accumulate into all 32 accumulator entries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Write result to output BRAM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2521023" y="-1438877"/>
            <a:ext cx="1634132" cy="7365081"/>
            <a:chOff x="0" y="0"/>
            <a:chExt cx="430389" cy="19397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0389" cy="1939774"/>
            </a:xfrm>
            <a:custGeom>
              <a:avLst/>
              <a:gdLst/>
              <a:ahLst/>
              <a:cxnLst/>
              <a:rect l="l" t="t" r="r" b="b"/>
              <a:pathLst>
                <a:path w="430389" h="1939774">
                  <a:moveTo>
                    <a:pt x="75802" y="0"/>
                  </a:moveTo>
                  <a:lnTo>
                    <a:pt x="354587" y="0"/>
                  </a:lnTo>
                  <a:cubicBezTo>
                    <a:pt x="396451" y="0"/>
                    <a:pt x="430389" y="33938"/>
                    <a:pt x="430389" y="75802"/>
                  </a:cubicBezTo>
                  <a:lnTo>
                    <a:pt x="430389" y="1863972"/>
                  </a:lnTo>
                  <a:cubicBezTo>
                    <a:pt x="430389" y="1905837"/>
                    <a:pt x="396451" y="1939774"/>
                    <a:pt x="354587" y="1939774"/>
                  </a:cubicBezTo>
                  <a:lnTo>
                    <a:pt x="75802" y="1939774"/>
                  </a:lnTo>
                  <a:cubicBezTo>
                    <a:pt x="33938" y="1939774"/>
                    <a:pt x="0" y="1905837"/>
                    <a:pt x="0" y="1863972"/>
                  </a:cubicBezTo>
                  <a:lnTo>
                    <a:pt x="0" y="75802"/>
                  </a:lnTo>
                  <a:cubicBezTo>
                    <a:pt x="0" y="33938"/>
                    <a:pt x="33938" y="0"/>
                    <a:pt x="75802" y="0"/>
                  </a:cubicBezTo>
                  <a:close/>
                </a:path>
              </a:pathLst>
            </a:custGeom>
            <a:solidFill>
              <a:srgbClr val="1B294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0389" cy="19778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8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93084" y="9833798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3" y="0"/>
                </a:lnTo>
                <a:lnTo>
                  <a:pt x="1038273" y="259568"/>
                </a:lnTo>
                <a:lnTo>
                  <a:pt x="0" y="25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7233070" y="2085695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4" y="0"/>
                </a:lnTo>
                <a:lnTo>
                  <a:pt x="1038274" y="259569"/>
                </a:lnTo>
                <a:lnTo>
                  <a:pt x="0" y="259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9372600" y="571602"/>
            <a:ext cx="7539224" cy="9498235"/>
          </a:xfrm>
          <a:custGeom>
            <a:avLst/>
            <a:gdLst/>
            <a:ahLst/>
            <a:cxnLst/>
            <a:rect l="l" t="t" r="r" b="b"/>
            <a:pathLst>
              <a:path w="7539224" h="9498235">
                <a:moveTo>
                  <a:pt x="0" y="0"/>
                </a:moveTo>
                <a:lnTo>
                  <a:pt x="7539223" y="0"/>
                </a:lnTo>
                <a:lnTo>
                  <a:pt x="7539223" y="9498234"/>
                </a:lnTo>
                <a:lnTo>
                  <a:pt x="0" y="94982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793084" y="1483959"/>
            <a:ext cx="6104630" cy="128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RESOURCE-EFFICIENT  FFN IMPLEMENTATION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749669" y="4789801"/>
            <a:ext cx="3086100" cy="1206500"/>
            <a:chOff x="0" y="0"/>
            <a:chExt cx="812800" cy="31776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317761"/>
            </a:xfrm>
            <a:custGeom>
              <a:avLst/>
              <a:gdLst/>
              <a:ahLst/>
              <a:cxnLst/>
              <a:rect l="l" t="t" r="r" b="b"/>
              <a:pathLst>
                <a:path w="812800" h="317761">
                  <a:moveTo>
                    <a:pt x="0" y="0"/>
                  </a:moveTo>
                  <a:lnTo>
                    <a:pt x="812800" y="0"/>
                  </a:lnTo>
                  <a:lnTo>
                    <a:pt x="812800" y="317761"/>
                  </a:lnTo>
                  <a:lnTo>
                    <a:pt x="0" y="317761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12800" cy="355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RESOURCE-EFFICIENT FFN ARCHITECTURE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02246" y="6021812"/>
            <a:ext cx="8753722" cy="3267985"/>
            <a:chOff x="0" y="0"/>
            <a:chExt cx="2305507" cy="8607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05507" cy="860704"/>
            </a:xfrm>
            <a:custGeom>
              <a:avLst/>
              <a:gdLst/>
              <a:ahLst/>
              <a:cxnLst/>
              <a:rect l="l" t="t" r="r" b="b"/>
              <a:pathLst>
                <a:path w="2305507" h="860704">
                  <a:moveTo>
                    <a:pt x="0" y="0"/>
                  </a:moveTo>
                  <a:lnTo>
                    <a:pt x="2305507" y="0"/>
                  </a:lnTo>
                  <a:lnTo>
                    <a:pt x="2305507" y="860704"/>
                  </a:lnTo>
                  <a:lnTo>
                    <a:pt x="0" y="86070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05507" cy="8988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80"/>
                </a:lnSpc>
              </a:pPr>
              <a:endParaRPr/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Tiles along D = D/M = 64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Tiles along 4D = 4D/M = 256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Number of tiles for up phase, N_up = 256 x 64 = 16384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Number of tiles for down phase , N_down = 64 x 256 = 16384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Total number of tiles, N_total = 16384 x 2 = 32768</a:t>
              </a:r>
            </a:p>
            <a:p>
              <a:pPr algn="l">
                <a:lnSpc>
                  <a:spcPts val="3080"/>
                </a:lnSpc>
              </a:pPr>
              <a:endPara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75125" y="5404387"/>
            <a:ext cx="3086100" cy="2121753"/>
            <a:chOff x="0" y="0"/>
            <a:chExt cx="812800" cy="5588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558816"/>
            </a:xfrm>
            <a:custGeom>
              <a:avLst/>
              <a:gdLst/>
              <a:ahLst/>
              <a:cxnLst/>
              <a:rect l="l" t="t" r="r" b="b"/>
              <a:pathLst>
                <a:path w="812800" h="558816">
                  <a:moveTo>
                    <a:pt x="0" y="0"/>
                  </a:moveTo>
                  <a:lnTo>
                    <a:pt x="812800" y="0"/>
                  </a:lnTo>
                  <a:lnTo>
                    <a:pt x="812800" y="558816"/>
                  </a:lnTo>
                  <a:lnTo>
                    <a:pt x="0" y="55881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5969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 = 2048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M = 32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DATA_W = 16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AXI_ADDR_W = 32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4193994"/>
            <a:ext cx="3086100" cy="1077043"/>
            <a:chOff x="0" y="0"/>
            <a:chExt cx="812800" cy="28366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283666"/>
            </a:xfrm>
            <a:custGeom>
              <a:avLst/>
              <a:gdLst/>
              <a:ahLst/>
              <a:cxnLst/>
              <a:rect l="l" t="t" r="r" b="b"/>
              <a:pathLst>
                <a:path w="812800" h="283666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55725"/>
                  </a:lnTo>
                  <a:cubicBezTo>
                    <a:pt x="812800" y="189657"/>
                    <a:pt x="799321" y="222199"/>
                    <a:pt x="775327" y="246193"/>
                  </a:cubicBezTo>
                  <a:cubicBezTo>
                    <a:pt x="751333" y="270186"/>
                    <a:pt x="718791" y="283666"/>
                    <a:pt x="684859" y="283666"/>
                  </a:cubicBezTo>
                  <a:lnTo>
                    <a:pt x="127941" y="283666"/>
                  </a:lnTo>
                  <a:cubicBezTo>
                    <a:pt x="94009" y="283666"/>
                    <a:pt x="61467" y="270186"/>
                    <a:pt x="37473" y="246193"/>
                  </a:cubicBezTo>
                  <a:cubicBezTo>
                    <a:pt x="13479" y="222199"/>
                    <a:pt x="0" y="189657"/>
                    <a:pt x="0" y="155725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2A9F1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12800" cy="321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Parameters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402246" y="5179467"/>
            <a:ext cx="3086100" cy="657979"/>
            <a:chOff x="0" y="0"/>
            <a:chExt cx="812800" cy="1732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73295"/>
            </a:xfrm>
            <a:custGeom>
              <a:avLst/>
              <a:gdLst/>
              <a:ahLst/>
              <a:cxnLst/>
              <a:rect l="l" t="t" r="r" b="b"/>
              <a:pathLst>
                <a:path w="812800" h="173295">
                  <a:moveTo>
                    <a:pt x="86648" y="0"/>
                  </a:moveTo>
                  <a:lnTo>
                    <a:pt x="726152" y="0"/>
                  </a:lnTo>
                  <a:cubicBezTo>
                    <a:pt x="749133" y="0"/>
                    <a:pt x="771172" y="9129"/>
                    <a:pt x="787422" y="25378"/>
                  </a:cubicBezTo>
                  <a:cubicBezTo>
                    <a:pt x="803671" y="41628"/>
                    <a:pt x="812800" y="63667"/>
                    <a:pt x="812800" y="86648"/>
                  </a:cubicBezTo>
                  <a:lnTo>
                    <a:pt x="812800" y="86648"/>
                  </a:lnTo>
                  <a:cubicBezTo>
                    <a:pt x="812800" y="109628"/>
                    <a:pt x="803671" y="131667"/>
                    <a:pt x="787422" y="147917"/>
                  </a:cubicBezTo>
                  <a:cubicBezTo>
                    <a:pt x="771172" y="164166"/>
                    <a:pt x="749133" y="173295"/>
                    <a:pt x="726152" y="173295"/>
                  </a:cubicBezTo>
                  <a:lnTo>
                    <a:pt x="86648" y="173295"/>
                  </a:lnTo>
                  <a:cubicBezTo>
                    <a:pt x="63667" y="173295"/>
                    <a:pt x="41628" y="164166"/>
                    <a:pt x="25378" y="147917"/>
                  </a:cubicBezTo>
                  <a:cubicBezTo>
                    <a:pt x="9129" y="131667"/>
                    <a:pt x="0" y="109628"/>
                    <a:pt x="0" y="86648"/>
                  </a:cubicBezTo>
                  <a:lnTo>
                    <a:pt x="0" y="86648"/>
                  </a:lnTo>
                  <a:cubicBezTo>
                    <a:pt x="0" y="63667"/>
                    <a:pt x="9129" y="41628"/>
                    <a:pt x="25378" y="25378"/>
                  </a:cubicBezTo>
                  <a:cubicBezTo>
                    <a:pt x="41628" y="9129"/>
                    <a:pt x="63667" y="0"/>
                    <a:pt x="86648" y="0"/>
                  </a:cubicBezTo>
                  <a:close/>
                </a:path>
              </a:pathLst>
            </a:custGeom>
            <a:solidFill>
              <a:srgbClr val="E2A9F1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12800" cy="211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Derived tile count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3055" y="7655805"/>
            <a:ext cx="6943489" cy="1077043"/>
            <a:chOff x="0" y="0"/>
            <a:chExt cx="1828738" cy="28366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28738" cy="283666"/>
            </a:xfrm>
            <a:custGeom>
              <a:avLst/>
              <a:gdLst/>
              <a:ahLst/>
              <a:cxnLst/>
              <a:rect l="l" t="t" r="r" b="b"/>
              <a:pathLst>
                <a:path w="1828738" h="283666">
                  <a:moveTo>
                    <a:pt x="56864" y="0"/>
                  </a:moveTo>
                  <a:lnTo>
                    <a:pt x="1771873" y="0"/>
                  </a:lnTo>
                  <a:cubicBezTo>
                    <a:pt x="1786955" y="0"/>
                    <a:pt x="1801419" y="5991"/>
                    <a:pt x="1812083" y="16655"/>
                  </a:cubicBezTo>
                  <a:cubicBezTo>
                    <a:pt x="1822747" y="27319"/>
                    <a:pt x="1828738" y="41783"/>
                    <a:pt x="1828738" y="56864"/>
                  </a:cubicBezTo>
                  <a:lnTo>
                    <a:pt x="1828738" y="226801"/>
                  </a:lnTo>
                  <a:cubicBezTo>
                    <a:pt x="1828738" y="258207"/>
                    <a:pt x="1803279" y="283666"/>
                    <a:pt x="1771873" y="283666"/>
                  </a:cubicBezTo>
                  <a:lnTo>
                    <a:pt x="56864" y="283666"/>
                  </a:lnTo>
                  <a:cubicBezTo>
                    <a:pt x="41783" y="283666"/>
                    <a:pt x="27319" y="277675"/>
                    <a:pt x="16655" y="267010"/>
                  </a:cubicBezTo>
                  <a:cubicBezTo>
                    <a:pt x="5991" y="256346"/>
                    <a:pt x="0" y="241883"/>
                    <a:pt x="0" y="226801"/>
                  </a:cubicBezTo>
                  <a:lnTo>
                    <a:pt x="0" y="56864"/>
                  </a:lnTo>
                  <a:cubicBezTo>
                    <a:pt x="0" y="25459"/>
                    <a:pt x="25459" y="0"/>
                    <a:pt x="5686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828738" cy="321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Adder tree pipeline depth, TD = ceil (log2(M)) = 5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402246" y="1546638"/>
            <a:ext cx="3086100" cy="1077043"/>
            <a:chOff x="0" y="0"/>
            <a:chExt cx="812800" cy="28366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283666"/>
            </a:xfrm>
            <a:custGeom>
              <a:avLst/>
              <a:gdLst/>
              <a:ahLst/>
              <a:cxnLst/>
              <a:rect l="l" t="t" r="r" b="b"/>
              <a:pathLst>
                <a:path w="812800" h="283666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55725"/>
                  </a:lnTo>
                  <a:cubicBezTo>
                    <a:pt x="812800" y="189657"/>
                    <a:pt x="799321" y="222199"/>
                    <a:pt x="775327" y="246193"/>
                  </a:cubicBezTo>
                  <a:cubicBezTo>
                    <a:pt x="751333" y="270186"/>
                    <a:pt x="718791" y="283666"/>
                    <a:pt x="684859" y="283666"/>
                  </a:cubicBezTo>
                  <a:lnTo>
                    <a:pt x="127941" y="283666"/>
                  </a:lnTo>
                  <a:cubicBezTo>
                    <a:pt x="94009" y="283666"/>
                    <a:pt x="61467" y="270186"/>
                    <a:pt x="37473" y="246193"/>
                  </a:cubicBezTo>
                  <a:cubicBezTo>
                    <a:pt x="13479" y="222199"/>
                    <a:pt x="0" y="189657"/>
                    <a:pt x="0" y="155725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2A9F1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12800" cy="321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Timing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402246" y="2819589"/>
            <a:ext cx="7846016" cy="2121753"/>
            <a:chOff x="0" y="0"/>
            <a:chExt cx="2066440" cy="55881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66440" cy="558816"/>
            </a:xfrm>
            <a:custGeom>
              <a:avLst/>
              <a:gdLst/>
              <a:ahLst/>
              <a:cxnLst/>
              <a:rect l="l" t="t" r="r" b="b"/>
              <a:pathLst>
                <a:path w="2066440" h="558816">
                  <a:moveTo>
                    <a:pt x="0" y="0"/>
                  </a:moveTo>
                  <a:lnTo>
                    <a:pt x="2066440" y="0"/>
                  </a:lnTo>
                  <a:lnTo>
                    <a:pt x="2066440" y="558816"/>
                  </a:lnTo>
                  <a:lnTo>
                    <a:pt x="0" y="55881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066440" cy="5969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Assumed clock period, T_clk = 200 MHz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AXI address latency, T_ar = 2 cycles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BRAM read latency, T_bram = 2 cycles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FSM transition overhead per tile pair, T_fsm  = 3 cycles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793084" y="9160013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3" y="0"/>
                </a:lnTo>
                <a:lnTo>
                  <a:pt x="1038273" y="259569"/>
                </a:lnTo>
                <a:lnTo>
                  <a:pt x="0" y="259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6862127" y="1546638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3" y="0"/>
                </a:lnTo>
                <a:lnTo>
                  <a:pt x="1038273" y="259568"/>
                </a:lnTo>
                <a:lnTo>
                  <a:pt x="0" y="25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 rot="-5400000">
            <a:off x="1736987" y="-857925"/>
            <a:ext cx="2886308" cy="6360281"/>
            <a:chOff x="0" y="0"/>
            <a:chExt cx="760180" cy="167513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60180" cy="1675136"/>
            </a:xfrm>
            <a:custGeom>
              <a:avLst/>
              <a:gdLst/>
              <a:ahLst/>
              <a:cxnLst/>
              <a:rect l="l" t="t" r="r" b="b"/>
              <a:pathLst>
                <a:path w="760180" h="1675136">
                  <a:moveTo>
                    <a:pt x="42917" y="0"/>
                  </a:moveTo>
                  <a:lnTo>
                    <a:pt x="717263" y="0"/>
                  </a:lnTo>
                  <a:cubicBezTo>
                    <a:pt x="740965" y="0"/>
                    <a:pt x="760180" y="19214"/>
                    <a:pt x="760180" y="42917"/>
                  </a:cubicBezTo>
                  <a:lnTo>
                    <a:pt x="760180" y="1632219"/>
                  </a:lnTo>
                  <a:cubicBezTo>
                    <a:pt x="760180" y="1655921"/>
                    <a:pt x="740965" y="1675136"/>
                    <a:pt x="717263" y="1675136"/>
                  </a:cubicBezTo>
                  <a:lnTo>
                    <a:pt x="42917" y="1675136"/>
                  </a:lnTo>
                  <a:cubicBezTo>
                    <a:pt x="19214" y="1675136"/>
                    <a:pt x="0" y="1655921"/>
                    <a:pt x="0" y="1632219"/>
                  </a:cubicBezTo>
                  <a:lnTo>
                    <a:pt x="0" y="42917"/>
                  </a:lnTo>
                  <a:cubicBezTo>
                    <a:pt x="0" y="19214"/>
                    <a:pt x="19214" y="0"/>
                    <a:pt x="42917" y="0"/>
                  </a:cubicBezTo>
                  <a:close/>
                </a:path>
              </a:pathLst>
            </a:custGeom>
            <a:solidFill>
              <a:srgbClr val="1B294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760180" cy="1713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80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04049" y="1079637"/>
            <a:ext cx="6128543" cy="194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GLOBAL &amp; IMPLEMENTATION-SPECIFIC PARAMETERS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05003" y="4639530"/>
            <a:ext cx="7961412" cy="3734710"/>
            <a:chOff x="0" y="0"/>
            <a:chExt cx="2096833" cy="9836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96833" cy="983627"/>
            </a:xfrm>
            <a:custGeom>
              <a:avLst/>
              <a:gdLst/>
              <a:ahLst/>
              <a:cxnLst/>
              <a:rect l="l" t="t" r="r" b="b"/>
              <a:pathLst>
                <a:path w="2096833" h="983627">
                  <a:moveTo>
                    <a:pt x="0" y="0"/>
                  </a:moveTo>
                  <a:lnTo>
                    <a:pt x="2096833" y="0"/>
                  </a:lnTo>
                  <a:lnTo>
                    <a:pt x="2096833" y="983627"/>
                  </a:lnTo>
                  <a:lnTo>
                    <a:pt x="0" y="983627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96833" cy="1021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80"/>
                </a:lnSpc>
              </a:pPr>
              <a:endParaRPr/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Number of parallel columns per projection stage = NC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Sub-cycles per iteration, NS = ⌈M/NC⌉ 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AXI data width = AW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Elements per AXI beat = EPB = (AW/DATA_W) 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Beats per output tile = BPT = (M/EPB)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Beats for 1xM input tile = B_in = ⌈M × DATA_W / AW⌉ 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Beats for MXM weight tile = B_wt = ⌈M² × DATA_W / AW⌉</a:t>
              </a:r>
            </a:p>
            <a:p>
              <a:pPr algn="l">
                <a:lnSpc>
                  <a:spcPts val="3080"/>
                </a:lnSpc>
              </a:pPr>
              <a:endPara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59146" y="6506886"/>
            <a:ext cx="6782765" cy="1077043"/>
            <a:chOff x="0" y="0"/>
            <a:chExt cx="1786407" cy="2836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86407" cy="283666"/>
            </a:xfrm>
            <a:custGeom>
              <a:avLst/>
              <a:gdLst/>
              <a:ahLst/>
              <a:cxnLst/>
              <a:rect l="l" t="t" r="r" b="b"/>
              <a:pathLst>
                <a:path w="1786407" h="283666">
                  <a:moveTo>
                    <a:pt x="58212" y="0"/>
                  </a:moveTo>
                  <a:lnTo>
                    <a:pt x="1728195" y="0"/>
                  </a:lnTo>
                  <a:cubicBezTo>
                    <a:pt x="1760345" y="0"/>
                    <a:pt x="1786407" y="26062"/>
                    <a:pt x="1786407" y="58212"/>
                  </a:cubicBezTo>
                  <a:lnTo>
                    <a:pt x="1786407" y="225454"/>
                  </a:lnTo>
                  <a:cubicBezTo>
                    <a:pt x="1786407" y="257603"/>
                    <a:pt x="1760345" y="283666"/>
                    <a:pt x="1728195" y="283666"/>
                  </a:cubicBezTo>
                  <a:lnTo>
                    <a:pt x="58212" y="283666"/>
                  </a:lnTo>
                  <a:cubicBezTo>
                    <a:pt x="42773" y="283666"/>
                    <a:pt x="27967" y="277533"/>
                    <a:pt x="17050" y="266616"/>
                  </a:cubicBezTo>
                  <a:cubicBezTo>
                    <a:pt x="6133" y="255699"/>
                    <a:pt x="0" y="240892"/>
                    <a:pt x="0" y="225454"/>
                  </a:cubicBezTo>
                  <a:lnTo>
                    <a:pt x="0" y="58212"/>
                  </a:lnTo>
                  <a:cubicBezTo>
                    <a:pt x="0" y="26062"/>
                    <a:pt x="26062" y="0"/>
                    <a:pt x="58212" y="0"/>
                  </a:cubicBezTo>
                  <a:close/>
                </a:path>
              </a:pathLst>
            </a:custGeom>
            <a:solidFill>
              <a:srgbClr val="E2A9F1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86407" cy="321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Implementation specific parameters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982200" y="968199"/>
            <a:ext cx="3552107" cy="728807"/>
            <a:chOff x="0" y="0"/>
            <a:chExt cx="935534" cy="1919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35534" cy="191949"/>
            </a:xfrm>
            <a:custGeom>
              <a:avLst/>
              <a:gdLst/>
              <a:ahLst/>
              <a:cxnLst/>
              <a:rect l="l" t="t" r="r" b="b"/>
              <a:pathLst>
                <a:path w="935534" h="191949">
                  <a:moveTo>
                    <a:pt x="95975" y="0"/>
                  </a:moveTo>
                  <a:lnTo>
                    <a:pt x="839560" y="0"/>
                  </a:lnTo>
                  <a:cubicBezTo>
                    <a:pt x="865014" y="0"/>
                    <a:pt x="889425" y="10112"/>
                    <a:pt x="907424" y="28110"/>
                  </a:cubicBezTo>
                  <a:cubicBezTo>
                    <a:pt x="925423" y="46109"/>
                    <a:pt x="935534" y="70520"/>
                    <a:pt x="935534" y="95975"/>
                  </a:cubicBezTo>
                  <a:lnTo>
                    <a:pt x="935534" y="95975"/>
                  </a:lnTo>
                  <a:cubicBezTo>
                    <a:pt x="935534" y="148980"/>
                    <a:pt x="892565" y="191949"/>
                    <a:pt x="839560" y="191949"/>
                  </a:cubicBezTo>
                  <a:lnTo>
                    <a:pt x="95975" y="191949"/>
                  </a:lnTo>
                  <a:cubicBezTo>
                    <a:pt x="42969" y="191949"/>
                    <a:pt x="0" y="148980"/>
                    <a:pt x="0" y="95975"/>
                  </a:cubicBezTo>
                  <a:lnTo>
                    <a:pt x="0" y="95975"/>
                  </a:lnTo>
                  <a:cubicBezTo>
                    <a:pt x="0" y="42969"/>
                    <a:pt x="42969" y="0"/>
                    <a:pt x="95975" y="0"/>
                  </a:cubicBezTo>
                  <a:close/>
                </a:path>
              </a:pathLst>
            </a:custGeom>
            <a:solidFill>
              <a:srgbClr val="E2A9F1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935534" cy="230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Derived operation count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59387" y="1992976"/>
            <a:ext cx="10778869" cy="2121753"/>
            <a:chOff x="0" y="0"/>
            <a:chExt cx="2838879" cy="55881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38879" cy="558816"/>
            </a:xfrm>
            <a:custGeom>
              <a:avLst/>
              <a:gdLst/>
              <a:ahLst/>
              <a:cxnLst/>
              <a:rect l="l" t="t" r="r" b="b"/>
              <a:pathLst>
                <a:path w="2838879" h="558816">
                  <a:moveTo>
                    <a:pt x="0" y="0"/>
                  </a:moveTo>
                  <a:lnTo>
                    <a:pt x="2838879" y="0"/>
                  </a:lnTo>
                  <a:lnTo>
                    <a:pt x="2838879" y="558816"/>
                  </a:lnTo>
                  <a:lnTo>
                    <a:pt x="0" y="55881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838879" cy="5969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Total multiply-accumulate operations = MACS = 2 × D × 4D = 8D² = 33,554,432 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Element-wise ReLU operations = ReLU_ops = 4D = 8192 </a:t>
              </a:r>
            </a:p>
            <a:p>
              <a:pPr marL="474981" lvl="1" indent="-237491" algn="l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Output saturation clampings = Satur_ops= 2 × M × (NT4D + NTD) = 20,480</a:t>
              </a:r>
            </a:p>
            <a:p>
              <a:pPr algn="l">
                <a:lnSpc>
                  <a:spcPts val="3080"/>
                </a:lnSpc>
              </a:pPr>
              <a:endPara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4" name="Freeform 14"/>
          <p:cNvSpPr/>
          <p:nvPr/>
        </p:nvSpPr>
        <p:spPr>
          <a:xfrm>
            <a:off x="6640251" y="1437437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3" y="0"/>
                </a:lnTo>
                <a:lnTo>
                  <a:pt x="1038273" y="259569"/>
                </a:lnTo>
                <a:lnTo>
                  <a:pt x="0" y="259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 rot="-5400000">
            <a:off x="1971300" y="-901207"/>
            <a:ext cx="2707826" cy="6221828"/>
            <a:chOff x="0" y="0"/>
            <a:chExt cx="713172" cy="163867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13172" cy="1638671"/>
            </a:xfrm>
            <a:custGeom>
              <a:avLst/>
              <a:gdLst/>
              <a:ahLst/>
              <a:cxnLst/>
              <a:rect l="l" t="t" r="r" b="b"/>
              <a:pathLst>
                <a:path w="713172" h="1638671">
                  <a:moveTo>
                    <a:pt x="45745" y="0"/>
                  </a:moveTo>
                  <a:lnTo>
                    <a:pt x="667427" y="0"/>
                  </a:lnTo>
                  <a:cubicBezTo>
                    <a:pt x="679559" y="0"/>
                    <a:pt x="691195" y="4820"/>
                    <a:pt x="699774" y="13399"/>
                  </a:cubicBezTo>
                  <a:cubicBezTo>
                    <a:pt x="708353" y="21977"/>
                    <a:pt x="713172" y="33613"/>
                    <a:pt x="713172" y="45745"/>
                  </a:cubicBezTo>
                  <a:lnTo>
                    <a:pt x="713172" y="1592925"/>
                  </a:lnTo>
                  <a:cubicBezTo>
                    <a:pt x="713172" y="1605058"/>
                    <a:pt x="708353" y="1616693"/>
                    <a:pt x="699774" y="1625272"/>
                  </a:cubicBezTo>
                  <a:cubicBezTo>
                    <a:pt x="691195" y="1633851"/>
                    <a:pt x="679559" y="1638671"/>
                    <a:pt x="667427" y="1638671"/>
                  </a:cubicBezTo>
                  <a:lnTo>
                    <a:pt x="45745" y="1638671"/>
                  </a:lnTo>
                  <a:cubicBezTo>
                    <a:pt x="33613" y="1638671"/>
                    <a:pt x="21977" y="1633851"/>
                    <a:pt x="13399" y="1625272"/>
                  </a:cubicBezTo>
                  <a:cubicBezTo>
                    <a:pt x="4820" y="1616693"/>
                    <a:pt x="0" y="1605058"/>
                    <a:pt x="0" y="1592925"/>
                  </a:cubicBezTo>
                  <a:lnTo>
                    <a:pt x="0" y="45745"/>
                  </a:lnTo>
                  <a:cubicBezTo>
                    <a:pt x="0" y="33613"/>
                    <a:pt x="4820" y="21977"/>
                    <a:pt x="13399" y="13399"/>
                  </a:cubicBezTo>
                  <a:cubicBezTo>
                    <a:pt x="21977" y="4820"/>
                    <a:pt x="33613" y="0"/>
                    <a:pt x="45745" y="0"/>
                  </a:cubicBezTo>
                  <a:close/>
                </a:path>
              </a:pathLst>
            </a:custGeom>
            <a:solidFill>
              <a:srgbClr val="1B294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713172" cy="1676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8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07584" y="962025"/>
            <a:ext cx="6128543" cy="2601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GLOBAL &amp; IMPLEMENTATION-SPECIFIC PARAMETERS</a:t>
            </a:r>
          </a:p>
          <a:p>
            <a:pPr algn="l">
              <a:lnSpc>
                <a:spcPts val="5179"/>
              </a:lnSpc>
            </a:pPr>
            <a:endParaRPr lang="en-US" sz="3699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793084" y="9160013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3" y="0"/>
                </a:lnTo>
                <a:lnTo>
                  <a:pt x="1038273" y="259569"/>
                </a:lnTo>
                <a:lnTo>
                  <a:pt x="0" y="259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505031"/>
              </p:ext>
            </p:extLst>
          </p:nvPr>
        </p:nvGraphicFramePr>
        <p:xfrm>
          <a:off x="7889095" y="266700"/>
          <a:ext cx="9645705" cy="9886953"/>
        </p:xfrm>
        <a:graphic>
          <a:graphicData uri="http://schemas.openxmlformats.org/drawingml/2006/table">
            <a:tbl>
              <a:tblPr/>
              <a:tblGrid>
                <a:gridCol w="4163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7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5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65879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Parameters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FULLY PARALLEL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RESOURCE-EFFICIENT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5879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Number of parallel columns, NC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32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5879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Number of Subcycles per inner iteration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4886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AXI data width, AW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512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64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4886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Elements / AXI beat, EPB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32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4886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Beats / input tile, B_in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4886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Beats / weight tile, B_wt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32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256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14886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Beats / output tile, BPT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----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14886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DSP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2048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512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419870" y="4012882"/>
            <a:ext cx="6782765" cy="1077043"/>
            <a:chOff x="0" y="0"/>
            <a:chExt cx="1786407" cy="2836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86407" cy="283666"/>
            </a:xfrm>
            <a:custGeom>
              <a:avLst/>
              <a:gdLst/>
              <a:ahLst/>
              <a:cxnLst/>
              <a:rect l="l" t="t" r="r" b="b"/>
              <a:pathLst>
                <a:path w="1786407" h="283666">
                  <a:moveTo>
                    <a:pt x="58212" y="0"/>
                  </a:moveTo>
                  <a:lnTo>
                    <a:pt x="1728195" y="0"/>
                  </a:lnTo>
                  <a:cubicBezTo>
                    <a:pt x="1760345" y="0"/>
                    <a:pt x="1786407" y="26062"/>
                    <a:pt x="1786407" y="58212"/>
                  </a:cubicBezTo>
                  <a:lnTo>
                    <a:pt x="1786407" y="225454"/>
                  </a:lnTo>
                  <a:cubicBezTo>
                    <a:pt x="1786407" y="257603"/>
                    <a:pt x="1760345" y="283666"/>
                    <a:pt x="1728195" y="283666"/>
                  </a:cubicBezTo>
                  <a:lnTo>
                    <a:pt x="58212" y="283666"/>
                  </a:lnTo>
                  <a:cubicBezTo>
                    <a:pt x="42773" y="283666"/>
                    <a:pt x="27967" y="277533"/>
                    <a:pt x="17050" y="266616"/>
                  </a:cubicBezTo>
                  <a:cubicBezTo>
                    <a:pt x="6133" y="255699"/>
                    <a:pt x="0" y="240892"/>
                    <a:pt x="0" y="225454"/>
                  </a:cubicBezTo>
                  <a:lnTo>
                    <a:pt x="0" y="58212"/>
                  </a:lnTo>
                  <a:cubicBezTo>
                    <a:pt x="0" y="26062"/>
                    <a:pt x="26062" y="0"/>
                    <a:pt x="58212" y="0"/>
                  </a:cubicBezTo>
                  <a:close/>
                </a:path>
              </a:pathLst>
            </a:custGeom>
            <a:solidFill>
              <a:srgbClr val="E2A9F1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86407" cy="321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Implementation specific parameters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6532592" y="1656441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3" y="0"/>
                </a:lnTo>
                <a:lnTo>
                  <a:pt x="1038273" y="259568"/>
                </a:lnTo>
                <a:lnTo>
                  <a:pt x="0" y="25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 rot="-5400000">
            <a:off x="1908388" y="-1029326"/>
            <a:ext cx="2539620" cy="6356396"/>
            <a:chOff x="0" y="0"/>
            <a:chExt cx="668871" cy="167411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68871" cy="1674113"/>
            </a:xfrm>
            <a:custGeom>
              <a:avLst/>
              <a:gdLst/>
              <a:ahLst/>
              <a:cxnLst/>
              <a:rect l="l" t="t" r="r" b="b"/>
              <a:pathLst>
                <a:path w="668871" h="1674113">
                  <a:moveTo>
                    <a:pt x="48775" y="0"/>
                  </a:moveTo>
                  <a:lnTo>
                    <a:pt x="620096" y="0"/>
                  </a:lnTo>
                  <a:cubicBezTo>
                    <a:pt x="633032" y="0"/>
                    <a:pt x="645438" y="5139"/>
                    <a:pt x="654585" y="14286"/>
                  </a:cubicBezTo>
                  <a:cubicBezTo>
                    <a:pt x="663732" y="23433"/>
                    <a:pt x="668871" y="35839"/>
                    <a:pt x="668871" y="48775"/>
                  </a:cubicBezTo>
                  <a:lnTo>
                    <a:pt x="668871" y="1625337"/>
                  </a:lnTo>
                  <a:cubicBezTo>
                    <a:pt x="668871" y="1652275"/>
                    <a:pt x="647034" y="1674113"/>
                    <a:pt x="620096" y="1674113"/>
                  </a:cubicBezTo>
                  <a:lnTo>
                    <a:pt x="48775" y="1674113"/>
                  </a:lnTo>
                  <a:cubicBezTo>
                    <a:pt x="35839" y="1674113"/>
                    <a:pt x="23433" y="1668974"/>
                    <a:pt x="14286" y="1659827"/>
                  </a:cubicBezTo>
                  <a:cubicBezTo>
                    <a:pt x="5139" y="1650679"/>
                    <a:pt x="0" y="1638273"/>
                    <a:pt x="0" y="1625337"/>
                  </a:cubicBezTo>
                  <a:lnTo>
                    <a:pt x="0" y="48775"/>
                  </a:lnTo>
                  <a:cubicBezTo>
                    <a:pt x="0" y="21837"/>
                    <a:pt x="21837" y="0"/>
                    <a:pt x="48775" y="0"/>
                  </a:cubicBezTo>
                  <a:close/>
                </a:path>
              </a:pathLst>
            </a:custGeom>
            <a:solidFill>
              <a:srgbClr val="1B294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68871" cy="1712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8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04049" y="1079637"/>
            <a:ext cx="6128543" cy="2601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GLOBAL &amp; IMPLEMENTATION-SPECIFIC PARAMETERS</a:t>
            </a:r>
          </a:p>
          <a:p>
            <a:pPr algn="l">
              <a:lnSpc>
                <a:spcPts val="5179"/>
              </a:lnSpc>
            </a:pPr>
            <a:endParaRPr lang="en-US" sz="3699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793084" y="9160013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3" y="0"/>
                </a:lnTo>
                <a:lnTo>
                  <a:pt x="1038273" y="259569"/>
                </a:lnTo>
                <a:lnTo>
                  <a:pt x="0" y="259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1190922" y="3124330"/>
          <a:ext cx="6076782" cy="1981200"/>
        </p:xfrm>
        <a:graphic>
          <a:graphicData uri="http://schemas.openxmlformats.org/drawingml/2006/table">
            <a:tbl>
              <a:tblPr/>
              <a:tblGrid>
                <a:gridCol w="1644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7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2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2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DSP METRIC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EXPRESSION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FULLY-PIPELINED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RESOURCE-EFFICIENT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DSP per stage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NC × M</a:t>
                      </a:r>
                      <a:endParaRPr lang="en-US" sz="1100"/>
                    </a:p>
                    <a:p>
                      <a:pPr algn="ctr">
                        <a:lnSpc>
                          <a:spcPts val="2379"/>
                        </a:lnSpc>
                      </a:pP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1024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256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DSP total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2 × NC × M </a:t>
                      </a:r>
                      <a:endParaRPr lang="en-US" sz="1100"/>
                    </a:p>
                    <a:p>
                      <a:pPr algn="ctr">
                        <a:lnSpc>
                          <a:spcPts val="2379"/>
                        </a:lnSpc>
                      </a:pP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2048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512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 rot="-5400000">
            <a:off x="2376575" y="-2455942"/>
            <a:ext cx="1634132" cy="7301581"/>
            <a:chOff x="0" y="0"/>
            <a:chExt cx="430389" cy="19230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0389" cy="1923050"/>
            </a:xfrm>
            <a:custGeom>
              <a:avLst/>
              <a:gdLst/>
              <a:ahLst/>
              <a:cxnLst/>
              <a:rect l="l" t="t" r="r" b="b"/>
              <a:pathLst>
                <a:path w="430389" h="1923050">
                  <a:moveTo>
                    <a:pt x="75802" y="0"/>
                  </a:moveTo>
                  <a:lnTo>
                    <a:pt x="354587" y="0"/>
                  </a:lnTo>
                  <a:cubicBezTo>
                    <a:pt x="396451" y="0"/>
                    <a:pt x="430389" y="33938"/>
                    <a:pt x="430389" y="75802"/>
                  </a:cubicBezTo>
                  <a:lnTo>
                    <a:pt x="430389" y="1847248"/>
                  </a:lnTo>
                  <a:cubicBezTo>
                    <a:pt x="430389" y="1889112"/>
                    <a:pt x="396451" y="1923050"/>
                    <a:pt x="354587" y="1923050"/>
                  </a:cubicBezTo>
                  <a:lnTo>
                    <a:pt x="75802" y="1923050"/>
                  </a:lnTo>
                  <a:cubicBezTo>
                    <a:pt x="33938" y="1923050"/>
                    <a:pt x="0" y="1889112"/>
                    <a:pt x="0" y="1847248"/>
                  </a:cubicBezTo>
                  <a:lnTo>
                    <a:pt x="0" y="75802"/>
                  </a:lnTo>
                  <a:cubicBezTo>
                    <a:pt x="0" y="33938"/>
                    <a:pt x="33938" y="0"/>
                    <a:pt x="75802" y="0"/>
                  </a:cubicBezTo>
                  <a:close/>
                </a:path>
              </a:pathLst>
            </a:custGeom>
            <a:solidFill>
              <a:srgbClr val="1B294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0389" cy="1961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8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056872" y="935280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4" y="0"/>
                </a:lnTo>
                <a:lnTo>
                  <a:pt x="1038274" y="259569"/>
                </a:lnTo>
                <a:lnTo>
                  <a:pt x="0" y="259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93084" y="9427398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3" y="0"/>
                </a:lnTo>
                <a:lnTo>
                  <a:pt x="1038273" y="259568"/>
                </a:lnTo>
                <a:lnTo>
                  <a:pt x="0" y="25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1190922" y="2111097"/>
            <a:ext cx="5249152" cy="711595"/>
            <a:chOff x="0" y="0"/>
            <a:chExt cx="1382493" cy="1874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82493" cy="187416"/>
            </a:xfrm>
            <a:custGeom>
              <a:avLst/>
              <a:gdLst/>
              <a:ahLst/>
              <a:cxnLst/>
              <a:rect l="l" t="t" r="r" b="b"/>
              <a:pathLst>
                <a:path w="1382493" h="187416">
                  <a:moveTo>
                    <a:pt x="75219" y="0"/>
                  </a:moveTo>
                  <a:lnTo>
                    <a:pt x="1307273" y="0"/>
                  </a:lnTo>
                  <a:cubicBezTo>
                    <a:pt x="1348816" y="0"/>
                    <a:pt x="1382493" y="33677"/>
                    <a:pt x="1382493" y="75219"/>
                  </a:cubicBezTo>
                  <a:lnTo>
                    <a:pt x="1382493" y="112197"/>
                  </a:lnTo>
                  <a:cubicBezTo>
                    <a:pt x="1382493" y="132146"/>
                    <a:pt x="1374568" y="151278"/>
                    <a:pt x="1360462" y="165385"/>
                  </a:cubicBezTo>
                  <a:cubicBezTo>
                    <a:pt x="1346355" y="179491"/>
                    <a:pt x="1327223" y="187416"/>
                    <a:pt x="1307273" y="187416"/>
                  </a:cubicBezTo>
                  <a:lnTo>
                    <a:pt x="75219" y="187416"/>
                  </a:lnTo>
                  <a:cubicBezTo>
                    <a:pt x="33677" y="187416"/>
                    <a:pt x="0" y="153739"/>
                    <a:pt x="0" y="112197"/>
                  </a:cubicBezTo>
                  <a:lnTo>
                    <a:pt x="0" y="75219"/>
                  </a:lnTo>
                  <a:cubicBezTo>
                    <a:pt x="0" y="33677"/>
                    <a:pt x="33677" y="0"/>
                    <a:pt x="75219" y="0"/>
                  </a:cubicBezTo>
                  <a:close/>
                </a:path>
              </a:pathLst>
            </a:custGeom>
            <a:solidFill>
              <a:srgbClr val="FEFFFE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382493" cy="2445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Calculated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190922" y="5382155"/>
            <a:ext cx="5249152" cy="772036"/>
            <a:chOff x="0" y="0"/>
            <a:chExt cx="1382493" cy="2033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82493" cy="203335"/>
            </a:xfrm>
            <a:custGeom>
              <a:avLst/>
              <a:gdLst/>
              <a:ahLst/>
              <a:cxnLst/>
              <a:rect l="l" t="t" r="r" b="b"/>
              <a:pathLst>
                <a:path w="1382493" h="203335">
                  <a:moveTo>
                    <a:pt x="75219" y="0"/>
                  </a:moveTo>
                  <a:lnTo>
                    <a:pt x="1307273" y="0"/>
                  </a:lnTo>
                  <a:cubicBezTo>
                    <a:pt x="1348816" y="0"/>
                    <a:pt x="1382493" y="33677"/>
                    <a:pt x="1382493" y="75219"/>
                  </a:cubicBezTo>
                  <a:lnTo>
                    <a:pt x="1382493" y="128115"/>
                  </a:lnTo>
                  <a:cubicBezTo>
                    <a:pt x="1382493" y="148065"/>
                    <a:pt x="1374568" y="167197"/>
                    <a:pt x="1360462" y="181303"/>
                  </a:cubicBezTo>
                  <a:cubicBezTo>
                    <a:pt x="1346355" y="195410"/>
                    <a:pt x="1327223" y="203335"/>
                    <a:pt x="1307273" y="203335"/>
                  </a:cubicBezTo>
                  <a:lnTo>
                    <a:pt x="75219" y="203335"/>
                  </a:lnTo>
                  <a:cubicBezTo>
                    <a:pt x="33677" y="203335"/>
                    <a:pt x="0" y="169658"/>
                    <a:pt x="0" y="128115"/>
                  </a:cubicBezTo>
                  <a:lnTo>
                    <a:pt x="0" y="75219"/>
                  </a:lnTo>
                  <a:cubicBezTo>
                    <a:pt x="0" y="33677"/>
                    <a:pt x="33677" y="0"/>
                    <a:pt x="75219" y="0"/>
                  </a:cubicBezTo>
                  <a:close/>
                </a:path>
              </a:pathLst>
            </a:custGeom>
            <a:solidFill>
              <a:srgbClr val="FEFFFE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382493" cy="260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From Synthesis report</a:t>
              </a:r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4371523"/>
              </p:ext>
            </p:extLst>
          </p:nvPr>
        </p:nvGraphicFramePr>
        <p:xfrm>
          <a:off x="11190922" y="6595826"/>
          <a:ext cx="6076781" cy="1981200"/>
        </p:xfrm>
        <a:graphic>
          <a:graphicData uri="http://schemas.openxmlformats.org/drawingml/2006/table">
            <a:tbl>
              <a:tblPr/>
              <a:tblGrid>
                <a:gridCol w="2480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6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DSP METRIC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FULLY-PIPELINED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RESOURCE-EFFICIENT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DSP usage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900 **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512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DSP total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2048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512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5" name="Group 15"/>
          <p:cNvGrpSpPr/>
          <p:nvPr/>
        </p:nvGrpSpPr>
        <p:grpSpPr>
          <a:xfrm>
            <a:off x="2554755" y="9057682"/>
            <a:ext cx="10267903" cy="1077043"/>
            <a:chOff x="0" y="0"/>
            <a:chExt cx="2704304" cy="28366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4304" cy="283666"/>
            </a:xfrm>
            <a:custGeom>
              <a:avLst/>
              <a:gdLst/>
              <a:ahLst/>
              <a:cxnLst/>
              <a:rect l="l" t="t" r="r" b="b"/>
              <a:pathLst>
                <a:path w="2704304" h="283666">
                  <a:moveTo>
                    <a:pt x="38454" y="0"/>
                  </a:moveTo>
                  <a:lnTo>
                    <a:pt x="2665850" y="0"/>
                  </a:lnTo>
                  <a:cubicBezTo>
                    <a:pt x="2676049" y="0"/>
                    <a:pt x="2685829" y="4051"/>
                    <a:pt x="2693041" y="11263"/>
                  </a:cubicBezTo>
                  <a:cubicBezTo>
                    <a:pt x="2700252" y="18474"/>
                    <a:pt x="2704304" y="28255"/>
                    <a:pt x="2704304" y="38454"/>
                  </a:cubicBezTo>
                  <a:lnTo>
                    <a:pt x="2704304" y="245212"/>
                  </a:lnTo>
                  <a:cubicBezTo>
                    <a:pt x="2704304" y="255411"/>
                    <a:pt x="2700252" y="265191"/>
                    <a:pt x="2693041" y="272403"/>
                  </a:cubicBezTo>
                  <a:cubicBezTo>
                    <a:pt x="2685829" y="279614"/>
                    <a:pt x="2676049" y="283666"/>
                    <a:pt x="2665850" y="283666"/>
                  </a:cubicBezTo>
                  <a:lnTo>
                    <a:pt x="38454" y="283666"/>
                  </a:lnTo>
                  <a:cubicBezTo>
                    <a:pt x="28255" y="283666"/>
                    <a:pt x="18474" y="279614"/>
                    <a:pt x="11263" y="272403"/>
                  </a:cubicBezTo>
                  <a:cubicBezTo>
                    <a:pt x="4051" y="265191"/>
                    <a:pt x="0" y="255411"/>
                    <a:pt x="0" y="245212"/>
                  </a:cubicBezTo>
                  <a:lnTo>
                    <a:pt x="0" y="38454"/>
                  </a:lnTo>
                  <a:cubicBezTo>
                    <a:pt x="0" y="28255"/>
                    <a:pt x="4051" y="18474"/>
                    <a:pt x="11263" y="11263"/>
                  </a:cubicBezTo>
                  <a:cubicBezTo>
                    <a:pt x="18474" y="4051"/>
                    <a:pt x="28255" y="0"/>
                    <a:pt x="38454" y="0"/>
                  </a:cubicBezTo>
                  <a:close/>
                </a:path>
              </a:pathLst>
            </a:custGeom>
            <a:solidFill>
              <a:srgbClr val="FEFFF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704304" cy="340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** Rest of the DSPs are mapped to LUT slices.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131008" y="434777"/>
            <a:ext cx="10165964" cy="1525501"/>
            <a:chOff x="0" y="0"/>
            <a:chExt cx="2677455" cy="40177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675093" cy="312848"/>
            </a:xfrm>
            <a:custGeom>
              <a:avLst/>
              <a:gdLst/>
              <a:ahLst/>
              <a:cxnLst/>
              <a:rect l="l" t="t" r="r" b="b"/>
              <a:pathLst>
                <a:path w="2675093" h="312848">
                  <a:moveTo>
                    <a:pt x="38874" y="0"/>
                  </a:moveTo>
                  <a:lnTo>
                    <a:pt x="2636219" y="0"/>
                  </a:lnTo>
                  <a:cubicBezTo>
                    <a:pt x="2657688" y="0"/>
                    <a:pt x="2675093" y="17404"/>
                    <a:pt x="2675093" y="38874"/>
                  </a:cubicBezTo>
                  <a:lnTo>
                    <a:pt x="2675093" y="273975"/>
                  </a:lnTo>
                  <a:cubicBezTo>
                    <a:pt x="2675093" y="284285"/>
                    <a:pt x="2670997" y="294172"/>
                    <a:pt x="2663707" y="301462"/>
                  </a:cubicBezTo>
                  <a:cubicBezTo>
                    <a:pt x="2656417" y="308753"/>
                    <a:pt x="2646529" y="312848"/>
                    <a:pt x="2636219" y="312848"/>
                  </a:cubicBezTo>
                  <a:lnTo>
                    <a:pt x="38874" y="312848"/>
                  </a:lnTo>
                  <a:cubicBezTo>
                    <a:pt x="17404" y="312848"/>
                    <a:pt x="0" y="295444"/>
                    <a:pt x="0" y="273975"/>
                  </a:cubicBezTo>
                  <a:lnTo>
                    <a:pt x="0" y="38874"/>
                  </a:lnTo>
                  <a:cubicBezTo>
                    <a:pt x="0" y="17404"/>
                    <a:pt x="17404" y="0"/>
                    <a:pt x="38874" y="0"/>
                  </a:cubicBezTo>
                  <a:close/>
                </a:path>
              </a:pathLst>
            </a:custGeom>
            <a:solidFill>
              <a:srgbClr val="FEFFF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63" y="31780"/>
              <a:ext cx="2675092" cy="369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779"/>
                </a:lnSpc>
              </a:pPr>
              <a:r>
                <a:rPr lang="en-US" sz="2699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NC : Number of parallel columns in each projection stage</a:t>
              </a:r>
            </a:p>
            <a:p>
              <a:pPr algn="l">
                <a:lnSpc>
                  <a:spcPts val="3779"/>
                </a:lnSpc>
              </a:pPr>
              <a:r>
                <a:rPr lang="en-US" sz="2699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 : Tile size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423995" y="3294449"/>
            <a:ext cx="9682954" cy="5487007"/>
          </a:xfrm>
          <a:custGeom>
            <a:avLst/>
            <a:gdLst/>
            <a:ahLst/>
            <a:cxnLst/>
            <a:rect l="l" t="t" r="r" b="b"/>
            <a:pathLst>
              <a:path w="9682954" h="5487007">
                <a:moveTo>
                  <a:pt x="0" y="0"/>
                </a:moveTo>
                <a:lnTo>
                  <a:pt x="9682955" y="0"/>
                </a:lnTo>
                <a:lnTo>
                  <a:pt x="9682955" y="5487008"/>
                </a:lnTo>
                <a:lnTo>
                  <a:pt x="0" y="5487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111618" y="716767"/>
            <a:ext cx="6164046" cy="62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RESOURCE UTILIZATION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EE9F4D-9011-E70D-EBF0-CDF75F2CF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220" y="2628900"/>
            <a:ext cx="7620000" cy="282948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93C7942-BFCE-78D3-98AF-85539318B6B6}"/>
              </a:ext>
            </a:extLst>
          </p:cNvPr>
          <p:cNvGrpSpPr/>
          <p:nvPr/>
        </p:nvGrpSpPr>
        <p:grpSpPr>
          <a:xfrm rot="-5400000">
            <a:off x="2376575" y="-2455942"/>
            <a:ext cx="1634132" cy="7301581"/>
            <a:chOff x="0" y="0"/>
            <a:chExt cx="430389" cy="1923050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37DC004-AA1E-1062-B4F9-DF38101CA884}"/>
                </a:ext>
              </a:extLst>
            </p:cNvPr>
            <p:cNvSpPr/>
            <p:nvPr/>
          </p:nvSpPr>
          <p:spPr>
            <a:xfrm>
              <a:off x="0" y="0"/>
              <a:ext cx="430389" cy="1923050"/>
            </a:xfrm>
            <a:custGeom>
              <a:avLst/>
              <a:gdLst/>
              <a:ahLst/>
              <a:cxnLst/>
              <a:rect l="l" t="t" r="r" b="b"/>
              <a:pathLst>
                <a:path w="430389" h="1923050">
                  <a:moveTo>
                    <a:pt x="75802" y="0"/>
                  </a:moveTo>
                  <a:lnTo>
                    <a:pt x="354587" y="0"/>
                  </a:lnTo>
                  <a:cubicBezTo>
                    <a:pt x="396451" y="0"/>
                    <a:pt x="430389" y="33938"/>
                    <a:pt x="430389" y="75802"/>
                  </a:cubicBezTo>
                  <a:lnTo>
                    <a:pt x="430389" y="1847248"/>
                  </a:lnTo>
                  <a:cubicBezTo>
                    <a:pt x="430389" y="1889112"/>
                    <a:pt x="396451" y="1923050"/>
                    <a:pt x="354587" y="1923050"/>
                  </a:cubicBezTo>
                  <a:lnTo>
                    <a:pt x="75802" y="1923050"/>
                  </a:lnTo>
                  <a:cubicBezTo>
                    <a:pt x="33938" y="1923050"/>
                    <a:pt x="0" y="1889112"/>
                    <a:pt x="0" y="1847248"/>
                  </a:cubicBezTo>
                  <a:lnTo>
                    <a:pt x="0" y="75802"/>
                  </a:lnTo>
                  <a:cubicBezTo>
                    <a:pt x="0" y="33938"/>
                    <a:pt x="33938" y="0"/>
                    <a:pt x="75802" y="0"/>
                  </a:cubicBezTo>
                  <a:close/>
                </a:path>
              </a:pathLst>
            </a:custGeom>
            <a:solidFill>
              <a:srgbClr val="1B294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FDE8EB7-95FB-10F3-F195-A6546E3FEE5B}"/>
                </a:ext>
              </a:extLst>
            </p:cNvPr>
            <p:cNvSpPr txBox="1"/>
            <p:nvPr/>
          </p:nvSpPr>
          <p:spPr>
            <a:xfrm>
              <a:off x="0" y="-38100"/>
              <a:ext cx="430389" cy="1961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80"/>
                </a:lnSpc>
              </a:pPr>
              <a:endParaRPr/>
            </a:p>
          </p:txBody>
        </p:sp>
      </p:grpSp>
      <p:sp>
        <p:nvSpPr>
          <p:cNvPr id="7" name="Freeform 6">
            <a:extLst>
              <a:ext uri="{FF2B5EF4-FFF2-40B4-BE49-F238E27FC236}">
                <a16:creationId xmlns:a16="http://schemas.microsoft.com/office/drawing/2014/main" id="{40CB8449-D9E2-05CF-35BB-5BBE57B1E10C}"/>
              </a:ext>
            </a:extLst>
          </p:cNvPr>
          <p:cNvSpPr/>
          <p:nvPr/>
        </p:nvSpPr>
        <p:spPr>
          <a:xfrm>
            <a:off x="7056872" y="935280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4" y="0"/>
                </a:lnTo>
                <a:lnTo>
                  <a:pt x="1038274" y="259569"/>
                </a:lnTo>
                <a:lnTo>
                  <a:pt x="0" y="259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AC517122-541D-9D2A-B0C4-7DC29B8DDE4F}"/>
              </a:ext>
            </a:extLst>
          </p:cNvPr>
          <p:cNvSpPr/>
          <p:nvPr/>
        </p:nvSpPr>
        <p:spPr>
          <a:xfrm>
            <a:off x="793084" y="9427398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3" y="0"/>
                </a:lnTo>
                <a:lnTo>
                  <a:pt x="1038273" y="259568"/>
                </a:lnTo>
                <a:lnTo>
                  <a:pt x="0" y="25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22">
            <a:extLst>
              <a:ext uri="{FF2B5EF4-FFF2-40B4-BE49-F238E27FC236}">
                <a16:creationId xmlns:a16="http://schemas.microsoft.com/office/drawing/2014/main" id="{26B40065-0BD7-8B8F-27FA-2E3816E4B090}"/>
              </a:ext>
            </a:extLst>
          </p:cNvPr>
          <p:cNvSpPr txBox="1"/>
          <p:nvPr/>
        </p:nvSpPr>
        <p:spPr>
          <a:xfrm>
            <a:off x="111618" y="716767"/>
            <a:ext cx="6164046" cy="62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RESOURCE UTILIZATION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8B32E4-BF7F-D36C-3CBE-1CAD206A3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2220" y="5624178"/>
            <a:ext cx="8642917" cy="211012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BDB1B8B-824D-ED65-0DA8-06706AD382AE}"/>
              </a:ext>
            </a:extLst>
          </p:cNvPr>
          <p:cNvSpPr/>
          <p:nvPr/>
        </p:nvSpPr>
        <p:spPr>
          <a:xfrm>
            <a:off x="10363200" y="3543300"/>
            <a:ext cx="5410200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Fully parallel version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01F5BF-DCD4-DDFB-B329-D1E9360D3F9E}"/>
              </a:ext>
            </a:extLst>
          </p:cNvPr>
          <p:cNvSpPr/>
          <p:nvPr/>
        </p:nvSpPr>
        <p:spPr>
          <a:xfrm>
            <a:off x="10363200" y="6107739"/>
            <a:ext cx="5410200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Resource efficient version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689BA2-7592-2D70-1EDC-FE8BB2553620}"/>
              </a:ext>
            </a:extLst>
          </p:cNvPr>
          <p:cNvSpPr/>
          <p:nvPr/>
        </p:nvSpPr>
        <p:spPr>
          <a:xfrm>
            <a:off x="8534400" y="707202"/>
            <a:ext cx="5410200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ysClr val="windowText" lastClr="000000"/>
                </a:solidFill>
              </a:rPr>
              <a:t>From synthesis reports</a:t>
            </a:r>
          </a:p>
        </p:txBody>
      </p:sp>
    </p:spTree>
    <p:extLst>
      <p:ext uri="{BB962C8B-B14F-4D97-AF65-F5344CB8AC3E}">
        <p14:creationId xmlns:p14="http://schemas.microsoft.com/office/powerpoint/2010/main" val="495219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2489273" y="-1407127"/>
            <a:ext cx="1634132" cy="7301581"/>
            <a:chOff x="0" y="0"/>
            <a:chExt cx="430389" cy="19230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0389" cy="1923050"/>
            </a:xfrm>
            <a:custGeom>
              <a:avLst/>
              <a:gdLst/>
              <a:ahLst/>
              <a:cxnLst/>
              <a:rect l="l" t="t" r="r" b="b"/>
              <a:pathLst>
                <a:path w="430389" h="1923050">
                  <a:moveTo>
                    <a:pt x="75802" y="0"/>
                  </a:moveTo>
                  <a:lnTo>
                    <a:pt x="354587" y="0"/>
                  </a:lnTo>
                  <a:cubicBezTo>
                    <a:pt x="396451" y="0"/>
                    <a:pt x="430389" y="33938"/>
                    <a:pt x="430389" y="75802"/>
                  </a:cubicBezTo>
                  <a:lnTo>
                    <a:pt x="430389" y="1847248"/>
                  </a:lnTo>
                  <a:cubicBezTo>
                    <a:pt x="430389" y="1889112"/>
                    <a:pt x="396451" y="1923050"/>
                    <a:pt x="354587" y="1923050"/>
                  </a:cubicBezTo>
                  <a:lnTo>
                    <a:pt x="75802" y="1923050"/>
                  </a:lnTo>
                  <a:cubicBezTo>
                    <a:pt x="33938" y="1923050"/>
                    <a:pt x="0" y="1889112"/>
                    <a:pt x="0" y="1847248"/>
                  </a:cubicBezTo>
                  <a:lnTo>
                    <a:pt x="0" y="75802"/>
                  </a:lnTo>
                  <a:cubicBezTo>
                    <a:pt x="0" y="33938"/>
                    <a:pt x="33938" y="0"/>
                    <a:pt x="75802" y="0"/>
                  </a:cubicBezTo>
                  <a:close/>
                </a:path>
              </a:pathLst>
            </a:custGeom>
            <a:solidFill>
              <a:srgbClr val="1B294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0389" cy="1961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8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169570" y="1984095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4" y="0"/>
                </a:lnTo>
                <a:lnTo>
                  <a:pt x="1038274" y="259569"/>
                </a:lnTo>
                <a:lnTo>
                  <a:pt x="0" y="259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793084" y="9427398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3" y="0"/>
                </a:lnTo>
                <a:lnTo>
                  <a:pt x="1038273" y="259568"/>
                </a:lnTo>
                <a:lnTo>
                  <a:pt x="0" y="25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8865812" y="3060730"/>
          <a:ext cx="8905027" cy="3814600"/>
        </p:xfrm>
        <a:graphic>
          <a:graphicData uri="http://schemas.openxmlformats.org/drawingml/2006/table">
            <a:tbl>
              <a:tblPr/>
              <a:tblGrid>
                <a:gridCol w="2039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1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6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80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870"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IOB COMPONENT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EXPRESSION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FULLY-PIPELINED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RESOURCE-EFFICIENT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9947"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Input signals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clk + rst+ start + arready + rdata + rlast + rvalid 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518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70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1850"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Output signals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done + araddr + arlen + arsize + arburst + arvalid +  rready + output_tile_data + output_tile_addr + output_tile_valid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625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154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933"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Total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Input signals + Output signals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1143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224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8" name="Group 8"/>
          <p:cNvGrpSpPr/>
          <p:nvPr/>
        </p:nvGrpSpPr>
        <p:grpSpPr>
          <a:xfrm>
            <a:off x="11190922" y="2111097"/>
            <a:ext cx="5249152" cy="711595"/>
            <a:chOff x="0" y="0"/>
            <a:chExt cx="1382493" cy="1874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82493" cy="187416"/>
            </a:xfrm>
            <a:custGeom>
              <a:avLst/>
              <a:gdLst/>
              <a:ahLst/>
              <a:cxnLst/>
              <a:rect l="l" t="t" r="r" b="b"/>
              <a:pathLst>
                <a:path w="1382493" h="187416">
                  <a:moveTo>
                    <a:pt x="75219" y="0"/>
                  </a:moveTo>
                  <a:lnTo>
                    <a:pt x="1307273" y="0"/>
                  </a:lnTo>
                  <a:cubicBezTo>
                    <a:pt x="1348816" y="0"/>
                    <a:pt x="1382493" y="33677"/>
                    <a:pt x="1382493" y="75219"/>
                  </a:cubicBezTo>
                  <a:lnTo>
                    <a:pt x="1382493" y="112197"/>
                  </a:lnTo>
                  <a:cubicBezTo>
                    <a:pt x="1382493" y="132146"/>
                    <a:pt x="1374568" y="151278"/>
                    <a:pt x="1360462" y="165385"/>
                  </a:cubicBezTo>
                  <a:cubicBezTo>
                    <a:pt x="1346355" y="179491"/>
                    <a:pt x="1327223" y="187416"/>
                    <a:pt x="1307273" y="187416"/>
                  </a:cubicBezTo>
                  <a:lnTo>
                    <a:pt x="75219" y="187416"/>
                  </a:lnTo>
                  <a:cubicBezTo>
                    <a:pt x="33677" y="187416"/>
                    <a:pt x="0" y="153739"/>
                    <a:pt x="0" y="112197"/>
                  </a:cubicBezTo>
                  <a:lnTo>
                    <a:pt x="0" y="75219"/>
                  </a:lnTo>
                  <a:cubicBezTo>
                    <a:pt x="0" y="33677"/>
                    <a:pt x="33677" y="0"/>
                    <a:pt x="75219" y="0"/>
                  </a:cubicBezTo>
                  <a:close/>
                </a:path>
              </a:pathLst>
            </a:custGeom>
            <a:solidFill>
              <a:srgbClr val="FEFFFE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382493" cy="2445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Calculated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12220" y="3491248"/>
            <a:ext cx="5249152" cy="772036"/>
            <a:chOff x="0" y="0"/>
            <a:chExt cx="1382493" cy="2033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82493" cy="203335"/>
            </a:xfrm>
            <a:custGeom>
              <a:avLst/>
              <a:gdLst/>
              <a:ahLst/>
              <a:cxnLst/>
              <a:rect l="l" t="t" r="r" b="b"/>
              <a:pathLst>
                <a:path w="1382493" h="203335">
                  <a:moveTo>
                    <a:pt x="75219" y="0"/>
                  </a:moveTo>
                  <a:lnTo>
                    <a:pt x="1307273" y="0"/>
                  </a:lnTo>
                  <a:cubicBezTo>
                    <a:pt x="1348816" y="0"/>
                    <a:pt x="1382493" y="33677"/>
                    <a:pt x="1382493" y="75219"/>
                  </a:cubicBezTo>
                  <a:lnTo>
                    <a:pt x="1382493" y="128115"/>
                  </a:lnTo>
                  <a:cubicBezTo>
                    <a:pt x="1382493" y="148065"/>
                    <a:pt x="1374568" y="167197"/>
                    <a:pt x="1360462" y="181303"/>
                  </a:cubicBezTo>
                  <a:cubicBezTo>
                    <a:pt x="1346355" y="195410"/>
                    <a:pt x="1327223" y="203335"/>
                    <a:pt x="1307273" y="203335"/>
                  </a:cubicBezTo>
                  <a:lnTo>
                    <a:pt x="75219" y="203335"/>
                  </a:lnTo>
                  <a:cubicBezTo>
                    <a:pt x="33677" y="203335"/>
                    <a:pt x="0" y="169658"/>
                    <a:pt x="0" y="128115"/>
                  </a:cubicBezTo>
                  <a:lnTo>
                    <a:pt x="0" y="75219"/>
                  </a:lnTo>
                  <a:cubicBezTo>
                    <a:pt x="0" y="33677"/>
                    <a:pt x="33677" y="0"/>
                    <a:pt x="75219" y="0"/>
                  </a:cubicBezTo>
                  <a:close/>
                </a:path>
              </a:pathLst>
            </a:custGeom>
            <a:solidFill>
              <a:srgbClr val="FEFFFE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382493" cy="260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From Synthesis report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81000" y="5672211"/>
            <a:ext cx="8026843" cy="823266"/>
          </a:xfrm>
          <a:custGeom>
            <a:avLst/>
            <a:gdLst/>
            <a:ahLst/>
            <a:cxnLst/>
            <a:rect l="l" t="t" r="r" b="b"/>
            <a:pathLst>
              <a:path w="8026843" h="823266">
                <a:moveTo>
                  <a:pt x="0" y="0"/>
                </a:moveTo>
                <a:lnTo>
                  <a:pt x="8026844" y="0"/>
                </a:lnTo>
                <a:lnTo>
                  <a:pt x="8026844" y="823266"/>
                </a:lnTo>
                <a:lnTo>
                  <a:pt x="0" y="8232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0" y="6705027"/>
            <a:ext cx="8639269" cy="1008416"/>
          </a:xfrm>
          <a:custGeom>
            <a:avLst/>
            <a:gdLst/>
            <a:ahLst/>
            <a:cxnLst/>
            <a:rect l="l" t="t" r="r" b="b"/>
            <a:pathLst>
              <a:path w="8639269" h="1008416">
                <a:moveTo>
                  <a:pt x="0" y="0"/>
                </a:moveTo>
                <a:lnTo>
                  <a:pt x="8639269" y="0"/>
                </a:lnTo>
                <a:lnTo>
                  <a:pt x="8639269" y="1008416"/>
                </a:lnTo>
                <a:lnTo>
                  <a:pt x="0" y="10084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0" y="7922993"/>
            <a:ext cx="8296966" cy="958395"/>
          </a:xfrm>
          <a:custGeom>
            <a:avLst/>
            <a:gdLst/>
            <a:ahLst/>
            <a:cxnLst/>
            <a:rect l="l" t="t" r="r" b="b"/>
            <a:pathLst>
              <a:path w="8296966" h="958395">
                <a:moveTo>
                  <a:pt x="0" y="0"/>
                </a:moveTo>
                <a:lnTo>
                  <a:pt x="8296966" y="0"/>
                </a:lnTo>
                <a:lnTo>
                  <a:pt x="8296966" y="958396"/>
                </a:lnTo>
                <a:lnTo>
                  <a:pt x="0" y="9583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224316" y="1765582"/>
            <a:ext cx="6164046" cy="62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RESOURCE UTILIZATION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7A76984-AA0F-4EC0-6A5C-9F7DDACD3A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55" y="4399608"/>
            <a:ext cx="8097588" cy="124794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A6FCEA2-C712-7915-551A-7FF94A7AC8FA}"/>
              </a:ext>
            </a:extLst>
          </p:cNvPr>
          <p:cNvGrpSpPr/>
          <p:nvPr/>
        </p:nvGrpSpPr>
        <p:grpSpPr>
          <a:xfrm rot="-5400000">
            <a:off x="2489273" y="-1407127"/>
            <a:ext cx="1634132" cy="7301581"/>
            <a:chOff x="0" y="0"/>
            <a:chExt cx="430389" cy="192305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822BDE0-06CD-33BD-DC62-D8D9C272DF56}"/>
                </a:ext>
              </a:extLst>
            </p:cNvPr>
            <p:cNvSpPr/>
            <p:nvPr/>
          </p:nvSpPr>
          <p:spPr>
            <a:xfrm>
              <a:off x="0" y="0"/>
              <a:ext cx="430389" cy="1923050"/>
            </a:xfrm>
            <a:custGeom>
              <a:avLst/>
              <a:gdLst/>
              <a:ahLst/>
              <a:cxnLst/>
              <a:rect l="l" t="t" r="r" b="b"/>
              <a:pathLst>
                <a:path w="430389" h="1923050">
                  <a:moveTo>
                    <a:pt x="75802" y="0"/>
                  </a:moveTo>
                  <a:lnTo>
                    <a:pt x="354587" y="0"/>
                  </a:lnTo>
                  <a:cubicBezTo>
                    <a:pt x="396451" y="0"/>
                    <a:pt x="430389" y="33938"/>
                    <a:pt x="430389" y="75802"/>
                  </a:cubicBezTo>
                  <a:lnTo>
                    <a:pt x="430389" y="1847248"/>
                  </a:lnTo>
                  <a:cubicBezTo>
                    <a:pt x="430389" y="1889112"/>
                    <a:pt x="396451" y="1923050"/>
                    <a:pt x="354587" y="1923050"/>
                  </a:cubicBezTo>
                  <a:lnTo>
                    <a:pt x="75802" y="1923050"/>
                  </a:lnTo>
                  <a:cubicBezTo>
                    <a:pt x="33938" y="1923050"/>
                    <a:pt x="0" y="1889112"/>
                    <a:pt x="0" y="1847248"/>
                  </a:cubicBezTo>
                  <a:lnTo>
                    <a:pt x="0" y="75802"/>
                  </a:lnTo>
                  <a:cubicBezTo>
                    <a:pt x="0" y="33938"/>
                    <a:pt x="33938" y="0"/>
                    <a:pt x="75802" y="0"/>
                  </a:cubicBezTo>
                  <a:close/>
                </a:path>
              </a:pathLst>
            </a:custGeom>
            <a:solidFill>
              <a:srgbClr val="1B294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AF3883B-0E15-B3C4-7822-3DE46F5943E9}"/>
                </a:ext>
              </a:extLst>
            </p:cNvPr>
            <p:cNvSpPr txBox="1"/>
            <p:nvPr/>
          </p:nvSpPr>
          <p:spPr>
            <a:xfrm>
              <a:off x="0" y="-38100"/>
              <a:ext cx="430389" cy="1961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80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EB02B19F-0F3F-CBC0-F020-D5B491762378}"/>
              </a:ext>
            </a:extLst>
          </p:cNvPr>
          <p:cNvSpPr/>
          <p:nvPr/>
        </p:nvSpPr>
        <p:spPr>
          <a:xfrm>
            <a:off x="7169570" y="1984095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4" y="0"/>
                </a:lnTo>
                <a:lnTo>
                  <a:pt x="1038274" y="259569"/>
                </a:lnTo>
                <a:lnTo>
                  <a:pt x="0" y="259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3343CBD-B43D-643E-4DCD-1C57CA387DF0}"/>
              </a:ext>
            </a:extLst>
          </p:cNvPr>
          <p:cNvSpPr/>
          <p:nvPr/>
        </p:nvSpPr>
        <p:spPr>
          <a:xfrm>
            <a:off x="793084" y="9427398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3" y="0"/>
                </a:lnTo>
                <a:lnTo>
                  <a:pt x="1038273" y="259568"/>
                </a:lnTo>
                <a:lnTo>
                  <a:pt x="0" y="25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18">
            <a:extLst>
              <a:ext uri="{FF2B5EF4-FFF2-40B4-BE49-F238E27FC236}">
                <a16:creationId xmlns:a16="http://schemas.microsoft.com/office/drawing/2014/main" id="{393EC8E2-AF66-60E3-CE98-50670835B4E5}"/>
              </a:ext>
            </a:extLst>
          </p:cNvPr>
          <p:cNvSpPr txBox="1"/>
          <p:nvPr/>
        </p:nvSpPr>
        <p:spPr>
          <a:xfrm>
            <a:off x="224316" y="1765582"/>
            <a:ext cx="6164046" cy="62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RESOURCE UTILIZATION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A95B32-BF83-65ED-0639-CBCA6C154A42}"/>
              </a:ext>
            </a:extLst>
          </p:cNvPr>
          <p:cNvSpPr/>
          <p:nvPr/>
        </p:nvSpPr>
        <p:spPr>
          <a:xfrm>
            <a:off x="11947310" y="1672163"/>
            <a:ext cx="5410200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ysClr val="windowText" lastClr="000000"/>
                </a:solidFill>
              </a:rPr>
              <a:t>From synthesis reports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8C47A5-5154-AAAD-F794-444CFC7E2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04"/>
            <a:ext cx="6906589" cy="50489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FBEC9A-A6D6-57DF-43E3-D8C58DFFC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583" y="3162300"/>
            <a:ext cx="9497303" cy="34556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0CC5A74-6B67-BA45-2684-FD0148B1523A}"/>
              </a:ext>
            </a:extLst>
          </p:cNvPr>
          <p:cNvSpPr/>
          <p:nvPr/>
        </p:nvSpPr>
        <p:spPr>
          <a:xfrm>
            <a:off x="2481383" y="8611700"/>
            <a:ext cx="5410200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Fully parallel version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D9B642-5EBD-FB59-50CA-8F44FFA2B850}"/>
              </a:ext>
            </a:extLst>
          </p:cNvPr>
          <p:cNvSpPr/>
          <p:nvPr/>
        </p:nvSpPr>
        <p:spPr>
          <a:xfrm>
            <a:off x="10210800" y="6965087"/>
            <a:ext cx="5410200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Resource efficient version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6D3A6E-80CA-FDA7-E9EF-C7014BB809E7}"/>
              </a:ext>
            </a:extLst>
          </p:cNvPr>
          <p:cNvSpPr/>
          <p:nvPr/>
        </p:nvSpPr>
        <p:spPr>
          <a:xfrm>
            <a:off x="8447177" y="1994565"/>
            <a:ext cx="2733581" cy="4981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ysClr val="windowText" lastClr="000000"/>
                </a:solidFill>
              </a:rPr>
              <a:t>Slice logic</a:t>
            </a:r>
          </a:p>
        </p:txBody>
      </p:sp>
    </p:spTree>
    <p:extLst>
      <p:ext uri="{BB962C8B-B14F-4D97-AF65-F5344CB8AC3E}">
        <p14:creationId xmlns:p14="http://schemas.microsoft.com/office/powerpoint/2010/main" val="31555437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AF25A48-1384-F321-34AF-9CB3ABFDA701}"/>
              </a:ext>
            </a:extLst>
          </p:cNvPr>
          <p:cNvGrpSpPr/>
          <p:nvPr/>
        </p:nvGrpSpPr>
        <p:grpSpPr>
          <a:xfrm rot="-5400000">
            <a:off x="2489273" y="-1407127"/>
            <a:ext cx="1634132" cy="7301581"/>
            <a:chOff x="0" y="0"/>
            <a:chExt cx="430389" cy="192305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07CE248-0E44-AC2A-77C5-FD7A4BF60567}"/>
                </a:ext>
              </a:extLst>
            </p:cNvPr>
            <p:cNvSpPr/>
            <p:nvPr/>
          </p:nvSpPr>
          <p:spPr>
            <a:xfrm>
              <a:off x="0" y="0"/>
              <a:ext cx="430389" cy="1923050"/>
            </a:xfrm>
            <a:custGeom>
              <a:avLst/>
              <a:gdLst/>
              <a:ahLst/>
              <a:cxnLst/>
              <a:rect l="l" t="t" r="r" b="b"/>
              <a:pathLst>
                <a:path w="430389" h="1923050">
                  <a:moveTo>
                    <a:pt x="75802" y="0"/>
                  </a:moveTo>
                  <a:lnTo>
                    <a:pt x="354587" y="0"/>
                  </a:lnTo>
                  <a:cubicBezTo>
                    <a:pt x="396451" y="0"/>
                    <a:pt x="430389" y="33938"/>
                    <a:pt x="430389" y="75802"/>
                  </a:cubicBezTo>
                  <a:lnTo>
                    <a:pt x="430389" y="1847248"/>
                  </a:lnTo>
                  <a:cubicBezTo>
                    <a:pt x="430389" y="1889112"/>
                    <a:pt x="396451" y="1923050"/>
                    <a:pt x="354587" y="1923050"/>
                  </a:cubicBezTo>
                  <a:lnTo>
                    <a:pt x="75802" y="1923050"/>
                  </a:lnTo>
                  <a:cubicBezTo>
                    <a:pt x="33938" y="1923050"/>
                    <a:pt x="0" y="1889112"/>
                    <a:pt x="0" y="1847248"/>
                  </a:cubicBezTo>
                  <a:lnTo>
                    <a:pt x="0" y="75802"/>
                  </a:lnTo>
                  <a:cubicBezTo>
                    <a:pt x="0" y="33938"/>
                    <a:pt x="33938" y="0"/>
                    <a:pt x="75802" y="0"/>
                  </a:cubicBezTo>
                  <a:close/>
                </a:path>
              </a:pathLst>
            </a:custGeom>
            <a:solidFill>
              <a:srgbClr val="1B294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B2747FF-14C6-62F9-CE3E-34A109EC0C5F}"/>
                </a:ext>
              </a:extLst>
            </p:cNvPr>
            <p:cNvSpPr txBox="1"/>
            <p:nvPr/>
          </p:nvSpPr>
          <p:spPr>
            <a:xfrm>
              <a:off x="0" y="-38100"/>
              <a:ext cx="430389" cy="1961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80"/>
                </a:lnSpc>
              </a:pPr>
              <a:endParaRPr/>
            </a:p>
          </p:txBody>
        </p:sp>
      </p:grpSp>
      <p:sp>
        <p:nvSpPr>
          <p:cNvPr id="5" name="Freeform 6">
            <a:extLst>
              <a:ext uri="{FF2B5EF4-FFF2-40B4-BE49-F238E27FC236}">
                <a16:creationId xmlns:a16="http://schemas.microsoft.com/office/drawing/2014/main" id="{C01B53CC-F9D9-138E-3602-09B9F16B432D}"/>
              </a:ext>
            </a:extLst>
          </p:cNvPr>
          <p:cNvSpPr/>
          <p:nvPr/>
        </p:nvSpPr>
        <p:spPr>
          <a:xfrm>
            <a:off x="793084" y="9427398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3" y="0"/>
                </a:lnTo>
                <a:lnTo>
                  <a:pt x="1038273" y="259568"/>
                </a:lnTo>
                <a:lnTo>
                  <a:pt x="0" y="25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18">
            <a:extLst>
              <a:ext uri="{FF2B5EF4-FFF2-40B4-BE49-F238E27FC236}">
                <a16:creationId xmlns:a16="http://schemas.microsoft.com/office/drawing/2014/main" id="{2AD136A8-4748-B049-05B9-24C9A61AD66E}"/>
              </a:ext>
            </a:extLst>
          </p:cNvPr>
          <p:cNvSpPr txBox="1"/>
          <p:nvPr/>
        </p:nvSpPr>
        <p:spPr>
          <a:xfrm>
            <a:off x="224316" y="1765582"/>
            <a:ext cx="6164046" cy="62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RESOURCE UTILIZATION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FB1564-25A8-BB34-047B-26ABA06B1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238500"/>
            <a:ext cx="8263466" cy="4648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DB932C2-514C-BC57-6421-790E5C8ED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3238500"/>
            <a:ext cx="8553308" cy="307960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B6DED34-7D53-8424-1899-44F7D14B6374}"/>
              </a:ext>
            </a:extLst>
          </p:cNvPr>
          <p:cNvSpPr/>
          <p:nvPr/>
        </p:nvSpPr>
        <p:spPr>
          <a:xfrm>
            <a:off x="11947310" y="1672163"/>
            <a:ext cx="5410200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ysClr val="windowText" lastClr="000000"/>
                </a:solidFill>
              </a:rPr>
              <a:t>From synthesis reports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3408-77E0-42D1-A1FD-C3F43415ECD5}"/>
              </a:ext>
            </a:extLst>
          </p:cNvPr>
          <p:cNvSpPr/>
          <p:nvPr/>
        </p:nvSpPr>
        <p:spPr>
          <a:xfrm>
            <a:off x="2743200" y="7865388"/>
            <a:ext cx="5410200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Fully parallel version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C9C624-7256-D3A4-136F-6AF0B6097661}"/>
              </a:ext>
            </a:extLst>
          </p:cNvPr>
          <p:cNvSpPr/>
          <p:nvPr/>
        </p:nvSpPr>
        <p:spPr>
          <a:xfrm>
            <a:off x="10210800" y="6965087"/>
            <a:ext cx="5410200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Resource efficient version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3F8305-462F-B728-C933-830FCD514DB1}"/>
              </a:ext>
            </a:extLst>
          </p:cNvPr>
          <p:cNvSpPr/>
          <p:nvPr/>
        </p:nvSpPr>
        <p:spPr>
          <a:xfrm>
            <a:off x="8447177" y="1994565"/>
            <a:ext cx="2733581" cy="4981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ysClr val="windowText" lastClr="000000"/>
                </a:solidFill>
              </a:rPr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1918197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43435" y="928261"/>
            <a:ext cx="9713215" cy="1001035"/>
            <a:chOff x="0" y="0"/>
            <a:chExt cx="2558213" cy="2636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58213" cy="263647"/>
            </a:xfrm>
            <a:custGeom>
              <a:avLst/>
              <a:gdLst/>
              <a:ahLst/>
              <a:cxnLst/>
              <a:rect l="l" t="t" r="r" b="b"/>
              <a:pathLst>
                <a:path w="2558213" h="263647">
                  <a:moveTo>
                    <a:pt x="40650" y="0"/>
                  </a:moveTo>
                  <a:lnTo>
                    <a:pt x="2517563" y="0"/>
                  </a:lnTo>
                  <a:cubicBezTo>
                    <a:pt x="2540014" y="0"/>
                    <a:pt x="2558213" y="18199"/>
                    <a:pt x="2558213" y="40650"/>
                  </a:cubicBezTo>
                  <a:lnTo>
                    <a:pt x="2558213" y="222998"/>
                  </a:lnTo>
                  <a:cubicBezTo>
                    <a:pt x="2558213" y="245448"/>
                    <a:pt x="2540014" y="263647"/>
                    <a:pt x="2517563" y="263647"/>
                  </a:cubicBezTo>
                  <a:lnTo>
                    <a:pt x="40650" y="263647"/>
                  </a:lnTo>
                  <a:cubicBezTo>
                    <a:pt x="29869" y="263647"/>
                    <a:pt x="19529" y="259364"/>
                    <a:pt x="11906" y="251741"/>
                  </a:cubicBezTo>
                  <a:cubicBezTo>
                    <a:pt x="4283" y="244118"/>
                    <a:pt x="0" y="233779"/>
                    <a:pt x="0" y="222998"/>
                  </a:cubicBezTo>
                  <a:lnTo>
                    <a:pt x="0" y="40650"/>
                  </a:lnTo>
                  <a:cubicBezTo>
                    <a:pt x="0" y="18199"/>
                    <a:pt x="18199" y="0"/>
                    <a:pt x="4065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58213" cy="301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080"/>
                </a:lnSpc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T_fetch_up : Time taken in Up phase per tile pair</a:t>
              </a:r>
            </a:p>
            <a:p>
              <a:pPr algn="just">
                <a:lnSpc>
                  <a:spcPts val="3080"/>
                </a:lnSpc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T_fetch_down : Time taken in Down phase per tile pair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843435" y="2200464"/>
            <a:ext cx="9713215" cy="1001035"/>
            <a:chOff x="0" y="0"/>
            <a:chExt cx="2558213" cy="2636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58213" cy="263647"/>
            </a:xfrm>
            <a:custGeom>
              <a:avLst/>
              <a:gdLst/>
              <a:ahLst/>
              <a:cxnLst/>
              <a:rect l="l" t="t" r="r" b="b"/>
              <a:pathLst>
                <a:path w="2558213" h="263647">
                  <a:moveTo>
                    <a:pt x="40650" y="0"/>
                  </a:moveTo>
                  <a:lnTo>
                    <a:pt x="2517563" y="0"/>
                  </a:lnTo>
                  <a:cubicBezTo>
                    <a:pt x="2540014" y="0"/>
                    <a:pt x="2558213" y="18199"/>
                    <a:pt x="2558213" y="40650"/>
                  </a:cubicBezTo>
                  <a:lnTo>
                    <a:pt x="2558213" y="222998"/>
                  </a:lnTo>
                  <a:cubicBezTo>
                    <a:pt x="2558213" y="245448"/>
                    <a:pt x="2540014" y="263647"/>
                    <a:pt x="2517563" y="263647"/>
                  </a:cubicBezTo>
                  <a:lnTo>
                    <a:pt x="40650" y="263647"/>
                  </a:lnTo>
                  <a:cubicBezTo>
                    <a:pt x="29869" y="263647"/>
                    <a:pt x="19529" y="259364"/>
                    <a:pt x="11906" y="251741"/>
                  </a:cubicBezTo>
                  <a:cubicBezTo>
                    <a:pt x="4283" y="244118"/>
                    <a:pt x="0" y="233779"/>
                    <a:pt x="0" y="222998"/>
                  </a:cubicBezTo>
                  <a:lnTo>
                    <a:pt x="0" y="40650"/>
                  </a:lnTo>
                  <a:cubicBezTo>
                    <a:pt x="0" y="18199"/>
                    <a:pt x="18199" y="0"/>
                    <a:pt x="4065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558213" cy="301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080"/>
                </a:lnSpc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T_proj : Time-multiplexed projection: NS sub-cycles, each with FEED→PIPE→ACC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843435" y="3468199"/>
            <a:ext cx="9713215" cy="1001035"/>
            <a:chOff x="0" y="0"/>
            <a:chExt cx="2558213" cy="2636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58213" cy="263647"/>
            </a:xfrm>
            <a:custGeom>
              <a:avLst/>
              <a:gdLst/>
              <a:ahLst/>
              <a:cxnLst/>
              <a:rect l="l" t="t" r="r" b="b"/>
              <a:pathLst>
                <a:path w="2558213" h="263647">
                  <a:moveTo>
                    <a:pt x="40650" y="0"/>
                  </a:moveTo>
                  <a:lnTo>
                    <a:pt x="2517563" y="0"/>
                  </a:lnTo>
                  <a:cubicBezTo>
                    <a:pt x="2540014" y="0"/>
                    <a:pt x="2558213" y="18199"/>
                    <a:pt x="2558213" y="40650"/>
                  </a:cubicBezTo>
                  <a:lnTo>
                    <a:pt x="2558213" y="222998"/>
                  </a:lnTo>
                  <a:cubicBezTo>
                    <a:pt x="2558213" y="245448"/>
                    <a:pt x="2540014" y="263647"/>
                    <a:pt x="2517563" y="263647"/>
                  </a:cubicBezTo>
                  <a:lnTo>
                    <a:pt x="40650" y="263647"/>
                  </a:lnTo>
                  <a:cubicBezTo>
                    <a:pt x="29869" y="263647"/>
                    <a:pt x="19529" y="259364"/>
                    <a:pt x="11906" y="251741"/>
                  </a:cubicBezTo>
                  <a:cubicBezTo>
                    <a:pt x="4283" y="244118"/>
                    <a:pt x="0" y="233779"/>
                    <a:pt x="0" y="222998"/>
                  </a:cubicBezTo>
                  <a:lnTo>
                    <a:pt x="0" y="40650"/>
                  </a:lnTo>
                  <a:cubicBezTo>
                    <a:pt x="0" y="18199"/>
                    <a:pt x="18199" y="0"/>
                    <a:pt x="4065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558213" cy="301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080"/>
                </a:lnSpc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T_up, T_down : Phase latencies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4202052" y="1391227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3" y="0"/>
                </a:lnTo>
                <a:lnTo>
                  <a:pt x="1038273" y="259568"/>
                </a:lnTo>
                <a:lnTo>
                  <a:pt x="0" y="25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 rot="-5400000">
            <a:off x="1239736" y="-398178"/>
            <a:ext cx="1358905" cy="3838378"/>
            <a:chOff x="0" y="0"/>
            <a:chExt cx="357901" cy="101093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57901" cy="1010931"/>
            </a:xfrm>
            <a:custGeom>
              <a:avLst/>
              <a:gdLst/>
              <a:ahLst/>
              <a:cxnLst/>
              <a:rect l="l" t="t" r="r" b="b"/>
              <a:pathLst>
                <a:path w="357901" h="1010931">
                  <a:moveTo>
                    <a:pt x="91155" y="0"/>
                  </a:moveTo>
                  <a:lnTo>
                    <a:pt x="266746" y="0"/>
                  </a:lnTo>
                  <a:cubicBezTo>
                    <a:pt x="290922" y="0"/>
                    <a:pt x="314108" y="9604"/>
                    <a:pt x="331202" y="26699"/>
                  </a:cubicBezTo>
                  <a:cubicBezTo>
                    <a:pt x="348297" y="43793"/>
                    <a:pt x="357901" y="66979"/>
                    <a:pt x="357901" y="91155"/>
                  </a:cubicBezTo>
                  <a:lnTo>
                    <a:pt x="357901" y="919776"/>
                  </a:lnTo>
                  <a:cubicBezTo>
                    <a:pt x="357901" y="943952"/>
                    <a:pt x="348297" y="967137"/>
                    <a:pt x="331202" y="984232"/>
                  </a:cubicBezTo>
                  <a:cubicBezTo>
                    <a:pt x="314108" y="1001327"/>
                    <a:pt x="290922" y="1010931"/>
                    <a:pt x="266746" y="1010931"/>
                  </a:cubicBezTo>
                  <a:lnTo>
                    <a:pt x="91155" y="1010931"/>
                  </a:lnTo>
                  <a:cubicBezTo>
                    <a:pt x="66979" y="1010931"/>
                    <a:pt x="43793" y="1001327"/>
                    <a:pt x="26699" y="984232"/>
                  </a:cubicBezTo>
                  <a:cubicBezTo>
                    <a:pt x="9604" y="967137"/>
                    <a:pt x="0" y="943952"/>
                    <a:pt x="0" y="919776"/>
                  </a:cubicBezTo>
                  <a:lnTo>
                    <a:pt x="0" y="91155"/>
                  </a:lnTo>
                  <a:cubicBezTo>
                    <a:pt x="0" y="66979"/>
                    <a:pt x="9604" y="43793"/>
                    <a:pt x="26699" y="26699"/>
                  </a:cubicBezTo>
                  <a:cubicBezTo>
                    <a:pt x="43793" y="9604"/>
                    <a:pt x="66979" y="0"/>
                    <a:pt x="91155" y="0"/>
                  </a:cubicBezTo>
                  <a:close/>
                </a:path>
              </a:pathLst>
            </a:custGeom>
            <a:solidFill>
              <a:srgbClr val="1B294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57901" cy="10490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8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04049" y="1079637"/>
            <a:ext cx="6128543" cy="62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LATENCY</a:t>
            </a:r>
          </a:p>
        </p:txBody>
      </p:sp>
      <p:sp>
        <p:nvSpPr>
          <p:cNvPr id="16" name="Freeform 16"/>
          <p:cNvSpPr/>
          <p:nvPr/>
        </p:nvSpPr>
        <p:spPr>
          <a:xfrm>
            <a:off x="793084" y="9160013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3" y="0"/>
                </a:lnTo>
                <a:lnTo>
                  <a:pt x="1038273" y="259569"/>
                </a:lnTo>
                <a:lnTo>
                  <a:pt x="0" y="259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91621" y="156001"/>
            <a:ext cx="11159736" cy="610510"/>
            <a:chOff x="0" y="0"/>
            <a:chExt cx="2939190" cy="1607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39190" cy="160793"/>
            </a:xfrm>
            <a:custGeom>
              <a:avLst/>
              <a:gdLst/>
              <a:ahLst/>
              <a:cxnLst/>
              <a:rect l="l" t="t" r="r" b="b"/>
              <a:pathLst>
                <a:path w="2939190" h="160793">
                  <a:moveTo>
                    <a:pt x="35381" y="0"/>
                  </a:moveTo>
                  <a:lnTo>
                    <a:pt x="2903809" y="0"/>
                  </a:lnTo>
                  <a:cubicBezTo>
                    <a:pt x="2913193" y="0"/>
                    <a:pt x="2922192" y="3728"/>
                    <a:pt x="2928827" y="10363"/>
                  </a:cubicBezTo>
                  <a:cubicBezTo>
                    <a:pt x="2935462" y="16998"/>
                    <a:pt x="2939190" y="25997"/>
                    <a:pt x="2939190" y="35381"/>
                  </a:cubicBezTo>
                  <a:lnTo>
                    <a:pt x="2939190" y="125412"/>
                  </a:lnTo>
                  <a:cubicBezTo>
                    <a:pt x="2939190" y="144952"/>
                    <a:pt x="2923349" y="160793"/>
                    <a:pt x="2903809" y="160793"/>
                  </a:cubicBezTo>
                  <a:lnTo>
                    <a:pt x="35381" y="160793"/>
                  </a:lnTo>
                  <a:cubicBezTo>
                    <a:pt x="15840" y="160793"/>
                    <a:pt x="0" y="144952"/>
                    <a:pt x="0" y="125412"/>
                  </a:cubicBezTo>
                  <a:lnTo>
                    <a:pt x="0" y="35381"/>
                  </a:lnTo>
                  <a:cubicBezTo>
                    <a:pt x="0" y="15840"/>
                    <a:pt x="15840" y="0"/>
                    <a:pt x="35381" y="0"/>
                  </a:cubicBezTo>
                  <a:close/>
                </a:path>
              </a:pathLst>
            </a:custGeom>
            <a:solidFill>
              <a:srgbClr val="E2A9F1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939190" cy="198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r>
                <a:rPr lang="en-US" sz="2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Latency Analysis </a:t>
              </a:r>
            </a:p>
          </p:txBody>
        </p:sp>
      </p:grp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278942" y="766512"/>
          <a:ext cx="15774634" cy="9463549"/>
        </p:xfrm>
        <a:graphic>
          <a:graphicData uri="http://schemas.openxmlformats.org/drawingml/2006/table">
            <a:tbl>
              <a:tblPr/>
              <a:tblGrid>
                <a:gridCol w="20666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6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5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0936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Metric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Expression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FULLY PARALLEL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RESOURCE-EFFICIENT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639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T_fetch_up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T_ar + B_in + T_ar + B_wt + T_fsm = 2 + ⌈M×DW/AW⌉ + 2 + ⌈M²×DW/AW⌉ + 3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271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377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T_fetch_down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T_bram + T_ar + B_wt + T_fsm = 2 + 2 + ⌈M²×DW/AW⌉ + 3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263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77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T_proj (not last)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T_idle + NS × (T_feed + T_pipe + T_acc) = 1 + NS × (1 + TD + 1) = 1 + NS × (TD + 2)  = 1 + 7·NS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377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T_proj (last)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 + NS × (TD + 2) + T_out  = 2 + 7·NS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377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T_tile_up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max(T_fetch_up, T_proj)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271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377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T_tile_down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max(T_fetch_down, T_proj)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263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4762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T_readout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NTD × (T_issue + T_relay + T_capture) = NTD × 3 = 3 × NTD</a:t>
                      </a:r>
                      <a:endParaRPr lang="en-US" sz="1100"/>
                    </a:p>
                    <a:p>
                      <a:pPr algn="l">
                        <a:lnSpc>
                          <a:spcPts val="2879"/>
                        </a:lnSpc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or NTD × (T_wait + T_capture + BPT) = NTD × (1 + 1 + BPT) = NTD × (2 + BPT)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192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640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9377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T_up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N_up × T_tile_up + NT4D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655,616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4,440,640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9377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T_down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N_down × T_tile_down + NTD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639,040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4,305,216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9377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T_total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T_up + T_down + T_readout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1,294,848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8,746,496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82020"/>
              </p:ext>
            </p:extLst>
          </p:nvPr>
        </p:nvGraphicFramePr>
        <p:xfrm>
          <a:off x="4395251" y="2820191"/>
          <a:ext cx="10742467" cy="5172397"/>
        </p:xfrm>
        <a:graphic>
          <a:graphicData uri="http://schemas.openxmlformats.org/drawingml/2006/table">
            <a:tbl>
              <a:tblPr/>
              <a:tblGrid>
                <a:gridCol w="215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7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7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30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38098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Component</a:t>
                      </a:r>
                      <a:endParaRPr lang="en-US" sz="1100" b="1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FULLY-PIPELINED</a:t>
                      </a:r>
                      <a:endParaRPr lang="en-US" sz="1100" b="1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RESOURCE-EFFICIENT</a:t>
                      </a:r>
                      <a:endParaRPr lang="en-US" sz="1100" b="1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%</a:t>
                      </a:r>
                      <a:endParaRPr lang="en-US" sz="1100" b="1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%</a:t>
                      </a:r>
                      <a:endParaRPr lang="en-US" sz="1100" b="1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098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AXI data transfer</a:t>
                      </a:r>
                      <a:endParaRPr lang="en-US" sz="1100" b="1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1,064,960</a:t>
                      </a:r>
                      <a:endParaRPr lang="en-US" sz="1100" b="1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8,519,680</a:t>
                      </a:r>
                      <a:endParaRPr lang="en-US" sz="1100" b="1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82.2%</a:t>
                      </a:r>
                      <a:endParaRPr lang="en-US" sz="1100" b="1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97.4%</a:t>
                      </a:r>
                      <a:endParaRPr lang="en-US" sz="1100" b="1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8098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AXI address phase ovehead</a:t>
                      </a:r>
                      <a:endParaRPr lang="en-US" sz="1100" b="1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98,304</a:t>
                      </a:r>
                      <a:endParaRPr lang="en-US" sz="1100" b="1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98,304</a:t>
                      </a:r>
                      <a:endParaRPr lang="en-US" sz="1100" b="1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7.6%</a:t>
                      </a:r>
                      <a:endParaRPr lang="en-US" sz="1100" b="1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1.1%</a:t>
                      </a:r>
                      <a:endParaRPr lang="en-US" sz="1100" b="1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8098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FSM + BRAM relay overhead</a:t>
                      </a:r>
                      <a:endParaRPr lang="en-US" sz="1100" b="1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114,688</a:t>
                      </a:r>
                      <a:endParaRPr lang="en-US" sz="1100" b="1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114,688</a:t>
                      </a:r>
                      <a:endParaRPr lang="en-US" sz="1100" b="1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8.9%</a:t>
                      </a:r>
                      <a:endParaRPr lang="en-US" sz="1100" b="1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1.3%</a:t>
                      </a:r>
                      <a:endParaRPr lang="en-US" sz="1100" b="1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0005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Readout</a:t>
                      </a:r>
                      <a:endParaRPr lang="en-US" sz="1100" b="1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16,896</a:t>
                      </a:r>
                      <a:endParaRPr lang="en-US" sz="1100" b="1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13,824</a:t>
                      </a:r>
                      <a:endParaRPr lang="en-US" sz="1100" b="1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1.3%</a:t>
                      </a:r>
                      <a:endParaRPr lang="en-US" sz="1100" b="1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0.2%</a:t>
                      </a:r>
                      <a:endParaRPr lang="en-US" sz="1100" b="1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Freeform 3"/>
          <p:cNvSpPr/>
          <p:nvPr/>
        </p:nvSpPr>
        <p:spPr>
          <a:xfrm>
            <a:off x="4202052" y="1391227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3" y="0"/>
                </a:lnTo>
                <a:lnTo>
                  <a:pt x="1038273" y="259568"/>
                </a:lnTo>
                <a:lnTo>
                  <a:pt x="0" y="25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 rot="-5400000">
            <a:off x="1239736" y="-398178"/>
            <a:ext cx="1358905" cy="3838378"/>
            <a:chOff x="0" y="0"/>
            <a:chExt cx="357901" cy="101093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57901" cy="1010931"/>
            </a:xfrm>
            <a:custGeom>
              <a:avLst/>
              <a:gdLst/>
              <a:ahLst/>
              <a:cxnLst/>
              <a:rect l="l" t="t" r="r" b="b"/>
              <a:pathLst>
                <a:path w="357901" h="1010931">
                  <a:moveTo>
                    <a:pt x="91155" y="0"/>
                  </a:moveTo>
                  <a:lnTo>
                    <a:pt x="266746" y="0"/>
                  </a:lnTo>
                  <a:cubicBezTo>
                    <a:pt x="290922" y="0"/>
                    <a:pt x="314108" y="9604"/>
                    <a:pt x="331202" y="26699"/>
                  </a:cubicBezTo>
                  <a:cubicBezTo>
                    <a:pt x="348297" y="43793"/>
                    <a:pt x="357901" y="66979"/>
                    <a:pt x="357901" y="91155"/>
                  </a:cubicBezTo>
                  <a:lnTo>
                    <a:pt x="357901" y="919776"/>
                  </a:lnTo>
                  <a:cubicBezTo>
                    <a:pt x="357901" y="943952"/>
                    <a:pt x="348297" y="967137"/>
                    <a:pt x="331202" y="984232"/>
                  </a:cubicBezTo>
                  <a:cubicBezTo>
                    <a:pt x="314108" y="1001327"/>
                    <a:pt x="290922" y="1010931"/>
                    <a:pt x="266746" y="1010931"/>
                  </a:cubicBezTo>
                  <a:lnTo>
                    <a:pt x="91155" y="1010931"/>
                  </a:lnTo>
                  <a:cubicBezTo>
                    <a:pt x="66979" y="1010931"/>
                    <a:pt x="43793" y="1001327"/>
                    <a:pt x="26699" y="984232"/>
                  </a:cubicBezTo>
                  <a:cubicBezTo>
                    <a:pt x="9604" y="967137"/>
                    <a:pt x="0" y="943952"/>
                    <a:pt x="0" y="919776"/>
                  </a:cubicBezTo>
                  <a:lnTo>
                    <a:pt x="0" y="91155"/>
                  </a:lnTo>
                  <a:cubicBezTo>
                    <a:pt x="0" y="66979"/>
                    <a:pt x="9604" y="43793"/>
                    <a:pt x="26699" y="26699"/>
                  </a:cubicBezTo>
                  <a:cubicBezTo>
                    <a:pt x="43793" y="9604"/>
                    <a:pt x="66979" y="0"/>
                    <a:pt x="91155" y="0"/>
                  </a:cubicBezTo>
                  <a:close/>
                </a:path>
              </a:pathLst>
            </a:custGeom>
            <a:solidFill>
              <a:srgbClr val="1B294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57901" cy="10490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8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04049" y="1079637"/>
            <a:ext cx="6128543" cy="62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LATENCY</a:t>
            </a:r>
          </a:p>
        </p:txBody>
      </p:sp>
      <p:sp>
        <p:nvSpPr>
          <p:cNvPr id="8" name="Freeform 8"/>
          <p:cNvSpPr/>
          <p:nvPr/>
        </p:nvSpPr>
        <p:spPr>
          <a:xfrm>
            <a:off x="793084" y="9160013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3" y="0"/>
                </a:lnTo>
                <a:lnTo>
                  <a:pt x="1038273" y="259569"/>
                </a:lnTo>
                <a:lnTo>
                  <a:pt x="0" y="259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2489273" y="-1407127"/>
            <a:ext cx="1634132" cy="7301581"/>
            <a:chOff x="0" y="0"/>
            <a:chExt cx="430389" cy="19230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0389" cy="1923050"/>
            </a:xfrm>
            <a:custGeom>
              <a:avLst/>
              <a:gdLst/>
              <a:ahLst/>
              <a:cxnLst/>
              <a:rect l="l" t="t" r="r" b="b"/>
              <a:pathLst>
                <a:path w="430389" h="1923050">
                  <a:moveTo>
                    <a:pt x="75802" y="0"/>
                  </a:moveTo>
                  <a:lnTo>
                    <a:pt x="354587" y="0"/>
                  </a:lnTo>
                  <a:cubicBezTo>
                    <a:pt x="396451" y="0"/>
                    <a:pt x="430389" y="33938"/>
                    <a:pt x="430389" y="75802"/>
                  </a:cubicBezTo>
                  <a:lnTo>
                    <a:pt x="430389" y="1847248"/>
                  </a:lnTo>
                  <a:cubicBezTo>
                    <a:pt x="430389" y="1889112"/>
                    <a:pt x="396451" y="1923050"/>
                    <a:pt x="354587" y="1923050"/>
                  </a:cubicBezTo>
                  <a:lnTo>
                    <a:pt x="75802" y="1923050"/>
                  </a:lnTo>
                  <a:cubicBezTo>
                    <a:pt x="33938" y="1923050"/>
                    <a:pt x="0" y="1889112"/>
                    <a:pt x="0" y="1847248"/>
                  </a:cubicBezTo>
                  <a:lnTo>
                    <a:pt x="0" y="75802"/>
                  </a:lnTo>
                  <a:cubicBezTo>
                    <a:pt x="0" y="33938"/>
                    <a:pt x="33938" y="0"/>
                    <a:pt x="75802" y="0"/>
                  </a:cubicBezTo>
                  <a:close/>
                </a:path>
              </a:pathLst>
            </a:custGeom>
            <a:solidFill>
              <a:srgbClr val="1B294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0389" cy="1961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8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169570" y="1984095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4" y="0"/>
                </a:lnTo>
                <a:lnTo>
                  <a:pt x="1038274" y="259569"/>
                </a:lnTo>
                <a:lnTo>
                  <a:pt x="0" y="259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73042" y="1492008"/>
            <a:ext cx="6164046" cy="128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CALCULATED THROUGHPUT</a:t>
            </a:r>
          </a:p>
        </p:txBody>
      </p:sp>
      <p:sp>
        <p:nvSpPr>
          <p:cNvPr id="7" name="Freeform 7"/>
          <p:cNvSpPr/>
          <p:nvPr/>
        </p:nvSpPr>
        <p:spPr>
          <a:xfrm>
            <a:off x="793084" y="9427398"/>
            <a:ext cx="1038273" cy="259568"/>
          </a:xfrm>
          <a:custGeom>
            <a:avLst/>
            <a:gdLst/>
            <a:ahLst/>
            <a:cxnLst/>
            <a:rect l="l" t="t" r="r" b="b"/>
            <a:pathLst>
              <a:path w="1038273" h="259568">
                <a:moveTo>
                  <a:pt x="0" y="0"/>
                </a:moveTo>
                <a:lnTo>
                  <a:pt x="1038273" y="0"/>
                </a:lnTo>
                <a:lnTo>
                  <a:pt x="1038273" y="259568"/>
                </a:lnTo>
                <a:lnTo>
                  <a:pt x="0" y="259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2365819" y="4124365"/>
          <a:ext cx="14472788" cy="3796217"/>
        </p:xfrm>
        <a:graphic>
          <a:graphicData uri="http://schemas.openxmlformats.org/drawingml/2006/table">
            <a:tbl>
              <a:tblPr/>
              <a:tblGrid>
                <a:gridCol w="2087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79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7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7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9584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Parameter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EXPRESSION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FULLY-PIPELINED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RESOURCE-EFFICIENT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8718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MAC throughput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MACs/T_total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25.9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3.83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3211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DSP efficiency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MACs / (T_total × DSP_count) x 100 %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1.26%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0.75%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4704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BW efficiency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(Bytes_total / T_total)/(AW / 8 ) x 100 %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82.2%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97.4%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8496" y="6570902"/>
            <a:ext cx="7669889" cy="4169631"/>
          </a:xfrm>
          <a:custGeom>
            <a:avLst/>
            <a:gdLst/>
            <a:ahLst/>
            <a:cxnLst/>
            <a:rect l="l" t="t" r="r" b="b"/>
            <a:pathLst>
              <a:path w="7669889" h="4169631">
                <a:moveTo>
                  <a:pt x="0" y="0"/>
                </a:moveTo>
                <a:lnTo>
                  <a:pt x="7669889" y="0"/>
                </a:lnTo>
                <a:lnTo>
                  <a:pt x="7669889" y="4169631"/>
                </a:lnTo>
                <a:lnTo>
                  <a:pt x="0" y="41696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1135085" y="0"/>
            <a:ext cx="7495136" cy="4074629"/>
          </a:xfrm>
          <a:custGeom>
            <a:avLst/>
            <a:gdLst/>
            <a:ahLst/>
            <a:cxnLst/>
            <a:rect l="l" t="t" r="r" b="b"/>
            <a:pathLst>
              <a:path w="7495136" h="4074629">
                <a:moveTo>
                  <a:pt x="7495136" y="4074629"/>
                </a:moveTo>
                <a:lnTo>
                  <a:pt x="0" y="4074629"/>
                </a:lnTo>
                <a:lnTo>
                  <a:pt x="0" y="0"/>
                </a:lnTo>
                <a:lnTo>
                  <a:pt x="7495136" y="0"/>
                </a:lnTo>
                <a:lnTo>
                  <a:pt x="7495136" y="407462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030578" y="4242975"/>
            <a:ext cx="8226844" cy="12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67"/>
              </a:lnSpc>
            </a:pPr>
            <a:r>
              <a:rPr lang="en-US" sz="8199">
                <a:solidFill>
                  <a:srgbClr val="1B294A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33194" y="5458621"/>
            <a:ext cx="7621612" cy="547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1B294A"/>
                </a:solidFill>
                <a:latin typeface="Lato"/>
                <a:ea typeface="Lato"/>
                <a:cs typeface="Lato"/>
                <a:sym typeface="Lato"/>
              </a:rPr>
              <a:t>For your attention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547275" y="9258300"/>
            <a:ext cx="11893526" cy="798082"/>
            <a:chOff x="0" y="0"/>
            <a:chExt cx="3132451" cy="2101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32451" cy="210194"/>
            </a:xfrm>
            <a:custGeom>
              <a:avLst/>
              <a:gdLst/>
              <a:ahLst/>
              <a:cxnLst/>
              <a:rect l="l" t="t" r="r" b="b"/>
              <a:pathLst>
                <a:path w="3132451" h="210194">
                  <a:moveTo>
                    <a:pt x="0" y="0"/>
                  </a:moveTo>
                  <a:lnTo>
                    <a:pt x="3132451" y="0"/>
                  </a:lnTo>
                  <a:lnTo>
                    <a:pt x="3132451" y="210194"/>
                  </a:lnTo>
                  <a:lnTo>
                    <a:pt x="0" y="210194"/>
                  </a:lnTo>
                  <a:close/>
                </a:path>
              </a:pathLst>
            </a:custGeom>
            <a:solidFill>
              <a:srgbClr val="1B294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132451" cy="248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1880</Words>
  <Application>Microsoft Office PowerPoint</Application>
  <PresentationFormat>Custom</PresentationFormat>
  <Paragraphs>298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6" baseType="lpstr">
      <vt:lpstr>Open Sans Bold</vt:lpstr>
      <vt:lpstr>Arimo</vt:lpstr>
      <vt:lpstr>Canva Sans</vt:lpstr>
      <vt:lpstr>Lato</vt:lpstr>
      <vt:lpstr>Calibri</vt:lpstr>
      <vt:lpstr>Canva Sans Bold</vt:lpstr>
      <vt:lpstr>Arial</vt:lpstr>
      <vt:lpstr>Montserrat Bold</vt:lpstr>
      <vt:lpstr>Archivo Black</vt:lpstr>
      <vt:lpstr>Calibri (MS) Bold</vt:lpstr>
      <vt:lpstr>Open Sans</vt:lpstr>
      <vt:lpstr>Lato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8_23.07.2026_MODIFIED_FFN_DESIGN_WITH_RESOURCE_EFFICIENCY</dc:title>
  <dc:creator>FutureSystems-9</dc:creator>
  <cp:lastModifiedBy>Rahul Tripathy</cp:lastModifiedBy>
  <cp:revision>3</cp:revision>
  <dcterms:created xsi:type="dcterms:W3CDTF">2006-08-16T00:00:00Z</dcterms:created>
  <dcterms:modified xsi:type="dcterms:W3CDTF">2026-07-24T13:27:21Z</dcterms:modified>
  <dc:identifier>DAHQAFH4R2E</dc:identifier>
</cp:coreProperties>
</file>