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Poppins" panose="020B0502040204020203" pitchFamily="2" charset="0"/>
      <p:regular r:id="rId24"/>
    </p:embeddedFont>
    <p:embeddedFont>
      <p:font typeface="Poppins Bold" panose="020B0604020202020204" charset="0"/>
      <p:regular r:id="rId25"/>
    </p:embeddedFont>
    <p:embeddedFont>
      <p:font typeface="Poppins Light" panose="020B0502040204020203" pitchFamily="2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16-Jul-26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52348" y="1152525"/>
            <a:ext cx="8618726" cy="5027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99"/>
              </a:lnSpc>
            </a:pPr>
            <a:r>
              <a:rPr lang="en-US" sz="12699" spc="-253">
                <a:solidFill>
                  <a:srgbClr val="4AA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MODIFIED PIPELINED FFN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71750" y="8114719"/>
            <a:ext cx="1893561" cy="264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4AA547"/>
                </a:solidFill>
                <a:latin typeface="Poppins"/>
                <a:ea typeface="Poppins"/>
                <a:cs typeface="Poppins"/>
                <a:sym typeface="Poppins"/>
              </a:rPr>
              <a:t>JULY 16, 2026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52544" y="6408146"/>
            <a:ext cx="8918529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4AA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Different modules, their interconnections in top module, testbench and results</a:t>
            </a:r>
          </a:p>
          <a:p>
            <a:pPr algn="r">
              <a:lnSpc>
                <a:spcPts val="1800"/>
              </a:lnSpc>
            </a:pPr>
            <a:endParaRPr lang="en-US" sz="1800">
              <a:solidFill>
                <a:srgbClr val="4AA54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71750" y="1952625"/>
            <a:ext cx="9391776" cy="79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1">
                <a:solidFill>
                  <a:srgbClr val="4AA547"/>
                </a:solidFill>
                <a:latin typeface="Poppins Bold"/>
                <a:ea typeface="Poppins Bold"/>
                <a:cs typeface="Poppins Bold"/>
                <a:sym typeface="Poppins Bold"/>
              </a:rPr>
              <a:t>TABLE OF CONTENTS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71750" y="4057069"/>
            <a:ext cx="369094" cy="452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21844" y="4141511"/>
            <a:ext cx="2939497" cy="264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10750" y="4057069"/>
            <a:ext cx="506016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60844" y="4141511"/>
            <a:ext cx="2939497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Second submodule : axi read master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71750" y="5230802"/>
            <a:ext cx="485705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21844" y="5315243"/>
            <a:ext cx="2939497" cy="264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RTL Schematic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10750" y="5230802"/>
            <a:ext cx="506016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06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60844" y="5315243"/>
            <a:ext cx="2939497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Third submodule : wide-word bram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71750" y="6404535"/>
            <a:ext cx="491012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21844" y="6488976"/>
            <a:ext cx="2939497" cy="264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Synthesized design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10750" y="6404535"/>
            <a:ext cx="468930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07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60844" y="6488976"/>
            <a:ext cx="2939497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Stage 1 : Fetch and address generation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71750" y="7578268"/>
            <a:ext cx="502444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21844" y="7662709"/>
            <a:ext cx="2939497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First submodule : Adder Tree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10750" y="7578268"/>
            <a:ext cx="506016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08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60844" y="7662709"/>
            <a:ext cx="2939497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Fetch and address generation FSM </a:t>
            </a:r>
          </a:p>
        </p:txBody>
      </p:sp>
      <p:sp>
        <p:nvSpPr>
          <p:cNvPr id="19" name="AutoShape 19"/>
          <p:cNvSpPr/>
          <p:nvPr/>
        </p:nvSpPr>
        <p:spPr>
          <a:xfrm>
            <a:off x="2571750" y="4856039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9810750" y="4856039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21"/>
          <p:cNvSpPr/>
          <p:nvPr/>
        </p:nvSpPr>
        <p:spPr>
          <a:xfrm>
            <a:off x="2571750" y="6029772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AutoShape 22"/>
          <p:cNvSpPr/>
          <p:nvPr/>
        </p:nvSpPr>
        <p:spPr>
          <a:xfrm>
            <a:off x="9810750" y="6029772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>
            <a:off x="2571750" y="7203505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>
            <a:off x="9810750" y="7203505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25"/>
          <p:cNvSpPr/>
          <p:nvPr/>
        </p:nvSpPr>
        <p:spPr>
          <a:xfrm>
            <a:off x="2571750" y="8377238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>
            <a:off x="9810750" y="8377238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71750" y="1952625"/>
            <a:ext cx="8795194" cy="79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1">
                <a:solidFill>
                  <a:srgbClr val="4AA547"/>
                </a:solidFill>
                <a:latin typeface="Poppins Bold"/>
                <a:ea typeface="Poppins Bold"/>
                <a:cs typeface="Poppins Bold"/>
                <a:sym typeface="Poppins Bold"/>
              </a:rPr>
              <a:t>TABLE OF CONTENTS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71750" y="4057069"/>
            <a:ext cx="567898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09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21844" y="4141511"/>
            <a:ext cx="2939497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Stage 2 &amp; 4 : up and down projection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10750" y="4057069"/>
            <a:ext cx="506016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60844" y="4141511"/>
            <a:ext cx="2939497" cy="264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Timing diagram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71750" y="5230802"/>
            <a:ext cx="485705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10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21844" y="5315243"/>
            <a:ext cx="2939497" cy="264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Stage 3 : relu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10750" y="5230802"/>
            <a:ext cx="506016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14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60844" y="5315243"/>
            <a:ext cx="2939497" cy="264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Resource utilization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71750" y="6404535"/>
            <a:ext cx="491012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11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21844" y="6488976"/>
            <a:ext cx="2939497" cy="264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Stage 5 : accumulation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71750" y="7578268"/>
            <a:ext cx="502444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12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21844" y="7662709"/>
            <a:ext cx="2939497" cy="264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Testbench output</a:t>
            </a:r>
          </a:p>
        </p:txBody>
      </p:sp>
      <p:sp>
        <p:nvSpPr>
          <p:cNvPr id="15" name="AutoShape 15"/>
          <p:cNvSpPr/>
          <p:nvPr/>
        </p:nvSpPr>
        <p:spPr>
          <a:xfrm>
            <a:off x="2571750" y="4856039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9810750" y="4856039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2571750" y="6029772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9810750" y="6029772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2571750" y="7203505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2571750" y="8377238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21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954273" y="1116033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99040" y="1485560"/>
            <a:ext cx="13084230" cy="4875033"/>
          </a:xfrm>
          <a:custGeom>
            <a:avLst/>
            <a:gdLst/>
            <a:ahLst/>
            <a:cxnLst/>
            <a:rect l="l" t="t" r="r" b="b"/>
            <a:pathLst>
              <a:path w="13084230" h="4875033">
                <a:moveTo>
                  <a:pt x="0" y="0"/>
                </a:moveTo>
                <a:lnTo>
                  <a:pt x="13084230" y="0"/>
                </a:lnTo>
                <a:lnTo>
                  <a:pt x="13084230" y="4875033"/>
                </a:lnTo>
                <a:lnTo>
                  <a:pt x="0" y="4875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75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954273" y="335564"/>
            <a:ext cx="5905500" cy="799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4AA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35655" y="6559664"/>
            <a:ext cx="590550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Truely Pipelined Feed Forward Network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35655" y="7035098"/>
            <a:ext cx="5905500" cy="111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Features</a:t>
            </a:r>
            <a:r>
              <a:rPr lang="en-US" sz="15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: 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5 pipelined stages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Tile-based computation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AXI4 external memory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5400000">
            <a:off x="6559004" y="4842827"/>
            <a:ext cx="1712417" cy="2765425"/>
            <a:chOff x="0" y="0"/>
            <a:chExt cx="451007" cy="7283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007" cy="728342"/>
            </a:xfrm>
            <a:custGeom>
              <a:avLst/>
              <a:gdLst/>
              <a:ahLst/>
              <a:cxnLst/>
              <a:rect l="l" t="t" r="r" b="b"/>
              <a:pathLst>
                <a:path w="451007" h="728342">
                  <a:moveTo>
                    <a:pt x="0" y="0"/>
                  </a:moveTo>
                  <a:lnTo>
                    <a:pt x="451007" y="0"/>
                  </a:lnTo>
                  <a:lnTo>
                    <a:pt x="451007" y="728342"/>
                  </a:lnTo>
                  <a:lnTo>
                    <a:pt x="0" y="72834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451007" cy="718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10016579" y="4842827"/>
            <a:ext cx="1712417" cy="2765425"/>
            <a:chOff x="0" y="0"/>
            <a:chExt cx="451007" cy="7283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1007" cy="728342"/>
            </a:xfrm>
            <a:custGeom>
              <a:avLst/>
              <a:gdLst/>
              <a:ahLst/>
              <a:cxnLst/>
              <a:rect l="l" t="t" r="r" b="b"/>
              <a:pathLst>
                <a:path w="451007" h="728342">
                  <a:moveTo>
                    <a:pt x="0" y="0"/>
                  </a:moveTo>
                  <a:lnTo>
                    <a:pt x="451007" y="0"/>
                  </a:lnTo>
                  <a:lnTo>
                    <a:pt x="451007" y="728342"/>
                  </a:lnTo>
                  <a:lnTo>
                    <a:pt x="0" y="72834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451007" cy="718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047307" y="3271743"/>
            <a:ext cx="12402715" cy="6165747"/>
          </a:xfrm>
          <a:custGeom>
            <a:avLst/>
            <a:gdLst/>
            <a:ahLst/>
            <a:cxnLst/>
            <a:rect l="l" t="t" r="r" b="b"/>
            <a:pathLst>
              <a:path w="12402715" h="6165747">
                <a:moveTo>
                  <a:pt x="0" y="0"/>
                </a:moveTo>
                <a:lnTo>
                  <a:pt x="12402715" y="0"/>
                </a:lnTo>
                <a:lnTo>
                  <a:pt x="12402715" y="6165747"/>
                </a:lnTo>
                <a:lnTo>
                  <a:pt x="0" y="61657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2571750" y="1952625"/>
            <a:ext cx="5905500" cy="79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4AA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RTL SCHEMATIC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9" y="7568619"/>
            <a:ext cx="1893561" cy="264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ACCUMULATOR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175250" y="6985000"/>
            <a:ext cx="958850" cy="95885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>
                <a:alpha val="44706"/>
              </a:srgbClr>
            </a:solidFill>
            <a:ln w="38100" cap="sq">
              <a:solidFill>
                <a:srgbClr val="FF3131">
                  <a:alpha val="44706"/>
                </a:srgbClr>
              </a:solidFill>
              <a:prstDash val="dash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 flipV="1">
            <a:off x="2609850" y="7464425"/>
            <a:ext cx="2565400" cy="149279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flipV="1">
            <a:off x="2571750" y="3714750"/>
            <a:ext cx="5118100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700935" y="5340249"/>
            <a:ext cx="655529" cy="260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7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RELU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175250" y="4991100"/>
            <a:ext cx="958850" cy="95885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>
                <a:alpha val="44706"/>
              </a:srgbClr>
            </a:solidFill>
            <a:ln w="38100" cap="sq">
              <a:solidFill>
                <a:srgbClr val="FF3131">
                  <a:alpha val="44706"/>
                </a:srgbClr>
              </a:solidFill>
              <a:prstDash val="dash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1356465" y="5470525"/>
            <a:ext cx="3818785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7689850" y="3271743"/>
            <a:ext cx="958850" cy="958850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>
                <a:alpha val="44706"/>
              </a:srgbClr>
            </a:solidFill>
            <a:ln w="38100" cap="sq">
              <a:solidFill>
                <a:srgbClr val="FF3131">
                  <a:alpha val="44706"/>
                </a:srgbClr>
              </a:solidFill>
              <a:prstDash val="dash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78189" y="3509233"/>
            <a:ext cx="1893561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DOWN PROJECTION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689850" y="4889906"/>
            <a:ext cx="958850" cy="958850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>
                <a:alpha val="44706"/>
              </a:srgbClr>
            </a:solidFill>
            <a:ln w="38100" cap="sq">
              <a:solidFill>
                <a:srgbClr val="FF3131">
                  <a:alpha val="44706"/>
                </a:srgbClr>
              </a:solidFill>
              <a:prstDash val="dash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9" name="AutoShape 29"/>
          <p:cNvSpPr/>
          <p:nvPr/>
        </p:nvSpPr>
        <p:spPr>
          <a:xfrm>
            <a:off x="1523543" y="4495969"/>
            <a:ext cx="6210300" cy="615884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878735" y="4324249"/>
            <a:ext cx="642829" cy="47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7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RELU BRAM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89850" y="5875192"/>
            <a:ext cx="958850" cy="95885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>
                <a:alpha val="44706"/>
              </a:srgbClr>
            </a:solidFill>
            <a:ln w="38100" cap="sq">
              <a:solidFill>
                <a:srgbClr val="FF3131">
                  <a:alpha val="44706"/>
                </a:srgbClr>
              </a:solidFill>
              <a:prstDash val="dash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34" name="AutoShape 34"/>
          <p:cNvSpPr/>
          <p:nvPr/>
        </p:nvSpPr>
        <p:spPr>
          <a:xfrm>
            <a:off x="2303245" y="6111240"/>
            <a:ext cx="5430500" cy="146652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409684" y="6015957"/>
            <a:ext cx="1893561" cy="264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 PROJECTION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836150" y="5266690"/>
            <a:ext cx="958850" cy="2012950"/>
            <a:chOff x="0" y="0"/>
            <a:chExt cx="812800" cy="170634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1706342"/>
            </a:xfrm>
            <a:custGeom>
              <a:avLst/>
              <a:gdLst/>
              <a:ahLst/>
              <a:cxnLst/>
              <a:rect l="l" t="t" r="r" b="b"/>
              <a:pathLst>
                <a:path w="812800" h="1706342">
                  <a:moveTo>
                    <a:pt x="406400" y="0"/>
                  </a:moveTo>
                  <a:cubicBezTo>
                    <a:pt x="181951" y="0"/>
                    <a:pt x="0" y="381978"/>
                    <a:pt x="0" y="853171"/>
                  </a:cubicBezTo>
                  <a:cubicBezTo>
                    <a:pt x="0" y="1324364"/>
                    <a:pt x="181951" y="1706342"/>
                    <a:pt x="406400" y="1706342"/>
                  </a:cubicBezTo>
                  <a:cubicBezTo>
                    <a:pt x="630849" y="1706342"/>
                    <a:pt x="812800" y="1324364"/>
                    <a:pt x="812800" y="853171"/>
                  </a:cubicBezTo>
                  <a:cubicBezTo>
                    <a:pt x="812800" y="38197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>
                <a:alpha val="44706"/>
              </a:srgbClr>
            </a:solidFill>
            <a:ln w="38100" cap="sq">
              <a:solidFill>
                <a:srgbClr val="FF3131">
                  <a:alpha val="44706"/>
                </a:srgbClr>
              </a:solidFill>
              <a:prstDash val="dash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112345"/>
              <a:ext cx="660400" cy="1434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39" name="AutoShape 39"/>
          <p:cNvSpPr/>
          <p:nvPr/>
        </p:nvSpPr>
        <p:spPr>
          <a:xfrm flipV="1">
            <a:off x="10604043" y="3895566"/>
            <a:ext cx="5286092" cy="1593916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15890135" y="3714750"/>
            <a:ext cx="1874729" cy="694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7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FETCH AND ADDRESS GENERATION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144135" y="7559094"/>
            <a:ext cx="1874729" cy="694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7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FETCH AND ADDRESS GENERATION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2439650" y="7216829"/>
            <a:ext cx="958850" cy="1365250"/>
            <a:chOff x="0" y="0"/>
            <a:chExt cx="812800" cy="115729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1157298"/>
            </a:xfrm>
            <a:custGeom>
              <a:avLst/>
              <a:gdLst/>
              <a:ahLst/>
              <a:cxnLst/>
              <a:rect l="l" t="t" r="r" b="b"/>
              <a:pathLst>
                <a:path w="812800" h="1157298">
                  <a:moveTo>
                    <a:pt x="406400" y="0"/>
                  </a:moveTo>
                  <a:cubicBezTo>
                    <a:pt x="181951" y="0"/>
                    <a:pt x="0" y="259070"/>
                    <a:pt x="0" y="578649"/>
                  </a:cubicBezTo>
                  <a:cubicBezTo>
                    <a:pt x="0" y="898228"/>
                    <a:pt x="181951" y="1157298"/>
                    <a:pt x="406400" y="1157298"/>
                  </a:cubicBezTo>
                  <a:cubicBezTo>
                    <a:pt x="630849" y="1157298"/>
                    <a:pt x="812800" y="898228"/>
                    <a:pt x="812800" y="578649"/>
                  </a:cubicBezTo>
                  <a:cubicBezTo>
                    <a:pt x="812800" y="25907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>
                <a:alpha val="44706"/>
              </a:srgbClr>
            </a:solidFill>
            <a:ln w="38100" cap="sq">
              <a:solidFill>
                <a:srgbClr val="FF3131">
                  <a:alpha val="44706"/>
                </a:srgbClr>
              </a:solidFill>
              <a:prstDash val="dash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200" y="60872"/>
              <a:ext cx="660400" cy="987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5" name="AutoShape 45"/>
          <p:cNvSpPr/>
          <p:nvPr/>
        </p:nvSpPr>
        <p:spPr>
          <a:xfrm flipV="1">
            <a:off x="13398500" y="8035925"/>
            <a:ext cx="2726585" cy="6350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6" name="Group 46"/>
          <p:cNvGrpSpPr/>
          <p:nvPr/>
        </p:nvGrpSpPr>
        <p:grpSpPr>
          <a:xfrm>
            <a:off x="12487275" y="8582079"/>
            <a:ext cx="863600" cy="863600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>
                <a:alpha val="44706"/>
              </a:srgbClr>
            </a:solidFill>
            <a:ln w="38100" cap="sq">
              <a:solidFill>
                <a:srgbClr val="FF3131">
                  <a:alpha val="44706"/>
                </a:srgbClr>
              </a:solidFill>
              <a:prstDash val="dash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6042535" y="8486194"/>
            <a:ext cx="1874729" cy="260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7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 BRAM</a:t>
            </a:r>
          </a:p>
        </p:txBody>
      </p:sp>
      <p:sp>
        <p:nvSpPr>
          <p:cNvPr id="50" name="AutoShape 50"/>
          <p:cNvSpPr/>
          <p:nvPr/>
        </p:nvSpPr>
        <p:spPr>
          <a:xfrm flipV="1">
            <a:off x="13351319" y="8746747"/>
            <a:ext cx="2691217" cy="248087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172200" y="3383489"/>
            <a:ext cx="3640946" cy="5729821"/>
          </a:xfrm>
          <a:custGeom>
            <a:avLst/>
            <a:gdLst/>
            <a:ahLst/>
            <a:cxnLst/>
            <a:rect l="l" t="t" r="r" b="b"/>
            <a:pathLst>
              <a:path w="3640946" h="5729821">
                <a:moveTo>
                  <a:pt x="0" y="0"/>
                </a:moveTo>
                <a:lnTo>
                  <a:pt x="3640946" y="0"/>
                </a:lnTo>
                <a:lnTo>
                  <a:pt x="3640946" y="5729822"/>
                </a:lnTo>
                <a:lnTo>
                  <a:pt x="0" y="5729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571750" y="1952625"/>
            <a:ext cx="7912100" cy="79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4AA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SYNTHESIZED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229061" y="2693697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934433" y="3176243"/>
            <a:ext cx="9326934" cy="5951139"/>
          </a:xfrm>
          <a:custGeom>
            <a:avLst/>
            <a:gdLst/>
            <a:ahLst/>
            <a:cxnLst/>
            <a:rect l="l" t="t" r="r" b="b"/>
            <a:pathLst>
              <a:path w="9326934" h="5951139">
                <a:moveTo>
                  <a:pt x="0" y="0"/>
                </a:moveTo>
                <a:lnTo>
                  <a:pt x="9326934" y="0"/>
                </a:lnTo>
                <a:lnTo>
                  <a:pt x="9326934" y="5951139"/>
                </a:lnTo>
                <a:lnTo>
                  <a:pt x="0" y="59511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82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0" y="1779878"/>
            <a:ext cx="16741520" cy="79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>
                <a:solidFill>
                  <a:srgbClr val="4AA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FIRST SUBMODULE : ADDER 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571750" y="1952625"/>
            <a:ext cx="11925300" cy="150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4AA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FIRST SUBMODULE : ADDER TREE</a:t>
            </a:r>
          </a:p>
          <a:p>
            <a:pPr algn="l">
              <a:lnSpc>
                <a:spcPts val="5600"/>
              </a:lnSpc>
            </a:pPr>
            <a:endParaRPr lang="en-US" sz="5600">
              <a:solidFill>
                <a:srgbClr val="4AA54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415982" y="4057650"/>
            <a:ext cx="4458335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Internal wires for each tree level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15982" y="4490085"/>
            <a:ext cx="3937635" cy="2493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Level 0 has m values of input data width bits</a:t>
            </a:r>
          </a:p>
          <a:p>
            <a:pPr marL="0" lvl="0" indent="0"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Level 1 has m/2 values of input data width+1 bits</a:t>
            </a:r>
          </a:p>
          <a:p>
            <a:pPr marL="0" lvl="0" indent="0"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………………….</a:t>
            </a:r>
          </a:p>
          <a:p>
            <a:pPr marL="0" lvl="0" indent="0"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Level L has 1 value of input data width+L bits, where L = log2(m)</a:t>
            </a:r>
          </a:p>
          <a:p>
            <a:pPr algn="l">
              <a:lnSpc>
                <a:spcPts val="2239"/>
              </a:lnSpc>
            </a:pPr>
            <a:endParaRPr lang="en-US" sz="15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239"/>
              </a:lnSpc>
            </a:pPr>
            <a:endParaRPr lang="en-US" sz="15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613582" y="4057650"/>
            <a:ext cx="4458335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PIPE parameter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13582" y="4490085"/>
            <a:ext cx="4204335" cy="304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Has a parameter PIPE to toggle between pipelined and combinational implementation.</a:t>
            </a:r>
          </a:p>
          <a:p>
            <a:pPr marL="0" lvl="0" indent="0"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PIPE = 1 : flip flops between the stages, </a:t>
            </a:r>
            <a:r>
              <a:rPr lang="en-US" sz="1599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increases latency</a:t>
            </a: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, </a:t>
            </a:r>
            <a:r>
              <a:rPr lang="en-US" sz="1599" b="1">
                <a:solidFill>
                  <a:srgbClr val="4AA547"/>
                </a:solidFill>
                <a:latin typeface="Poppins Bold"/>
                <a:ea typeface="Poppins Bold"/>
                <a:cs typeface="Poppins Bold"/>
                <a:sym typeface="Poppins Bold"/>
              </a:rPr>
              <a:t>shortens combinational logic path, higher clock frequency</a:t>
            </a: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PIPE = 0 : result in a single clock cycle, </a:t>
            </a:r>
            <a:r>
              <a:rPr lang="en-US" sz="1599" b="1">
                <a:solidFill>
                  <a:srgbClr val="4AA547"/>
                </a:solidFill>
                <a:latin typeface="Poppins Bold"/>
                <a:ea typeface="Poppins Bold"/>
                <a:cs typeface="Poppins Bold"/>
                <a:sym typeface="Poppins Bold"/>
              </a:rPr>
              <a:t>0 clock cycle latency</a:t>
            </a: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,</a:t>
            </a:r>
            <a:r>
              <a:rPr lang="en-US" sz="1599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 long critical path, slower clock frequency</a:t>
            </a: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algn="l">
              <a:lnSpc>
                <a:spcPts val="2239"/>
              </a:lnSpc>
            </a:pPr>
            <a:endParaRPr lang="en-US" sz="15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149532" y="7830820"/>
            <a:ext cx="6769735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Intermediate results stored in flat array per level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229061" y="2693697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774199" y="3007820"/>
            <a:ext cx="9908002" cy="5846161"/>
          </a:xfrm>
          <a:custGeom>
            <a:avLst/>
            <a:gdLst/>
            <a:ahLst/>
            <a:cxnLst/>
            <a:rect l="l" t="t" r="r" b="b"/>
            <a:pathLst>
              <a:path w="9908002" h="5846161">
                <a:moveTo>
                  <a:pt x="0" y="0"/>
                </a:moveTo>
                <a:lnTo>
                  <a:pt x="9908002" y="0"/>
                </a:lnTo>
                <a:lnTo>
                  <a:pt x="9908002" y="5846160"/>
                </a:lnTo>
                <a:lnTo>
                  <a:pt x="0" y="58461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0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0" y="1779878"/>
            <a:ext cx="16741520" cy="79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>
                <a:solidFill>
                  <a:srgbClr val="4AA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SECOND SUBMODULE : AXI READ MASTER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571750" y="1952625"/>
            <a:ext cx="13843000" cy="150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4AA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SECOND SUBMODULE : AXI READ MASTER</a:t>
            </a:r>
          </a:p>
          <a:p>
            <a:pPr algn="l">
              <a:lnSpc>
                <a:spcPts val="5600"/>
              </a:lnSpc>
            </a:pPr>
            <a:endParaRPr lang="en-US" sz="5600">
              <a:solidFill>
                <a:srgbClr val="4AA54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415982" y="4057650"/>
            <a:ext cx="4458335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Operation 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15982" y="4490085"/>
            <a:ext cx="3937635" cy="166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•Accepts a read request</a:t>
            </a:r>
          </a:p>
          <a:p>
            <a:pPr marL="0" lvl="0" indent="0"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•Issues AXI4 AR channel transactions</a:t>
            </a:r>
          </a:p>
          <a:p>
            <a:pPr marL="0" lvl="0" indent="0"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•Collects R channel data</a:t>
            </a:r>
          </a:p>
          <a:p>
            <a:pPr marL="0" lvl="0" indent="0"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•Result through output interface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•Handles one burst at a time</a:t>
            </a:r>
          </a:p>
          <a:p>
            <a:pPr algn="l">
              <a:lnSpc>
                <a:spcPts val="2239"/>
              </a:lnSpc>
            </a:pPr>
            <a:endParaRPr lang="en-US" sz="15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613582" y="4057650"/>
            <a:ext cx="4458335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Design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13582" y="4490085"/>
            <a:ext cx="4204335" cy="387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 interfaces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1. Internal request interface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2. AXI read address channel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3. AXI read data channel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FSM contains 3 states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1. Idle state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Master waits to work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Both AXI channels inactive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2. Address read state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Holds address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Holds control signals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3. Data read state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Data words flow through FSM to 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response interface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229061" y="2693697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183944" y="2980674"/>
            <a:ext cx="8250312" cy="5544853"/>
          </a:xfrm>
          <a:custGeom>
            <a:avLst/>
            <a:gdLst/>
            <a:ahLst/>
            <a:cxnLst/>
            <a:rect l="l" t="t" r="r" b="b"/>
            <a:pathLst>
              <a:path w="8250312" h="5544853">
                <a:moveTo>
                  <a:pt x="0" y="0"/>
                </a:moveTo>
                <a:lnTo>
                  <a:pt x="8250312" y="0"/>
                </a:lnTo>
                <a:lnTo>
                  <a:pt x="8250312" y="5544852"/>
                </a:lnTo>
                <a:lnTo>
                  <a:pt x="0" y="55448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73240" y="1767178"/>
            <a:ext cx="16741520" cy="79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>
                <a:solidFill>
                  <a:srgbClr val="4AA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THIRD SUBMODULE : WIDE-WORD BRAM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571750" y="1952625"/>
            <a:ext cx="13843000" cy="79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4AA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THIRD SUBMODULE : WIDE-WORD BRAM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15982" y="4057650"/>
            <a:ext cx="4458335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Operation 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15982" y="4490085"/>
            <a:ext cx="4458335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•Stores one tile per address.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•Allows reading/writing 1xm tile in 1 cycle</a:t>
            </a:r>
          </a:p>
          <a:p>
            <a:pPr algn="l">
              <a:lnSpc>
                <a:spcPts val="2239"/>
              </a:lnSpc>
            </a:pPr>
            <a:endParaRPr lang="en-US" sz="15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613582" y="4057650"/>
            <a:ext cx="4458335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Design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13582" y="4490085"/>
            <a:ext cx="4204335" cy="194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Write enable=1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Data  written in specified address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Read enable=1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Data read from specified address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Synthesis directive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* ram_style = "block" *  used for 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in- built bram utilization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229061" y="2693697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073804" y="2885835"/>
            <a:ext cx="10419792" cy="6547330"/>
          </a:xfrm>
          <a:custGeom>
            <a:avLst/>
            <a:gdLst/>
            <a:ahLst/>
            <a:cxnLst/>
            <a:rect l="l" t="t" r="r" b="b"/>
            <a:pathLst>
              <a:path w="10419792" h="6547330">
                <a:moveTo>
                  <a:pt x="0" y="0"/>
                </a:moveTo>
                <a:lnTo>
                  <a:pt x="10419792" y="0"/>
                </a:lnTo>
                <a:lnTo>
                  <a:pt x="10419792" y="6547330"/>
                </a:lnTo>
                <a:lnTo>
                  <a:pt x="0" y="6547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73240" y="1767178"/>
            <a:ext cx="16741520" cy="79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>
                <a:solidFill>
                  <a:srgbClr val="4AA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STAGE 1 : FETCH AND ADDRESS GENERATION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654713" y="1180519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571750" y="381054"/>
            <a:ext cx="13843000" cy="79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4AA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FETCH AND ADDRESS GENERATION FSM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18504" y="1961169"/>
            <a:ext cx="4458335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Idle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18504" y="2393604"/>
            <a:ext cx="4458335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Preset signals for first input request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76839" y="1961169"/>
            <a:ext cx="4458335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Request input tile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76839" y="2393604"/>
            <a:ext cx="4204335" cy="111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Axi request valid is set to 1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If axi request ready=1 then axi request valid is reset</a:t>
            </a:r>
          </a:p>
          <a:p>
            <a:pPr algn="l">
              <a:lnSpc>
                <a:spcPts val="2239"/>
              </a:lnSpc>
            </a:pPr>
            <a:endParaRPr lang="en-US" sz="15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4821086" y="2112056"/>
            <a:ext cx="2984315" cy="130660"/>
            <a:chOff x="0" y="0"/>
            <a:chExt cx="1618811" cy="708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18811" cy="70875"/>
            </a:xfrm>
            <a:custGeom>
              <a:avLst/>
              <a:gdLst/>
              <a:ahLst/>
              <a:cxnLst/>
              <a:rect l="l" t="t" r="r" b="b"/>
              <a:pathLst>
                <a:path w="1618811" h="70875">
                  <a:moveTo>
                    <a:pt x="1415611" y="0"/>
                  </a:moveTo>
                  <a:lnTo>
                    <a:pt x="0" y="0"/>
                  </a:lnTo>
                  <a:lnTo>
                    <a:pt x="0" y="70875"/>
                  </a:lnTo>
                  <a:lnTo>
                    <a:pt x="1415611" y="70875"/>
                  </a:lnTo>
                  <a:lnTo>
                    <a:pt x="1618811" y="35438"/>
                  </a:lnTo>
                  <a:lnTo>
                    <a:pt x="1415611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504511" cy="11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021861" y="2112056"/>
            <a:ext cx="2984315" cy="130660"/>
            <a:chOff x="0" y="0"/>
            <a:chExt cx="1618811" cy="708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18811" cy="70875"/>
            </a:xfrm>
            <a:custGeom>
              <a:avLst/>
              <a:gdLst/>
              <a:ahLst/>
              <a:cxnLst/>
              <a:rect l="l" t="t" r="r" b="b"/>
              <a:pathLst>
                <a:path w="1618811" h="70875">
                  <a:moveTo>
                    <a:pt x="1415611" y="0"/>
                  </a:moveTo>
                  <a:lnTo>
                    <a:pt x="0" y="0"/>
                  </a:lnTo>
                  <a:lnTo>
                    <a:pt x="0" y="70875"/>
                  </a:lnTo>
                  <a:lnTo>
                    <a:pt x="1415611" y="70875"/>
                  </a:lnTo>
                  <a:lnTo>
                    <a:pt x="1618811" y="35438"/>
                  </a:lnTo>
                  <a:lnTo>
                    <a:pt x="1415611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504511" cy="11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044276" y="2315981"/>
            <a:ext cx="4128135" cy="1103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179" lvl="1" indent="-169590" algn="l">
              <a:lnSpc>
                <a:spcPts val="2199"/>
              </a:lnSpc>
              <a:buFont typeface="Arial"/>
              <a:buChar char="•"/>
            </a:pPr>
            <a:r>
              <a:rPr lang="en-US" sz="15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If axi response is valid then axi response data is stored in input tile buffer till axi response last is set.</a:t>
            </a:r>
          </a:p>
          <a:p>
            <a:pPr algn="l">
              <a:lnSpc>
                <a:spcPts val="2199"/>
              </a:lnSpc>
            </a:pPr>
            <a:endParaRPr lang="en-US" sz="1571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149051" y="1942119"/>
            <a:ext cx="4458335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Request input tile wait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149051" y="5049496"/>
            <a:ext cx="4128135" cy="1103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179" lvl="1" indent="-169590" algn="l">
              <a:lnSpc>
                <a:spcPts val="2199"/>
              </a:lnSpc>
              <a:buFont typeface="Arial"/>
              <a:buChar char="•"/>
            </a:pPr>
            <a:r>
              <a:rPr lang="en-US" sz="15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Axi request valid is set to 1</a:t>
            </a:r>
          </a:p>
          <a:p>
            <a:pPr marL="339179" lvl="1" indent="-169590" algn="l">
              <a:lnSpc>
                <a:spcPts val="2199"/>
              </a:lnSpc>
              <a:buFont typeface="Arial"/>
              <a:buChar char="•"/>
            </a:pPr>
            <a:r>
              <a:rPr lang="en-US" sz="15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If axi request is ready then reset axi request valid</a:t>
            </a:r>
          </a:p>
          <a:p>
            <a:pPr algn="l">
              <a:lnSpc>
                <a:spcPts val="2199"/>
              </a:lnSpc>
            </a:pPr>
            <a:endParaRPr lang="en-US" sz="1571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253826" y="4712311"/>
            <a:ext cx="4458335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Request up weight tile </a:t>
            </a:r>
          </a:p>
        </p:txBody>
      </p:sp>
      <p:grpSp>
        <p:nvGrpSpPr>
          <p:cNvPr id="18" name="Group 18"/>
          <p:cNvGrpSpPr/>
          <p:nvPr/>
        </p:nvGrpSpPr>
        <p:grpSpPr>
          <a:xfrm rot="5400000">
            <a:off x="15156806" y="3951852"/>
            <a:ext cx="1556167" cy="144154"/>
            <a:chOff x="0" y="0"/>
            <a:chExt cx="1618811" cy="14995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18811" cy="149957"/>
            </a:xfrm>
            <a:custGeom>
              <a:avLst/>
              <a:gdLst/>
              <a:ahLst/>
              <a:cxnLst/>
              <a:rect l="l" t="t" r="r" b="b"/>
              <a:pathLst>
                <a:path w="1618811" h="149957">
                  <a:moveTo>
                    <a:pt x="1415611" y="0"/>
                  </a:moveTo>
                  <a:lnTo>
                    <a:pt x="0" y="0"/>
                  </a:lnTo>
                  <a:lnTo>
                    <a:pt x="0" y="149957"/>
                  </a:lnTo>
                  <a:lnTo>
                    <a:pt x="1415611" y="149957"/>
                  </a:lnTo>
                  <a:lnTo>
                    <a:pt x="1618811" y="74979"/>
                  </a:lnTo>
                  <a:lnTo>
                    <a:pt x="1415611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504511" cy="1975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211695" y="4989580"/>
            <a:ext cx="4128135" cy="1103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179" lvl="1" indent="-169590" algn="l">
              <a:lnSpc>
                <a:spcPts val="2199"/>
              </a:lnSpc>
              <a:buFont typeface="Arial"/>
              <a:buChar char="•"/>
            </a:pPr>
            <a:r>
              <a:rPr lang="en-US" sz="15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If axi response valid is set then axi response data is stored weight tile buffer till axi response last</a:t>
            </a:r>
          </a:p>
          <a:p>
            <a:pPr algn="l">
              <a:lnSpc>
                <a:spcPts val="2199"/>
              </a:lnSpc>
            </a:pPr>
            <a:endParaRPr lang="en-US" sz="1571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211695" y="4553244"/>
            <a:ext cx="4458335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Request up weight tile wait </a:t>
            </a:r>
          </a:p>
        </p:txBody>
      </p:sp>
      <p:grpSp>
        <p:nvGrpSpPr>
          <p:cNvPr id="23" name="Group 23"/>
          <p:cNvGrpSpPr/>
          <p:nvPr/>
        </p:nvGrpSpPr>
        <p:grpSpPr>
          <a:xfrm rot="-10800000">
            <a:off x="11670030" y="5027680"/>
            <a:ext cx="2374246" cy="176982"/>
            <a:chOff x="0" y="0"/>
            <a:chExt cx="1618811" cy="12067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18811" cy="120670"/>
            </a:xfrm>
            <a:custGeom>
              <a:avLst/>
              <a:gdLst/>
              <a:ahLst/>
              <a:cxnLst/>
              <a:rect l="l" t="t" r="r" b="b"/>
              <a:pathLst>
                <a:path w="1618811" h="120670">
                  <a:moveTo>
                    <a:pt x="1415611" y="0"/>
                  </a:moveTo>
                  <a:lnTo>
                    <a:pt x="0" y="0"/>
                  </a:lnTo>
                  <a:lnTo>
                    <a:pt x="0" y="120670"/>
                  </a:lnTo>
                  <a:lnTo>
                    <a:pt x="1415611" y="120670"/>
                  </a:lnTo>
                  <a:lnTo>
                    <a:pt x="1618811" y="60335"/>
                  </a:lnTo>
                  <a:lnTo>
                    <a:pt x="1415611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504511" cy="168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74339" y="4665725"/>
            <a:ext cx="4128135" cy="1379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179" lvl="1" indent="-169590" algn="l">
              <a:lnSpc>
                <a:spcPts val="2199"/>
              </a:lnSpc>
              <a:buFont typeface="Arial"/>
              <a:buChar char="•"/>
            </a:pPr>
            <a:r>
              <a:rPr lang="en-US" sz="15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if up ready=1, send input tile and up projection tile from internal buffer to respective registers</a:t>
            </a:r>
          </a:p>
          <a:p>
            <a:pPr marL="339179" lvl="1" indent="-169590" algn="l">
              <a:lnSpc>
                <a:spcPts val="2199"/>
              </a:lnSpc>
              <a:buFont typeface="Arial"/>
              <a:buChar char="•"/>
            </a:pPr>
            <a:r>
              <a:rPr lang="en-US" sz="15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Advance counters and pre-set next request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74339" y="4229389"/>
            <a:ext cx="4458335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Send up pair to up projection</a:t>
            </a:r>
          </a:p>
        </p:txBody>
      </p:sp>
      <p:grpSp>
        <p:nvGrpSpPr>
          <p:cNvPr id="28" name="Group 28"/>
          <p:cNvGrpSpPr/>
          <p:nvPr/>
        </p:nvGrpSpPr>
        <p:grpSpPr>
          <a:xfrm rot="-10800000">
            <a:off x="4732674" y="4703825"/>
            <a:ext cx="2374246" cy="176982"/>
            <a:chOff x="0" y="0"/>
            <a:chExt cx="1618811" cy="12067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618811" cy="120670"/>
            </a:xfrm>
            <a:custGeom>
              <a:avLst/>
              <a:gdLst/>
              <a:ahLst/>
              <a:cxnLst/>
              <a:rect l="l" t="t" r="r" b="b"/>
              <a:pathLst>
                <a:path w="1618811" h="120670">
                  <a:moveTo>
                    <a:pt x="1415611" y="0"/>
                  </a:moveTo>
                  <a:lnTo>
                    <a:pt x="0" y="0"/>
                  </a:lnTo>
                  <a:lnTo>
                    <a:pt x="0" y="120670"/>
                  </a:lnTo>
                  <a:lnTo>
                    <a:pt x="1415611" y="120670"/>
                  </a:lnTo>
                  <a:lnTo>
                    <a:pt x="1618811" y="60335"/>
                  </a:lnTo>
                  <a:lnTo>
                    <a:pt x="1415611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1504511" cy="168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 rot="5400000">
            <a:off x="1111986" y="6287718"/>
            <a:ext cx="951782" cy="183063"/>
            <a:chOff x="0" y="0"/>
            <a:chExt cx="1618811" cy="31135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618811" cy="311357"/>
            </a:xfrm>
            <a:custGeom>
              <a:avLst/>
              <a:gdLst/>
              <a:ahLst/>
              <a:cxnLst/>
              <a:rect l="l" t="t" r="r" b="b"/>
              <a:pathLst>
                <a:path w="1618811" h="311357">
                  <a:moveTo>
                    <a:pt x="1415611" y="0"/>
                  </a:moveTo>
                  <a:lnTo>
                    <a:pt x="0" y="0"/>
                  </a:lnTo>
                  <a:lnTo>
                    <a:pt x="0" y="311357"/>
                  </a:lnTo>
                  <a:lnTo>
                    <a:pt x="1415611" y="311357"/>
                  </a:lnTo>
                  <a:lnTo>
                    <a:pt x="1618811" y="155678"/>
                  </a:lnTo>
                  <a:lnTo>
                    <a:pt x="1415611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1504511" cy="358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89758" y="6781106"/>
            <a:ext cx="4458335" cy="746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Read ReLU tile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from local BRAM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2562225" y="6898362"/>
            <a:ext cx="1960564" cy="197924"/>
            <a:chOff x="0" y="0"/>
            <a:chExt cx="1618811" cy="16342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618811" cy="163423"/>
            </a:xfrm>
            <a:custGeom>
              <a:avLst/>
              <a:gdLst/>
              <a:ahLst/>
              <a:cxnLst/>
              <a:rect l="l" t="t" r="r" b="b"/>
              <a:pathLst>
                <a:path w="1618811" h="163423">
                  <a:moveTo>
                    <a:pt x="1415611" y="0"/>
                  </a:moveTo>
                  <a:lnTo>
                    <a:pt x="0" y="0"/>
                  </a:lnTo>
                  <a:lnTo>
                    <a:pt x="0" y="163423"/>
                  </a:lnTo>
                  <a:lnTo>
                    <a:pt x="1415611" y="163423"/>
                  </a:lnTo>
                  <a:lnTo>
                    <a:pt x="1618811" y="81712"/>
                  </a:lnTo>
                  <a:lnTo>
                    <a:pt x="1415611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1504511" cy="211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4622634" y="6781106"/>
            <a:ext cx="4458335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Down relay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285250" y="7213541"/>
            <a:ext cx="4128135" cy="550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179" lvl="1" indent="-169590" algn="l">
              <a:lnSpc>
                <a:spcPts val="2199"/>
              </a:lnSpc>
              <a:buFont typeface="Arial"/>
              <a:buChar char="•"/>
            </a:pPr>
            <a:r>
              <a:rPr lang="en-US" sz="15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wait 1 cycle for bram read to be complete. 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7977702" y="6886671"/>
            <a:ext cx="1960564" cy="197924"/>
            <a:chOff x="0" y="0"/>
            <a:chExt cx="1618811" cy="16342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618811" cy="163423"/>
            </a:xfrm>
            <a:custGeom>
              <a:avLst/>
              <a:gdLst/>
              <a:ahLst/>
              <a:cxnLst/>
              <a:rect l="l" t="t" r="r" b="b"/>
              <a:pathLst>
                <a:path w="1618811" h="163423">
                  <a:moveTo>
                    <a:pt x="1415611" y="0"/>
                  </a:moveTo>
                  <a:lnTo>
                    <a:pt x="0" y="0"/>
                  </a:lnTo>
                  <a:lnTo>
                    <a:pt x="0" y="163423"/>
                  </a:lnTo>
                  <a:lnTo>
                    <a:pt x="1415611" y="163423"/>
                  </a:lnTo>
                  <a:lnTo>
                    <a:pt x="1618811" y="81712"/>
                  </a:lnTo>
                  <a:lnTo>
                    <a:pt x="1415611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1504511" cy="211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0038110" y="6769416"/>
            <a:ext cx="4458335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Wait relu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822313" y="7144701"/>
            <a:ext cx="4128135" cy="550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179" lvl="1" indent="-169590" algn="l">
              <a:lnSpc>
                <a:spcPts val="2199"/>
              </a:lnSpc>
              <a:buFont typeface="Arial"/>
              <a:buChar char="•"/>
            </a:pPr>
            <a:r>
              <a:rPr lang="en-US" sz="15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relu output is present in </a:t>
            </a:r>
          </a:p>
          <a:p>
            <a:pPr algn="l">
              <a:lnSpc>
                <a:spcPts val="2199"/>
              </a:lnSpc>
            </a:pPr>
            <a:r>
              <a:rPr lang="en-US" sz="15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relu tile buffer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2535882" y="6898362"/>
            <a:ext cx="1960564" cy="197924"/>
            <a:chOff x="0" y="0"/>
            <a:chExt cx="1618811" cy="16342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618811" cy="163423"/>
            </a:xfrm>
            <a:custGeom>
              <a:avLst/>
              <a:gdLst/>
              <a:ahLst/>
              <a:cxnLst/>
              <a:rect l="l" t="t" r="r" b="b"/>
              <a:pathLst>
                <a:path w="1618811" h="163423">
                  <a:moveTo>
                    <a:pt x="1415611" y="0"/>
                  </a:moveTo>
                  <a:lnTo>
                    <a:pt x="0" y="0"/>
                  </a:lnTo>
                  <a:lnTo>
                    <a:pt x="0" y="163423"/>
                  </a:lnTo>
                  <a:lnTo>
                    <a:pt x="1415611" y="163423"/>
                  </a:lnTo>
                  <a:lnTo>
                    <a:pt x="1618811" y="81712"/>
                  </a:lnTo>
                  <a:lnTo>
                    <a:pt x="1415611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1504511" cy="211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4591695" y="7106601"/>
            <a:ext cx="3432958" cy="1033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6926" lvl="1" indent="-158463" algn="l">
              <a:lnSpc>
                <a:spcPts val="2055"/>
              </a:lnSpc>
              <a:buFont typeface="Arial"/>
              <a:buChar char="•"/>
            </a:pPr>
            <a:r>
              <a:rPr lang="en-US" sz="146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Axi request valid is set to 1</a:t>
            </a:r>
          </a:p>
          <a:p>
            <a:pPr marL="316926" lvl="1" indent="-158463" algn="l">
              <a:lnSpc>
                <a:spcPts val="2055"/>
              </a:lnSpc>
              <a:buFont typeface="Arial"/>
              <a:buChar char="•"/>
            </a:pPr>
            <a:r>
              <a:rPr lang="en-US" sz="146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If axi request is ready then reset axi request valid</a:t>
            </a:r>
          </a:p>
          <a:p>
            <a:pPr algn="l">
              <a:lnSpc>
                <a:spcPts val="2055"/>
              </a:lnSpc>
            </a:pPr>
            <a:endParaRPr lang="en-US" sz="1467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4591695" y="6730183"/>
            <a:ext cx="3707553" cy="354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7"/>
              </a:lnSpc>
            </a:pPr>
            <a:r>
              <a:rPr lang="en-US" sz="19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Request up weight tile </a:t>
            </a:r>
          </a:p>
        </p:txBody>
      </p:sp>
      <p:grpSp>
        <p:nvGrpSpPr>
          <p:cNvPr id="50" name="Group 50"/>
          <p:cNvGrpSpPr/>
          <p:nvPr/>
        </p:nvGrpSpPr>
        <p:grpSpPr>
          <a:xfrm rot="5400000">
            <a:off x="15531076" y="8392880"/>
            <a:ext cx="951782" cy="183063"/>
            <a:chOff x="0" y="0"/>
            <a:chExt cx="1618811" cy="311357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618811" cy="311357"/>
            </a:xfrm>
            <a:custGeom>
              <a:avLst/>
              <a:gdLst/>
              <a:ahLst/>
              <a:cxnLst/>
              <a:rect l="l" t="t" r="r" b="b"/>
              <a:pathLst>
                <a:path w="1618811" h="311357">
                  <a:moveTo>
                    <a:pt x="1415611" y="0"/>
                  </a:moveTo>
                  <a:lnTo>
                    <a:pt x="0" y="0"/>
                  </a:lnTo>
                  <a:lnTo>
                    <a:pt x="0" y="311357"/>
                  </a:lnTo>
                  <a:lnTo>
                    <a:pt x="1415611" y="311357"/>
                  </a:lnTo>
                  <a:lnTo>
                    <a:pt x="1618811" y="155678"/>
                  </a:lnTo>
                  <a:lnTo>
                    <a:pt x="1415611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1504511" cy="358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1548632" y="9001570"/>
            <a:ext cx="4128135" cy="1103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179" lvl="1" indent="-169590" algn="l">
              <a:lnSpc>
                <a:spcPts val="2199"/>
              </a:lnSpc>
              <a:buFont typeface="Arial"/>
              <a:buChar char="•"/>
            </a:pPr>
            <a:r>
              <a:rPr lang="en-US" sz="15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If axi response valid is set then axi response data is stored weight tile buffer till axi response last</a:t>
            </a:r>
          </a:p>
          <a:p>
            <a:pPr algn="l">
              <a:lnSpc>
                <a:spcPts val="2199"/>
              </a:lnSpc>
            </a:pPr>
            <a:endParaRPr lang="en-US" sz="1571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1548632" y="8565233"/>
            <a:ext cx="4458335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Request down weight tile wait </a:t>
            </a:r>
          </a:p>
        </p:txBody>
      </p:sp>
      <p:grpSp>
        <p:nvGrpSpPr>
          <p:cNvPr id="55" name="Group 55"/>
          <p:cNvGrpSpPr/>
          <p:nvPr/>
        </p:nvGrpSpPr>
        <p:grpSpPr>
          <a:xfrm rot="-10800000">
            <a:off x="8850987" y="8871811"/>
            <a:ext cx="2374246" cy="176982"/>
            <a:chOff x="0" y="0"/>
            <a:chExt cx="1618811" cy="12067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618811" cy="120670"/>
            </a:xfrm>
            <a:custGeom>
              <a:avLst/>
              <a:gdLst/>
              <a:ahLst/>
              <a:cxnLst/>
              <a:rect l="l" t="t" r="r" b="b"/>
              <a:pathLst>
                <a:path w="1618811" h="120670">
                  <a:moveTo>
                    <a:pt x="1415611" y="0"/>
                  </a:moveTo>
                  <a:lnTo>
                    <a:pt x="0" y="0"/>
                  </a:lnTo>
                  <a:lnTo>
                    <a:pt x="0" y="120670"/>
                  </a:lnTo>
                  <a:lnTo>
                    <a:pt x="1415611" y="120670"/>
                  </a:lnTo>
                  <a:lnTo>
                    <a:pt x="1618811" y="60335"/>
                  </a:lnTo>
                  <a:lnTo>
                    <a:pt x="1415611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47625"/>
              <a:ext cx="1504511" cy="168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4622634" y="8562475"/>
            <a:ext cx="4128135" cy="1379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179" lvl="1" indent="-169590" algn="l">
              <a:lnSpc>
                <a:spcPts val="2199"/>
              </a:lnSpc>
              <a:buFont typeface="Arial"/>
              <a:buChar char="•"/>
            </a:pPr>
            <a:r>
              <a:rPr lang="en-US" sz="15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if down ready=1, send input tile and up projection tile from internal buffer to respective registers</a:t>
            </a:r>
          </a:p>
          <a:p>
            <a:pPr marL="339179" lvl="1" indent="-169590" algn="l">
              <a:lnSpc>
                <a:spcPts val="2199"/>
              </a:lnSpc>
              <a:buFont typeface="Arial"/>
              <a:buChar char="•"/>
            </a:pPr>
            <a:r>
              <a:rPr lang="en-US" sz="15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Advance counters and pre-set next request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622634" y="8126138"/>
            <a:ext cx="4458335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Send down pair to up projection</a:t>
            </a:r>
          </a:p>
        </p:txBody>
      </p:sp>
      <p:grpSp>
        <p:nvGrpSpPr>
          <p:cNvPr id="60" name="Group 60"/>
          <p:cNvGrpSpPr/>
          <p:nvPr/>
        </p:nvGrpSpPr>
        <p:grpSpPr>
          <a:xfrm rot="-10800000">
            <a:off x="2819678" y="8706325"/>
            <a:ext cx="1698180" cy="210849"/>
            <a:chOff x="0" y="0"/>
            <a:chExt cx="1618811" cy="20099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618811" cy="200994"/>
            </a:xfrm>
            <a:custGeom>
              <a:avLst/>
              <a:gdLst/>
              <a:ahLst/>
              <a:cxnLst/>
              <a:rect l="l" t="t" r="r" b="b"/>
              <a:pathLst>
                <a:path w="1618811" h="200994">
                  <a:moveTo>
                    <a:pt x="1415611" y="0"/>
                  </a:moveTo>
                  <a:lnTo>
                    <a:pt x="0" y="0"/>
                  </a:lnTo>
                  <a:lnTo>
                    <a:pt x="0" y="200994"/>
                  </a:lnTo>
                  <a:lnTo>
                    <a:pt x="1415611" y="200994"/>
                  </a:lnTo>
                  <a:lnTo>
                    <a:pt x="1618811" y="100497"/>
                  </a:lnTo>
                  <a:lnTo>
                    <a:pt x="1415611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47625"/>
              <a:ext cx="1504511" cy="2486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289758" y="8565233"/>
            <a:ext cx="222149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Done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96678" y="9028768"/>
            <a:ext cx="4128135" cy="550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179" lvl="1" indent="-169590" algn="l">
              <a:lnSpc>
                <a:spcPts val="2199"/>
              </a:lnSpc>
              <a:buFont typeface="Arial"/>
              <a:buChar char="•"/>
            </a:pPr>
            <a:r>
              <a:rPr lang="en-US" sz="15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Set done=1</a:t>
            </a:r>
          </a:p>
          <a:p>
            <a:pPr marL="339179" lvl="1" indent="-169590" algn="l">
              <a:lnSpc>
                <a:spcPts val="2199"/>
              </a:lnSpc>
              <a:buFont typeface="Arial"/>
              <a:buChar char="•"/>
            </a:pPr>
            <a:r>
              <a:rPr lang="en-US" sz="15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Move to Idle state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229061" y="2693697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769693" y="3090666"/>
            <a:ext cx="13084230" cy="5722729"/>
          </a:xfrm>
          <a:custGeom>
            <a:avLst/>
            <a:gdLst/>
            <a:ahLst/>
            <a:cxnLst/>
            <a:rect l="l" t="t" r="r" b="b"/>
            <a:pathLst>
              <a:path w="13084230" h="5722729">
                <a:moveTo>
                  <a:pt x="0" y="0"/>
                </a:moveTo>
                <a:lnTo>
                  <a:pt x="13084230" y="0"/>
                </a:lnTo>
                <a:lnTo>
                  <a:pt x="13084230" y="5722729"/>
                </a:lnTo>
                <a:lnTo>
                  <a:pt x="0" y="57227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4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73240" y="1767178"/>
            <a:ext cx="16741520" cy="79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>
                <a:solidFill>
                  <a:srgbClr val="4AA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STAGE 2 &amp; 4 : UP AND DOWN PROJECTION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229061" y="2693697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196900" y="3110205"/>
            <a:ext cx="11894200" cy="6148095"/>
          </a:xfrm>
          <a:custGeom>
            <a:avLst/>
            <a:gdLst/>
            <a:ahLst/>
            <a:cxnLst/>
            <a:rect l="l" t="t" r="r" b="b"/>
            <a:pathLst>
              <a:path w="11894200" h="6148095">
                <a:moveTo>
                  <a:pt x="0" y="0"/>
                </a:moveTo>
                <a:lnTo>
                  <a:pt x="11894200" y="0"/>
                </a:lnTo>
                <a:lnTo>
                  <a:pt x="11894200" y="6148095"/>
                </a:lnTo>
                <a:lnTo>
                  <a:pt x="0" y="6148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680152" y="1894232"/>
            <a:ext cx="6078069" cy="79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>
                <a:solidFill>
                  <a:srgbClr val="4AA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STAGE 3 : RELU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229061" y="2693697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475238" y="3249243"/>
            <a:ext cx="9093440" cy="6168339"/>
          </a:xfrm>
          <a:custGeom>
            <a:avLst/>
            <a:gdLst/>
            <a:ahLst/>
            <a:cxnLst/>
            <a:rect l="l" t="t" r="r" b="b"/>
            <a:pathLst>
              <a:path w="9093440" h="6168339">
                <a:moveTo>
                  <a:pt x="0" y="0"/>
                </a:moveTo>
                <a:lnTo>
                  <a:pt x="9093439" y="0"/>
                </a:lnTo>
                <a:lnTo>
                  <a:pt x="9093439" y="6168340"/>
                </a:lnTo>
                <a:lnTo>
                  <a:pt x="0" y="6168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57980" y="1894232"/>
            <a:ext cx="12210697" cy="79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>
                <a:solidFill>
                  <a:srgbClr val="4AA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STAGE 5 : ACCUMULATION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34134" y="5018036"/>
            <a:ext cx="989606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Start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823740" y="5217074"/>
            <a:ext cx="1831264" cy="82510"/>
            <a:chOff x="0" y="0"/>
            <a:chExt cx="359324" cy="161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9324" cy="16190"/>
            </a:xfrm>
            <a:custGeom>
              <a:avLst/>
              <a:gdLst/>
              <a:ahLst/>
              <a:cxnLst/>
              <a:rect l="l" t="t" r="r" b="b"/>
              <a:pathLst>
                <a:path w="359324" h="16190">
                  <a:moveTo>
                    <a:pt x="156124" y="0"/>
                  </a:moveTo>
                  <a:lnTo>
                    <a:pt x="0" y="0"/>
                  </a:lnTo>
                  <a:lnTo>
                    <a:pt x="0" y="16190"/>
                  </a:lnTo>
                  <a:lnTo>
                    <a:pt x="156124" y="16190"/>
                  </a:lnTo>
                  <a:lnTo>
                    <a:pt x="359324" y="8095"/>
                  </a:lnTo>
                  <a:lnTo>
                    <a:pt x="156124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5024" cy="6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770088" y="3944357"/>
            <a:ext cx="1585574" cy="1861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Write path: accept result tile from down projection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23740" y="3585476"/>
            <a:ext cx="1585574" cy="148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input is valid and accumulator is ready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112227" y="1257071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831730" y="1433740"/>
            <a:ext cx="6251039" cy="2717118"/>
          </a:xfrm>
          <a:custGeom>
            <a:avLst/>
            <a:gdLst/>
            <a:ahLst/>
            <a:cxnLst/>
            <a:rect l="l" t="t" r="r" b="b"/>
            <a:pathLst>
              <a:path w="6251039" h="2717118">
                <a:moveTo>
                  <a:pt x="0" y="0"/>
                </a:moveTo>
                <a:lnTo>
                  <a:pt x="6251039" y="0"/>
                </a:lnTo>
                <a:lnTo>
                  <a:pt x="6251039" y="2717118"/>
                </a:lnTo>
                <a:lnTo>
                  <a:pt x="0" y="2717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224603" y="1433740"/>
            <a:ext cx="4814164" cy="7472731"/>
          </a:xfrm>
          <a:custGeom>
            <a:avLst/>
            <a:gdLst/>
            <a:ahLst/>
            <a:cxnLst/>
            <a:rect l="l" t="t" r="r" b="b"/>
            <a:pathLst>
              <a:path w="4814164" h="7472731">
                <a:moveTo>
                  <a:pt x="0" y="0"/>
                </a:moveTo>
                <a:lnTo>
                  <a:pt x="4814163" y="0"/>
                </a:lnTo>
                <a:lnTo>
                  <a:pt x="4814163" y="7472731"/>
                </a:lnTo>
                <a:lnTo>
                  <a:pt x="0" y="74727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180600" y="1433740"/>
            <a:ext cx="4564082" cy="7800432"/>
          </a:xfrm>
          <a:custGeom>
            <a:avLst/>
            <a:gdLst/>
            <a:ahLst/>
            <a:cxnLst/>
            <a:rect l="l" t="t" r="r" b="b"/>
            <a:pathLst>
              <a:path w="4564082" h="7800432">
                <a:moveTo>
                  <a:pt x="0" y="0"/>
                </a:moveTo>
                <a:lnTo>
                  <a:pt x="4564083" y="0"/>
                </a:lnTo>
                <a:lnTo>
                  <a:pt x="4564083" y="7800432"/>
                </a:lnTo>
                <a:lnTo>
                  <a:pt x="0" y="7800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007304" y="457606"/>
            <a:ext cx="7995475" cy="79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4AA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TESTBENCH OUTPUT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35981" y="4341358"/>
            <a:ext cx="3617206" cy="685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6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INPUT AND OUTPUT FROM GOLDEN MODEL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45048" y="9443722"/>
            <a:ext cx="8559921" cy="36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6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INPUT AND OUTPUT FROM DIFFERENT ITERATIONS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112227" y="1257071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53175" y="2304585"/>
            <a:ext cx="6508874" cy="5136396"/>
          </a:xfrm>
          <a:custGeom>
            <a:avLst/>
            <a:gdLst/>
            <a:ahLst/>
            <a:cxnLst/>
            <a:rect l="l" t="t" r="r" b="b"/>
            <a:pathLst>
              <a:path w="6508874" h="5136396">
                <a:moveTo>
                  <a:pt x="0" y="0"/>
                </a:moveTo>
                <a:lnTo>
                  <a:pt x="6508874" y="0"/>
                </a:lnTo>
                <a:lnTo>
                  <a:pt x="6508874" y="5136396"/>
                </a:lnTo>
                <a:lnTo>
                  <a:pt x="0" y="5136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247750" y="2135040"/>
            <a:ext cx="8352777" cy="5493082"/>
          </a:xfrm>
          <a:custGeom>
            <a:avLst/>
            <a:gdLst/>
            <a:ahLst/>
            <a:cxnLst/>
            <a:rect l="l" t="t" r="r" b="b"/>
            <a:pathLst>
              <a:path w="8352777" h="5493082">
                <a:moveTo>
                  <a:pt x="0" y="0"/>
                </a:moveTo>
                <a:lnTo>
                  <a:pt x="8352776" y="0"/>
                </a:lnTo>
                <a:lnTo>
                  <a:pt x="8352776" y="5493082"/>
                </a:lnTo>
                <a:lnTo>
                  <a:pt x="0" y="54930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007304" y="457606"/>
            <a:ext cx="7995475" cy="79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4AA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TESTBENCH OUTPUT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37724" y="7821966"/>
            <a:ext cx="10527854" cy="36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6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OUTPUT COMPARISON BETWEEN HARDWARE AND GOLDEN MODEL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3194049"/>
            <a:ext cx="18288000" cy="3943350"/>
          </a:xfrm>
          <a:custGeom>
            <a:avLst/>
            <a:gdLst/>
            <a:ahLst/>
            <a:cxnLst/>
            <a:rect l="l" t="t" r="r" b="b"/>
            <a:pathLst>
              <a:path w="18288000" h="3943350">
                <a:moveTo>
                  <a:pt x="0" y="0"/>
                </a:moveTo>
                <a:lnTo>
                  <a:pt x="18288000" y="0"/>
                </a:lnTo>
                <a:lnTo>
                  <a:pt x="18288000" y="3943350"/>
                </a:lnTo>
                <a:lnTo>
                  <a:pt x="0" y="3943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571750" y="1952625"/>
            <a:ext cx="5905500" cy="79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4AA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TIMING DIAGRAM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679678" y="6070215"/>
            <a:ext cx="2115940" cy="295974"/>
            <a:chOff x="0" y="0"/>
            <a:chExt cx="812800" cy="1136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13693"/>
            </a:xfrm>
            <a:custGeom>
              <a:avLst/>
              <a:gdLst/>
              <a:ahLst/>
              <a:cxnLst/>
              <a:rect l="l" t="t" r="r" b="b"/>
              <a:pathLst>
                <a:path w="812800" h="113693">
                  <a:moveTo>
                    <a:pt x="406400" y="0"/>
                  </a:moveTo>
                  <a:cubicBezTo>
                    <a:pt x="181951" y="0"/>
                    <a:pt x="0" y="25451"/>
                    <a:pt x="0" y="56847"/>
                  </a:cubicBezTo>
                  <a:cubicBezTo>
                    <a:pt x="0" y="88242"/>
                    <a:pt x="181951" y="113693"/>
                    <a:pt x="406400" y="113693"/>
                  </a:cubicBezTo>
                  <a:cubicBezTo>
                    <a:pt x="630849" y="113693"/>
                    <a:pt x="812800" y="88242"/>
                    <a:pt x="812800" y="56847"/>
                  </a:cubicBezTo>
                  <a:cubicBezTo>
                    <a:pt x="812800" y="254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>
                <a:alpha val="37647"/>
              </a:srgbClr>
            </a:solidFill>
            <a:ln w="38100" cap="sq">
              <a:solidFill>
                <a:srgbClr val="FCFEFD">
                  <a:alpha val="37647"/>
                </a:srgbClr>
              </a:solidFill>
              <a:prstDash val="sysDot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-36966"/>
              <a:ext cx="660400" cy="140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8477250" y="6366189"/>
            <a:ext cx="6260398" cy="1683279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904254" y="7944008"/>
            <a:ext cx="1572996" cy="498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RESULT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571750" y="3059195"/>
            <a:ext cx="6749733" cy="2447337"/>
          </a:xfrm>
          <a:custGeom>
            <a:avLst/>
            <a:gdLst/>
            <a:ahLst/>
            <a:cxnLst/>
            <a:rect l="l" t="t" r="r" b="b"/>
            <a:pathLst>
              <a:path w="6749733" h="2447337">
                <a:moveTo>
                  <a:pt x="0" y="0"/>
                </a:moveTo>
                <a:lnTo>
                  <a:pt x="6749733" y="0"/>
                </a:lnTo>
                <a:lnTo>
                  <a:pt x="6749733" y="2447337"/>
                </a:lnTo>
                <a:lnTo>
                  <a:pt x="0" y="2447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046845" y="3059195"/>
            <a:ext cx="6749733" cy="1557484"/>
          </a:xfrm>
          <a:custGeom>
            <a:avLst/>
            <a:gdLst/>
            <a:ahLst/>
            <a:cxnLst/>
            <a:rect l="l" t="t" r="r" b="b"/>
            <a:pathLst>
              <a:path w="6749733" h="1557484">
                <a:moveTo>
                  <a:pt x="0" y="0"/>
                </a:moveTo>
                <a:lnTo>
                  <a:pt x="6749733" y="0"/>
                </a:lnTo>
                <a:lnTo>
                  <a:pt x="6749733" y="1557484"/>
                </a:lnTo>
                <a:lnTo>
                  <a:pt x="0" y="1557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23" b="-142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571750" y="5923222"/>
            <a:ext cx="6749733" cy="1210830"/>
          </a:xfrm>
          <a:custGeom>
            <a:avLst/>
            <a:gdLst/>
            <a:ahLst/>
            <a:cxnLst/>
            <a:rect l="l" t="t" r="r" b="b"/>
            <a:pathLst>
              <a:path w="6749733" h="1210830">
                <a:moveTo>
                  <a:pt x="0" y="0"/>
                </a:moveTo>
                <a:lnTo>
                  <a:pt x="6749733" y="0"/>
                </a:lnTo>
                <a:lnTo>
                  <a:pt x="6749733" y="1210830"/>
                </a:lnTo>
                <a:lnTo>
                  <a:pt x="0" y="1210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046845" y="6466496"/>
            <a:ext cx="6749733" cy="667556"/>
          </a:xfrm>
          <a:custGeom>
            <a:avLst/>
            <a:gdLst/>
            <a:ahLst/>
            <a:cxnLst/>
            <a:rect l="l" t="t" r="r" b="b"/>
            <a:pathLst>
              <a:path w="6749733" h="667556">
                <a:moveTo>
                  <a:pt x="0" y="0"/>
                </a:moveTo>
                <a:lnTo>
                  <a:pt x="6749733" y="0"/>
                </a:lnTo>
                <a:lnTo>
                  <a:pt x="6749733" y="667556"/>
                </a:lnTo>
                <a:lnTo>
                  <a:pt x="0" y="6675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046845" y="5143500"/>
            <a:ext cx="6749733" cy="876233"/>
          </a:xfrm>
          <a:custGeom>
            <a:avLst/>
            <a:gdLst/>
            <a:ahLst/>
            <a:cxnLst/>
            <a:rect l="l" t="t" r="r" b="b"/>
            <a:pathLst>
              <a:path w="6749733" h="876233">
                <a:moveTo>
                  <a:pt x="0" y="0"/>
                </a:moveTo>
                <a:lnTo>
                  <a:pt x="6749733" y="0"/>
                </a:lnTo>
                <a:lnTo>
                  <a:pt x="6749733" y="876233"/>
                </a:lnTo>
                <a:lnTo>
                  <a:pt x="0" y="8762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571750" y="1952625"/>
            <a:ext cx="7995475" cy="79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4AA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RESOURCE UTILIZATION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052518" y="4767580"/>
            <a:ext cx="4182963" cy="79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5600" b="1">
                <a:solidFill>
                  <a:srgbClr val="4AA547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773</Words>
  <Application>Microsoft Office PowerPoint</Application>
  <PresentationFormat>Custom</PresentationFormat>
  <Paragraphs>147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Poppins Bold</vt:lpstr>
      <vt:lpstr>Poppins Light</vt:lpstr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7_16.07.2026_MODIFIED_FFN_DESIGN</dc:title>
  <dc:creator>Aruddha Basu</dc:creator>
  <cp:lastModifiedBy>Rahul Tripathy</cp:lastModifiedBy>
  <cp:revision>1</cp:revision>
  <dcterms:created xsi:type="dcterms:W3CDTF">2006-08-16T00:00:00Z</dcterms:created>
  <dcterms:modified xsi:type="dcterms:W3CDTF">2026-07-16T12:44:54Z</dcterms:modified>
  <dc:identifier>DAHPiHnYaz0</dc:identifier>
</cp:coreProperties>
</file>